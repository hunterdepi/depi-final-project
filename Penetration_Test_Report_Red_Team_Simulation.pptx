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1" d="100"/>
          <a:sy n="91" d="100"/>
        </p:scale>
        <p:origin x="76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8509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8157995" y="142875"/>
            <a:ext cx="881652" cy="94449"/>
          </a:xfrm>
          <a:prstGeom prst="rect">
            <a:avLst/>
          </a:prstGeom>
          <a:noFill/>
          <a:ln/>
        </p:spPr>
        <p:txBody>
          <a:bodyPr wrap="none" lIns="0" tIns="0" rIns="0" bIns="0" rtlCol="0" anchor="t">
            <a:spAutoFit/>
          </a:bodyPr>
          <a:lstStyle/>
          <a:p>
            <a:pPr marL="0" indent="0" algn="l">
              <a:lnSpc>
                <a:spcPts val="700"/>
              </a:lnSpc>
              <a:buNone/>
            </a:pPr>
            <a:r>
              <a:rPr lang="en-US" sz="800" b="1" dirty="0">
                <a:solidFill>
                  <a:srgbClr val="FF3333">
                    <a:alpha val="30000"/>
                  </a:srgbClr>
                </a:solidFill>
              </a:rPr>
              <a:t>[!] ACCESS GRANTED</a:t>
            </a:r>
            <a:endParaRPr lang="en-US" sz="800" dirty="0"/>
          </a:p>
        </p:txBody>
      </p:sp>
      <p:sp>
        <p:nvSpPr>
          <p:cNvPr id="4" name="Text 1"/>
          <p:cNvSpPr/>
          <p:nvPr/>
        </p:nvSpPr>
        <p:spPr>
          <a:xfrm>
            <a:off x="214313" y="4893469"/>
            <a:ext cx="538609" cy="94449"/>
          </a:xfrm>
          <a:prstGeom prst="rect">
            <a:avLst/>
          </a:prstGeom>
          <a:noFill/>
          <a:ln/>
        </p:spPr>
        <p:txBody>
          <a:bodyPr wrap="none" lIns="0" tIns="0" rIns="0" bIns="0" rtlCol="0" anchor="t">
            <a:spAutoFit/>
          </a:bodyPr>
          <a:lstStyle/>
          <a:p>
            <a:pPr marL="0" indent="0" algn="l">
              <a:lnSpc>
                <a:spcPts val="700"/>
              </a:lnSpc>
              <a:buNone/>
            </a:pPr>
            <a:r>
              <a:rPr lang="en-US" sz="800" b="1" dirty="0">
                <a:solidFill>
                  <a:srgbClr val="FF3333">
                    <a:alpha val="30000"/>
                  </a:srgbClr>
                </a:solidFill>
              </a:rPr>
              <a:t>[CLASSIFIED]</a:t>
            </a:r>
            <a:endParaRPr lang="en-US" sz="800" dirty="0"/>
          </a:p>
        </p:txBody>
      </p:sp>
      <p:sp>
        <p:nvSpPr>
          <p:cNvPr id="5" name="Text 2"/>
          <p:cNvSpPr/>
          <p:nvPr/>
        </p:nvSpPr>
        <p:spPr>
          <a:xfrm>
            <a:off x="571500" y="660462"/>
            <a:ext cx="8001000" cy="126802"/>
          </a:xfrm>
          <a:prstGeom prst="rect">
            <a:avLst/>
          </a:prstGeom>
          <a:noFill/>
          <a:ln/>
        </p:spPr>
        <p:txBody>
          <a:bodyPr wrap="none" lIns="0" tIns="0" rIns="0" bIns="0" rtlCol="0" anchor="t">
            <a:spAutoFit/>
          </a:bodyPr>
          <a:lstStyle/>
          <a:p>
            <a:pPr marL="0" indent="0" algn="ctr">
              <a:lnSpc>
                <a:spcPts val="800"/>
              </a:lnSpc>
              <a:buNone/>
            </a:pPr>
            <a:r>
              <a:rPr lang="en-US" sz="621" kern="0" spc="2" dirty="0">
                <a:solidFill>
                  <a:srgbClr val="00FF41">
                    <a:alpha val="80000"/>
                  </a:srgbClr>
                </a:solidFill>
              </a:rPr>
              <a:t>╔════════════════════════════════════════════════════════════════════════════════╗</a:t>
            </a:r>
            <a:endParaRPr lang="en-US" sz="621" dirty="0"/>
          </a:p>
        </p:txBody>
      </p:sp>
      <p:sp>
        <p:nvSpPr>
          <p:cNvPr id="6" name="Text 3"/>
          <p:cNvSpPr/>
          <p:nvPr/>
        </p:nvSpPr>
        <p:spPr>
          <a:xfrm>
            <a:off x="2178171" y="1073014"/>
            <a:ext cx="4787657" cy="487313"/>
          </a:xfrm>
          <a:prstGeom prst="rect">
            <a:avLst/>
          </a:prstGeom>
          <a:noFill/>
          <a:ln/>
        </p:spPr>
        <p:txBody>
          <a:bodyPr wrap="none" lIns="0" tIns="0" rIns="0" bIns="0" rtlCol="0" anchor="t">
            <a:spAutoFit/>
          </a:bodyPr>
          <a:lstStyle/>
          <a:p>
            <a:pPr marL="0" indent="0" algn="ctr">
              <a:lnSpc>
                <a:spcPts val="3800"/>
              </a:lnSpc>
              <a:buNone/>
            </a:pPr>
            <a:r>
              <a:rPr lang="en-US" sz="3200" b="1" kern="0" spc="2" dirty="0">
                <a:solidFill>
                  <a:srgbClr val="00FF41"/>
                </a:solidFill>
              </a:rPr>
              <a:t>PENETRATION TEST REPORT</a:t>
            </a:r>
            <a:endParaRPr lang="en-US" sz="3200" dirty="0"/>
          </a:p>
        </p:txBody>
      </p:sp>
      <p:sp>
        <p:nvSpPr>
          <p:cNvPr id="7" name="Text 4"/>
          <p:cNvSpPr/>
          <p:nvPr/>
        </p:nvSpPr>
        <p:spPr>
          <a:xfrm>
            <a:off x="3690732" y="1695943"/>
            <a:ext cx="1762535" cy="208006"/>
          </a:xfrm>
          <a:prstGeom prst="rect">
            <a:avLst/>
          </a:prstGeom>
          <a:noFill/>
          <a:ln/>
        </p:spPr>
        <p:txBody>
          <a:bodyPr wrap="none" lIns="0" tIns="0" rIns="0" bIns="0" rtlCol="0" anchor="t">
            <a:spAutoFit/>
          </a:bodyPr>
          <a:lstStyle/>
          <a:p>
            <a:pPr marL="0" indent="0" algn="ctr">
              <a:lnSpc>
                <a:spcPts val="1600"/>
              </a:lnSpc>
              <a:buNone/>
            </a:pPr>
            <a:r>
              <a:rPr lang="en-US" sz="1600" i="1" kern="0" spc="1" dirty="0">
                <a:solidFill>
                  <a:srgbClr val="E0E0E0"/>
                </a:solidFill>
              </a:rPr>
              <a:t>Red Team Simulation</a:t>
            </a:r>
            <a:endParaRPr lang="en-US" sz="1600" dirty="0"/>
          </a:p>
        </p:txBody>
      </p:sp>
      <p:sp>
        <p:nvSpPr>
          <p:cNvPr id="8" name="Text 5"/>
          <p:cNvSpPr/>
          <p:nvPr/>
        </p:nvSpPr>
        <p:spPr>
          <a:xfrm>
            <a:off x="4060321" y="2515688"/>
            <a:ext cx="1023357" cy="127214"/>
          </a:xfrm>
          <a:prstGeom prst="rect">
            <a:avLst/>
          </a:prstGeom>
          <a:noFill/>
          <a:ln/>
        </p:spPr>
        <p:txBody>
          <a:bodyPr wrap="none" lIns="0" tIns="0" rIns="0" bIns="0" rtlCol="0" anchor="t">
            <a:spAutoFit/>
          </a:bodyPr>
          <a:lstStyle/>
          <a:p>
            <a:pPr marL="0" indent="0" algn="ctr">
              <a:lnSpc>
                <a:spcPts val="900"/>
              </a:lnSpc>
              <a:buNone/>
            </a:pPr>
            <a:r>
              <a:rPr lang="en-US" sz="1200" kern="0" spc="2" dirty="0">
                <a:solidFill>
                  <a:srgbClr val="FF3333"/>
                </a:solidFill>
              </a:rPr>
              <a:t>[ PREPARED BY ]</a:t>
            </a:r>
            <a:endParaRPr lang="en-US" sz="1200" dirty="0"/>
          </a:p>
        </p:txBody>
      </p:sp>
      <p:sp>
        <p:nvSpPr>
          <p:cNvPr id="9" name="Text 6"/>
          <p:cNvSpPr/>
          <p:nvPr/>
        </p:nvSpPr>
        <p:spPr>
          <a:xfrm>
            <a:off x="571500" y="2722857"/>
            <a:ext cx="8001000" cy="668610"/>
          </a:xfrm>
          <a:prstGeom prst="rect">
            <a:avLst/>
          </a:prstGeom>
          <a:noFill/>
          <a:ln/>
        </p:spPr>
        <p:txBody>
          <a:bodyPr wrap="square" lIns="0" tIns="0" rIns="0" bIns="0" rtlCol="0" anchor="t">
            <a:spAutoFit/>
          </a:bodyPr>
          <a:lstStyle/>
          <a:p>
            <a:pPr marL="0" indent="0" algn="ctr">
              <a:lnSpc>
                <a:spcPts val="1300"/>
              </a:lnSpc>
              <a:buNone/>
            </a:pPr>
            <a:r>
              <a:rPr lang="en-US" sz="1000" dirty="0">
                <a:solidFill>
                  <a:srgbClr val="E0E0E0"/>
                </a:solidFill>
              </a:rPr>
              <a:t>Mohanad Ahmed Usama Atea Ahmed
 Yassen Wagih Fathy Abdel Salam
 Nancy Sameh Sami Sallam
 Ahmed Ayman Ahmed El-Leithy</a:t>
            </a:r>
            <a:endParaRPr lang="en-US" sz="1000" dirty="0"/>
          </a:p>
        </p:txBody>
      </p:sp>
      <p:sp>
        <p:nvSpPr>
          <p:cNvPr id="10" name="Text 7"/>
          <p:cNvSpPr/>
          <p:nvPr/>
        </p:nvSpPr>
        <p:spPr>
          <a:xfrm>
            <a:off x="1557570" y="3748655"/>
            <a:ext cx="504369" cy="110800"/>
          </a:xfrm>
          <a:prstGeom prst="rect">
            <a:avLst/>
          </a:prstGeom>
          <a:noFill/>
          <a:ln/>
        </p:spPr>
        <p:txBody>
          <a:bodyPr wrap="none" lIns="0" tIns="0" rIns="0" bIns="0" rtlCol="0" anchor="t">
            <a:spAutoFit/>
          </a:bodyPr>
          <a:lstStyle/>
          <a:p>
            <a:pPr marL="0" indent="0" algn="ctr">
              <a:lnSpc>
                <a:spcPts val="800"/>
              </a:lnSpc>
              <a:buNone/>
            </a:pPr>
            <a:r>
              <a:rPr lang="en-US" sz="1000" kern="0" spc="1" dirty="0">
                <a:solidFill>
                  <a:srgbClr val="00FF41"/>
                </a:solidFill>
              </a:rPr>
              <a:t>Approach</a:t>
            </a:r>
            <a:endParaRPr lang="en-US" sz="1000" dirty="0"/>
          </a:p>
        </p:txBody>
      </p:sp>
      <p:sp>
        <p:nvSpPr>
          <p:cNvPr id="11" name="Text 8"/>
          <p:cNvSpPr/>
          <p:nvPr/>
        </p:nvSpPr>
        <p:spPr>
          <a:xfrm>
            <a:off x="1557281" y="3921891"/>
            <a:ext cx="504946" cy="153888"/>
          </a:xfrm>
          <a:prstGeom prst="rect">
            <a:avLst/>
          </a:prstGeom>
          <a:noFill/>
          <a:ln/>
        </p:spPr>
        <p:txBody>
          <a:bodyPr wrap="none" lIns="0" tIns="0" rIns="0" bIns="0" rtlCol="0" anchor="t">
            <a:spAutoFit/>
          </a:bodyPr>
          <a:lstStyle/>
          <a:p>
            <a:pPr marL="0" indent="0" algn="ctr">
              <a:lnSpc>
                <a:spcPts val="1200"/>
              </a:lnSpc>
              <a:buNone/>
            </a:pPr>
            <a:r>
              <a:rPr lang="en-US" sz="1000" dirty="0">
                <a:solidFill>
                  <a:srgbClr val="E0E0E0"/>
                </a:solidFill>
              </a:rPr>
              <a:t>Black-Box</a:t>
            </a:r>
            <a:endParaRPr lang="en-US" sz="1000" dirty="0"/>
          </a:p>
        </p:txBody>
      </p:sp>
      <p:sp>
        <p:nvSpPr>
          <p:cNvPr id="12" name="Text 9"/>
          <p:cNvSpPr/>
          <p:nvPr/>
        </p:nvSpPr>
        <p:spPr>
          <a:xfrm>
            <a:off x="4295591" y="3748655"/>
            <a:ext cx="552845" cy="110800"/>
          </a:xfrm>
          <a:prstGeom prst="rect">
            <a:avLst/>
          </a:prstGeom>
          <a:noFill/>
          <a:ln/>
        </p:spPr>
        <p:txBody>
          <a:bodyPr wrap="none" lIns="0" tIns="0" rIns="0" bIns="0" rtlCol="0" anchor="t">
            <a:spAutoFit/>
          </a:bodyPr>
          <a:lstStyle/>
          <a:p>
            <a:pPr marL="0" indent="0" algn="ctr">
              <a:lnSpc>
                <a:spcPts val="800"/>
              </a:lnSpc>
              <a:buNone/>
            </a:pPr>
            <a:r>
              <a:rPr lang="en-US" sz="1000" kern="0" spc="1" dirty="0">
                <a:solidFill>
                  <a:srgbClr val="00FF41"/>
                </a:solidFill>
              </a:rPr>
              <a:t>Target</a:t>
            </a:r>
            <a:r>
              <a:rPr lang="en-US" sz="800" kern="0" spc="1" dirty="0">
                <a:solidFill>
                  <a:srgbClr val="00FF41"/>
                </a:solidFill>
              </a:rPr>
              <a:t> Host</a:t>
            </a:r>
            <a:endParaRPr lang="en-US" sz="800" dirty="0"/>
          </a:p>
        </p:txBody>
      </p:sp>
      <p:sp>
        <p:nvSpPr>
          <p:cNvPr id="13" name="Text 10"/>
          <p:cNvSpPr/>
          <p:nvPr/>
        </p:nvSpPr>
        <p:spPr>
          <a:xfrm>
            <a:off x="4129584" y="3921891"/>
            <a:ext cx="884858" cy="153888"/>
          </a:xfrm>
          <a:prstGeom prst="rect">
            <a:avLst/>
          </a:prstGeom>
          <a:noFill/>
          <a:ln/>
        </p:spPr>
        <p:txBody>
          <a:bodyPr wrap="none" lIns="0" tIns="0" rIns="0" bIns="0" rtlCol="0" anchor="t">
            <a:spAutoFit/>
          </a:bodyPr>
          <a:lstStyle/>
          <a:p>
            <a:pPr marL="0" indent="0" algn="ctr">
              <a:lnSpc>
                <a:spcPts val="1200"/>
              </a:lnSpc>
              <a:buNone/>
            </a:pPr>
            <a:r>
              <a:rPr lang="en-US" sz="1000" dirty="0">
                <a:solidFill>
                  <a:srgbClr val="E0E0E0"/>
                </a:solidFill>
              </a:rPr>
              <a:t>192.168.196.138</a:t>
            </a:r>
            <a:endParaRPr lang="en-US" sz="1000" dirty="0"/>
          </a:p>
        </p:txBody>
      </p:sp>
      <p:sp>
        <p:nvSpPr>
          <p:cNvPr id="14" name="Text 11"/>
          <p:cNvSpPr/>
          <p:nvPr/>
        </p:nvSpPr>
        <p:spPr>
          <a:xfrm>
            <a:off x="6886074" y="3748655"/>
            <a:ext cx="896399" cy="110800"/>
          </a:xfrm>
          <a:prstGeom prst="rect">
            <a:avLst/>
          </a:prstGeom>
          <a:noFill/>
          <a:ln/>
        </p:spPr>
        <p:txBody>
          <a:bodyPr wrap="none" lIns="0" tIns="0" rIns="0" bIns="0" rtlCol="0" anchor="t">
            <a:spAutoFit/>
          </a:bodyPr>
          <a:lstStyle/>
          <a:p>
            <a:pPr marL="0" indent="0" algn="ctr">
              <a:lnSpc>
                <a:spcPts val="800"/>
              </a:lnSpc>
              <a:buNone/>
            </a:pPr>
            <a:r>
              <a:rPr lang="en-US" sz="1000" kern="0" spc="1" dirty="0">
                <a:solidFill>
                  <a:srgbClr val="00FF41"/>
                </a:solidFill>
              </a:rPr>
              <a:t>Assessment Type</a:t>
            </a:r>
            <a:endParaRPr lang="en-US" sz="1000" dirty="0"/>
          </a:p>
        </p:txBody>
      </p:sp>
      <p:sp>
        <p:nvSpPr>
          <p:cNvPr id="15" name="Text 12"/>
          <p:cNvSpPr/>
          <p:nvPr/>
        </p:nvSpPr>
        <p:spPr>
          <a:xfrm>
            <a:off x="6889440" y="3921891"/>
            <a:ext cx="889667" cy="153888"/>
          </a:xfrm>
          <a:prstGeom prst="rect">
            <a:avLst/>
          </a:prstGeom>
          <a:noFill/>
          <a:ln/>
        </p:spPr>
        <p:txBody>
          <a:bodyPr wrap="none" lIns="0" tIns="0" rIns="0" bIns="0" rtlCol="0" anchor="t">
            <a:spAutoFit/>
          </a:bodyPr>
          <a:lstStyle/>
          <a:p>
            <a:pPr marL="0" indent="0" algn="ctr">
              <a:lnSpc>
                <a:spcPts val="1200"/>
              </a:lnSpc>
              <a:buNone/>
            </a:pPr>
            <a:r>
              <a:rPr lang="en-US" sz="1000" dirty="0">
                <a:solidFill>
                  <a:srgbClr val="E0E0E0"/>
                </a:solidFill>
              </a:rPr>
              <a:t>Internal Network</a:t>
            </a:r>
            <a:endParaRPr lang="en-US" sz="1000" dirty="0"/>
          </a:p>
        </p:txBody>
      </p:sp>
      <p:sp>
        <p:nvSpPr>
          <p:cNvPr id="16" name="Text 13"/>
          <p:cNvSpPr/>
          <p:nvPr/>
        </p:nvSpPr>
        <p:spPr>
          <a:xfrm>
            <a:off x="571500" y="4356209"/>
            <a:ext cx="8001000" cy="126802"/>
          </a:xfrm>
          <a:prstGeom prst="rect">
            <a:avLst/>
          </a:prstGeom>
          <a:noFill/>
          <a:ln/>
        </p:spPr>
        <p:txBody>
          <a:bodyPr wrap="none" lIns="0" tIns="0" rIns="0" bIns="0" rtlCol="0" anchor="t">
            <a:spAutoFit/>
          </a:bodyPr>
          <a:lstStyle/>
          <a:p>
            <a:pPr marL="0" indent="0" algn="ctr">
              <a:lnSpc>
                <a:spcPts val="800"/>
              </a:lnSpc>
              <a:buNone/>
            </a:pPr>
            <a:r>
              <a:rPr lang="en-US" sz="621" kern="0" spc="2" dirty="0">
                <a:solidFill>
                  <a:srgbClr val="00FF41">
                    <a:alpha val="80000"/>
                  </a:srgbClr>
                </a:solidFill>
              </a:rPr>
              <a:t>╚════════════════════════════════════════════════════════════════════════════════╝</a:t>
            </a:r>
            <a:endParaRPr lang="en-US" sz="621"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57188" y="285750"/>
            <a:ext cx="6339812" cy="243656"/>
          </a:xfrm>
          <a:prstGeom prst="rect">
            <a:avLst/>
          </a:prstGeom>
          <a:noFill/>
          <a:ln/>
        </p:spPr>
        <p:txBody>
          <a:bodyPr wrap="none" lIns="0" tIns="0" rIns="0" bIns="0" rtlCol="0" anchor="t">
            <a:spAutoFit/>
          </a:bodyPr>
          <a:lstStyle/>
          <a:p>
            <a:pPr marL="0" indent="0" algn="l">
              <a:lnSpc>
                <a:spcPts val="1900"/>
              </a:lnSpc>
              <a:buNone/>
            </a:pPr>
            <a:r>
              <a:rPr lang="en-US" b="1" kern="0" spc="2" dirty="0">
                <a:solidFill>
                  <a:srgbClr val="00FF41"/>
                </a:solidFill>
              </a:rPr>
              <a:t>► CRITICAL VULNERABILITIES LED TO FULL SYSTEM COMPROMISE</a:t>
            </a:r>
            <a:endParaRPr lang="en-US" dirty="0"/>
          </a:p>
        </p:txBody>
      </p:sp>
      <p:sp>
        <p:nvSpPr>
          <p:cNvPr id="4" name="Text 1"/>
          <p:cNvSpPr/>
          <p:nvPr/>
        </p:nvSpPr>
        <p:spPr>
          <a:xfrm>
            <a:off x="357188" y="773311"/>
            <a:ext cx="856068" cy="127214"/>
          </a:xfrm>
          <a:prstGeom prst="rect">
            <a:avLst/>
          </a:prstGeom>
          <a:noFill/>
          <a:ln/>
        </p:spPr>
        <p:txBody>
          <a:bodyPr wrap="none" lIns="0" tIns="0" rIns="0" bIns="0" rtlCol="0" anchor="t">
            <a:spAutoFit/>
          </a:bodyPr>
          <a:lstStyle/>
          <a:p>
            <a:pPr marL="0" indent="0" algn="l">
              <a:lnSpc>
                <a:spcPts val="900"/>
              </a:lnSpc>
              <a:buNone/>
            </a:pPr>
            <a:r>
              <a:rPr lang="en-US" sz="1200" b="1" kern="0" spc="1" dirty="0">
                <a:solidFill>
                  <a:srgbClr val="FF3333"/>
                </a:solidFill>
              </a:rPr>
              <a:t>[ OBJECTIVE ]</a:t>
            </a:r>
            <a:endParaRPr lang="en-US" sz="1200" dirty="0"/>
          </a:p>
        </p:txBody>
      </p:sp>
      <p:sp>
        <p:nvSpPr>
          <p:cNvPr id="5" name="Text 2"/>
          <p:cNvSpPr/>
          <p:nvPr/>
        </p:nvSpPr>
        <p:spPr>
          <a:xfrm>
            <a:off x="357188" y="957263"/>
            <a:ext cx="5429250" cy="307777"/>
          </a:xfrm>
          <a:prstGeom prst="rect">
            <a:avLst/>
          </a:prstGeom>
          <a:noFill/>
          <a:ln/>
        </p:spPr>
        <p:txBody>
          <a:bodyPr wrap="square" lIns="127508" tIns="0" rIns="0" bIns="0" rtlCol="0" anchor="t">
            <a:spAutoFit/>
          </a:bodyPr>
          <a:lstStyle/>
          <a:p>
            <a:pPr marL="0" indent="0" algn="l">
              <a:lnSpc>
                <a:spcPts val="1200"/>
              </a:lnSpc>
              <a:buNone/>
            </a:pPr>
            <a:r>
              <a:rPr lang="en-US" sz="1000" dirty="0">
                <a:solidFill>
                  <a:srgbClr val="E0E0E0"/>
                </a:solidFill>
              </a:rPr>
              <a:t>Simulate a realistic Red Team adversary to uncover exploitable weaknesses, validate detection and response capabilities, and recommend improvements to reduce organizational risk.</a:t>
            </a:r>
            <a:endParaRPr lang="en-US" sz="1000" dirty="0"/>
          </a:p>
        </p:txBody>
      </p:sp>
      <p:sp>
        <p:nvSpPr>
          <p:cNvPr id="6" name="Text 3"/>
          <p:cNvSpPr/>
          <p:nvPr/>
        </p:nvSpPr>
        <p:spPr>
          <a:xfrm>
            <a:off x="357188" y="1451577"/>
            <a:ext cx="586251" cy="127214"/>
          </a:xfrm>
          <a:prstGeom prst="rect">
            <a:avLst/>
          </a:prstGeom>
          <a:noFill/>
          <a:ln/>
        </p:spPr>
        <p:txBody>
          <a:bodyPr wrap="none" lIns="0" tIns="0" rIns="0" bIns="0" rtlCol="0" anchor="t">
            <a:spAutoFit/>
          </a:bodyPr>
          <a:lstStyle/>
          <a:p>
            <a:pPr marL="0" indent="0" algn="l">
              <a:lnSpc>
                <a:spcPts val="900"/>
              </a:lnSpc>
              <a:buNone/>
            </a:pPr>
            <a:r>
              <a:rPr lang="en-US" sz="1200" b="1" kern="0" spc="1" dirty="0">
                <a:solidFill>
                  <a:srgbClr val="FF3333"/>
                </a:solidFill>
              </a:rPr>
              <a:t>[ SCOPE ]</a:t>
            </a:r>
            <a:endParaRPr lang="en-US" sz="1200" dirty="0"/>
          </a:p>
        </p:txBody>
      </p:sp>
      <p:sp>
        <p:nvSpPr>
          <p:cNvPr id="7" name="Text 4"/>
          <p:cNvSpPr/>
          <p:nvPr/>
        </p:nvSpPr>
        <p:spPr>
          <a:xfrm>
            <a:off x="357188" y="1635528"/>
            <a:ext cx="5429250" cy="307777"/>
          </a:xfrm>
          <a:prstGeom prst="rect">
            <a:avLst/>
          </a:prstGeom>
          <a:noFill/>
          <a:ln/>
        </p:spPr>
        <p:txBody>
          <a:bodyPr wrap="square" lIns="127508" tIns="0" rIns="0" bIns="0" rtlCol="0" anchor="t">
            <a:spAutoFit/>
          </a:bodyPr>
          <a:lstStyle/>
          <a:p>
            <a:pPr marL="0" indent="0" algn="l">
              <a:lnSpc>
                <a:spcPts val="1200"/>
              </a:lnSpc>
              <a:buNone/>
            </a:pPr>
            <a:r>
              <a:rPr lang="en-US" sz="1000" dirty="0">
                <a:solidFill>
                  <a:srgbClr val="E0E0E0"/>
                </a:solidFill>
              </a:rPr>
              <a:t>Internal network penetration test focused on target host 192.168.196.138 and related application functionality under an agreed black-box model with no prior credentials provided.</a:t>
            </a:r>
            <a:endParaRPr lang="en-US" sz="1000" dirty="0"/>
          </a:p>
        </p:txBody>
      </p:sp>
      <p:sp>
        <p:nvSpPr>
          <p:cNvPr id="8" name="Text 5"/>
          <p:cNvSpPr/>
          <p:nvPr/>
        </p:nvSpPr>
        <p:spPr>
          <a:xfrm>
            <a:off x="357188" y="2129842"/>
            <a:ext cx="891206" cy="127214"/>
          </a:xfrm>
          <a:prstGeom prst="rect">
            <a:avLst/>
          </a:prstGeom>
          <a:noFill/>
          <a:ln/>
        </p:spPr>
        <p:txBody>
          <a:bodyPr wrap="none" lIns="0" tIns="0" rIns="0" bIns="0" rtlCol="0" anchor="t">
            <a:spAutoFit/>
          </a:bodyPr>
          <a:lstStyle/>
          <a:p>
            <a:pPr marL="0" indent="0" algn="l">
              <a:lnSpc>
                <a:spcPts val="900"/>
              </a:lnSpc>
              <a:buNone/>
            </a:pPr>
            <a:r>
              <a:rPr lang="en-US" sz="1200" b="1" kern="0" spc="1" dirty="0">
                <a:solidFill>
                  <a:srgbClr val="FF3333"/>
                </a:solidFill>
              </a:rPr>
              <a:t>[ APPROACH ]</a:t>
            </a:r>
            <a:endParaRPr lang="en-US" sz="1200" dirty="0"/>
          </a:p>
        </p:txBody>
      </p:sp>
      <p:sp>
        <p:nvSpPr>
          <p:cNvPr id="9" name="Text 6"/>
          <p:cNvSpPr/>
          <p:nvPr/>
        </p:nvSpPr>
        <p:spPr>
          <a:xfrm>
            <a:off x="357188" y="2313794"/>
            <a:ext cx="5429250" cy="315720"/>
          </a:xfrm>
          <a:prstGeom prst="rect">
            <a:avLst/>
          </a:prstGeom>
          <a:noFill/>
          <a:ln/>
        </p:spPr>
        <p:txBody>
          <a:bodyPr wrap="square" lIns="127508" tIns="0" rIns="0" bIns="0" rtlCol="0" anchor="t">
            <a:spAutoFit/>
          </a:bodyPr>
          <a:lstStyle/>
          <a:p>
            <a:pPr marL="0" indent="0" algn="l">
              <a:lnSpc>
                <a:spcPts val="1200"/>
              </a:lnSpc>
              <a:buNone/>
            </a:pPr>
            <a:r>
              <a:rPr lang="en-US" sz="1000" dirty="0">
                <a:solidFill>
                  <a:srgbClr val="E0E0E0"/>
                </a:solidFill>
              </a:rPr>
              <a:t>Black-box assessment simulating real-world adversary tactics. Network range scanned: 192.168.196.0/24. Tools: Nmap, sqlmap, hydra, knock, ssh, CrackStation, Kali Linux utilities.</a:t>
            </a:r>
            <a:endParaRPr lang="en-US" sz="1000" dirty="0"/>
          </a:p>
        </p:txBody>
      </p:sp>
      <p:sp>
        <p:nvSpPr>
          <p:cNvPr id="10" name="Shape 7"/>
          <p:cNvSpPr/>
          <p:nvPr/>
        </p:nvSpPr>
        <p:spPr>
          <a:xfrm>
            <a:off x="357188" y="2950983"/>
            <a:ext cx="5429250" cy="511448"/>
          </a:xfrm>
          <a:prstGeom prst="rect">
            <a:avLst/>
          </a:prstGeom>
          <a:solidFill>
            <a:srgbClr val="FF3333">
              <a:alpha val="10000"/>
            </a:srgbClr>
          </a:solidFill>
          <a:ln/>
        </p:spPr>
        <p:txBody>
          <a:bodyPr/>
          <a:lstStyle/>
          <a:p>
            <a:endParaRPr lang="en-US"/>
          </a:p>
        </p:txBody>
      </p:sp>
      <p:sp>
        <p:nvSpPr>
          <p:cNvPr id="11" name="Shape 8"/>
          <p:cNvSpPr/>
          <p:nvPr/>
        </p:nvSpPr>
        <p:spPr>
          <a:xfrm>
            <a:off x="357188" y="2950983"/>
            <a:ext cx="21431" cy="511448"/>
          </a:xfrm>
          <a:prstGeom prst="rect">
            <a:avLst/>
          </a:prstGeom>
          <a:solidFill>
            <a:srgbClr val="FF3333"/>
          </a:solidFill>
          <a:ln/>
        </p:spPr>
        <p:txBody>
          <a:bodyPr/>
          <a:lstStyle/>
          <a:p>
            <a:endParaRPr lang="en-US"/>
          </a:p>
        </p:txBody>
      </p:sp>
      <p:sp>
        <p:nvSpPr>
          <p:cNvPr id="12" name="Text 9"/>
          <p:cNvSpPr/>
          <p:nvPr/>
        </p:nvSpPr>
        <p:spPr>
          <a:xfrm>
            <a:off x="357188" y="2950983"/>
            <a:ext cx="5429250" cy="565283"/>
          </a:xfrm>
          <a:prstGeom prst="rect">
            <a:avLst/>
          </a:prstGeom>
          <a:noFill/>
          <a:ln/>
        </p:spPr>
        <p:txBody>
          <a:bodyPr wrap="square" lIns="127508" tIns="127508" rIns="127508" bIns="127508" rtlCol="0" anchor="t">
            <a:spAutoFit/>
          </a:bodyPr>
          <a:lstStyle/>
          <a:p>
            <a:pPr marL="0" indent="0" algn="l">
              <a:lnSpc>
                <a:spcPts val="1200"/>
              </a:lnSpc>
              <a:buNone/>
            </a:pPr>
            <a:r>
              <a:rPr lang="en-US" sz="1000" dirty="0">
                <a:solidFill>
                  <a:srgbClr val="FF3333"/>
                </a:solidFill>
              </a:rPr>
              <a:t>⚠ OUTCOME: A chain of linked vulnerabilities was successfully exploited, demonstrating a practical attack path resulting in FULL SYSTEM COMPROMISE if not remediated.</a:t>
            </a:r>
            <a:endParaRPr lang="en-US" sz="1000" dirty="0"/>
          </a:p>
        </p:txBody>
      </p:sp>
      <p:pic>
        <p:nvPicPr>
          <p:cNvPr id="13" name="Image 1" descr="preencoded.png"/>
          <p:cNvPicPr>
            <a:picLocks noChangeAspect="1"/>
          </p:cNvPicPr>
          <p:nvPr/>
        </p:nvPicPr>
        <p:blipFill>
          <a:blip r:embed="rId4"/>
          <a:stretch>
            <a:fillRect/>
          </a:stretch>
        </p:blipFill>
        <p:spPr>
          <a:xfrm>
            <a:off x="5807871" y="598745"/>
            <a:ext cx="3315110" cy="2749330"/>
          </a:xfrm>
          <a:prstGeom prst="rect">
            <a:avLst/>
          </a:prstGeom>
        </p:spPr>
      </p:pic>
      <p:sp>
        <p:nvSpPr>
          <p:cNvPr id="14" name="Text 10"/>
          <p:cNvSpPr/>
          <p:nvPr/>
        </p:nvSpPr>
        <p:spPr>
          <a:xfrm>
            <a:off x="6882241" y="3641470"/>
            <a:ext cx="1262654" cy="110800"/>
          </a:xfrm>
          <a:prstGeom prst="rect">
            <a:avLst/>
          </a:prstGeom>
          <a:noFill/>
          <a:ln/>
        </p:spPr>
        <p:txBody>
          <a:bodyPr wrap="none" lIns="0" tIns="0" rIns="0" bIns="0" rtlCol="0" anchor="t">
            <a:spAutoFit/>
          </a:bodyPr>
          <a:lstStyle/>
          <a:p>
            <a:pPr marL="0" indent="0" algn="ctr">
              <a:lnSpc>
                <a:spcPts val="800"/>
              </a:lnSpc>
              <a:buNone/>
            </a:pPr>
            <a:r>
              <a:rPr lang="en-US" sz="1000" kern="0" spc="1" dirty="0">
                <a:solidFill>
                  <a:srgbClr val="00FF41"/>
                </a:solidFill>
              </a:rPr>
              <a:t>SEVERITY DISTRIBUTION</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57188" y="285750"/>
            <a:ext cx="8429625" cy="273248"/>
          </a:xfrm>
          <a:prstGeom prst="rect">
            <a:avLst/>
          </a:prstGeom>
          <a:noFill/>
          <a:ln/>
        </p:spPr>
        <p:txBody>
          <a:bodyPr wrap="none" lIns="0" tIns="0" rIns="0" bIns="0" rtlCol="0" anchor="t">
            <a:spAutoFit/>
          </a:bodyPr>
          <a:lstStyle/>
          <a:p>
            <a:pPr marL="0" indent="0" algn="l">
              <a:lnSpc>
                <a:spcPts val="1900"/>
              </a:lnSpc>
              <a:buNone/>
            </a:pPr>
            <a:r>
              <a:rPr lang="en-US" sz="1397" b="1" kern="0" spc="2" dirty="0">
                <a:solidFill>
                  <a:srgbClr val="00FF41"/>
                </a:solidFill>
              </a:rPr>
              <a:t>► THE EXPLOIT CHAIN: FROM WEB APP TO ROOT ACCESS</a:t>
            </a:r>
            <a:endParaRPr lang="en-US" sz="1397" dirty="0"/>
          </a:p>
        </p:txBody>
      </p:sp>
      <p:sp>
        <p:nvSpPr>
          <p:cNvPr id="4" name="Shape 1"/>
          <p:cNvSpPr/>
          <p:nvPr/>
        </p:nvSpPr>
        <p:spPr>
          <a:xfrm>
            <a:off x="357188" y="593895"/>
            <a:ext cx="3000375" cy="453628"/>
          </a:xfrm>
          <a:prstGeom prst="rect">
            <a:avLst/>
          </a:prstGeom>
          <a:solidFill>
            <a:srgbClr val="00FF41">
              <a:alpha val="5000"/>
            </a:srgbClr>
          </a:solidFill>
          <a:ln/>
        </p:spPr>
        <p:txBody>
          <a:bodyPr/>
          <a:lstStyle/>
          <a:p>
            <a:endParaRPr lang="en-US"/>
          </a:p>
        </p:txBody>
      </p:sp>
      <p:sp>
        <p:nvSpPr>
          <p:cNvPr id="5" name="Shape 2"/>
          <p:cNvSpPr/>
          <p:nvPr/>
        </p:nvSpPr>
        <p:spPr>
          <a:xfrm>
            <a:off x="357188" y="593895"/>
            <a:ext cx="21431" cy="453628"/>
          </a:xfrm>
          <a:prstGeom prst="rect">
            <a:avLst/>
          </a:prstGeom>
          <a:solidFill>
            <a:srgbClr val="00FF41"/>
          </a:solidFill>
          <a:ln/>
        </p:spPr>
        <p:txBody>
          <a:bodyPr/>
          <a:lstStyle/>
          <a:p>
            <a:endParaRPr lang="en-US"/>
          </a:p>
        </p:txBody>
      </p:sp>
      <p:sp>
        <p:nvSpPr>
          <p:cNvPr id="6" name="Text 3"/>
          <p:cNvSpPr/>
          <p:nvPr/>
        </p:nvSpPr>
        <p:spPr>
          <a:xfrm>
            <a:off x="464344" y="684978"/>
            <a:ext cx="118622" cy="123303"/>
          </a:xfrm>
          <a:prstGeom prst="rect">
            <a:avLst/>
          </a:prstGeom>
          <a:noFill/>
          <a:ln/>
        </p:spPr>
        <p:txBody>
          <a:bodyPr wrap="none" lIns="0" tIns="0" rIns="0" bIns="0" rtlCol="0" anchor="t">
            <a:spAutoFit/>
          </a:bodyPr>
          <a:lstStyle/>
          <a:p>
            <a:pPr marL="0" indent="0" algn="l">
              <a:lnSpc>
                <a:spcPts val="1000"/>
              </a:lnSpc>
              <a:buNone/>
            </a:pPr>
            <a:r>
              <a:rPr lang="en-US" sz="800" b="1" dirty="0">
                <a:solidFill>
                  <a:srgbClr val="FF3333"/>
                </a:solidFill>
              </a:rPr>
              <a:t>[1]</a:t>
            </a:r>
            <a:endParaRPr lang="en-US" sz="800" dirty="0"/>
          </a:p>
        </p:txBody>
      </p:sp>
      <p:sp>
        <p:nvSpPr>
          <p:cNvPr id="7" name="Text 4"/>
          <p:cNvSpPr/>
          <p:nvPr/>
        </p:nvSpPr>
        <p:spPr>
          <a:xfrm>
            <a:off x="649579" y="684978"/>
            <a:ext cx="698909" cy="130036"/>
          </a:xfrm>
          <a:prstGeom prst="rect">
            <a:avLst/>
          </a:prstGeom>
          <a:noFill/>
          <a:ln/>
        </p:spPr>
        <p:txBody>
          <a:bodyPr wrap="none" lIns="0" tIns="0" rIns="0" bIns="0" rtlCol="0" anchor="t">
            <a:spAutoFit/>
          </a:bodyPr>
          <a:lstStyle/>
          <a:p>
            <a:pPr marL="0" indent="0" algn="l">
              <a:lnSpc>
                <a:spcPts val="1000"/>
              </a:lnSpc>
              <a:buNone/>
            </a:pPr>
            <a:r>
              <a:rPr lang="en-US" sz="1000" b="1" dirty="0">
                <a:solidFill>
                  <a:srgbClr val="00FF41"/>
                </a:solidFill>
              </a:rPr>
              <a:t>SQL Injection</a:t>
            </a:r>
            <a:endParaRPr lang="en-US" sz="1000" dirty="0"/>
          </a:p>
        </p:txBody>
      </p:sp>
      <p:sp>
        <p:nvSpPr>
          <p:cNvPr id="8" name="Text 5"/>
          <p:cNvSpPr/>
          <p:nvPr/>
        </p:nvSpPr>
        <p:spPr>
          <a:xfrm>
            <a:off x="464344" y="843926"/>
            <a:ext cx="2542556" cy="115416"/>
          </a:xfrm>
          <a:prstGeom prst="rect">
            <a:avLst/>
          </a:prstGeom>
          <a:noFill/>
          <a:ln/>
        </p:spPr>
        <p:txBody>
          <a:bodyPr wrap="none" lIns="170053" tIns="0" rIns="0" bIns="0" rtlCol="0" anchor="t">
            <a:spAutoFit/>
          </a:bodyPr>
          <a:lstStyle/>
          <a:p>
            <a:pPr marL="0" indent="0" algn="l">
              <a:lnSpc>
                <a:spcPts val="900"/>
              </a:lnSpc>
              <a:buNone/>
            </a:pPr>
            <a:r>
              <a:rPr lang="en-US" sz="800" dirty="0">
                <a:solidFill>
                  <a:srgbClr val="E0E0E0"/>
                </a:solidFill>
              </a:rPr>
              <a:t>Exploited search parameter to extract database contents</a:t>
            </a:r>
            <a:endParaRPr lang="en-US" sz="800" dirty="0"/>
          </a:p>
        </p:txBody>
      </p:sp>
      <p:sp>
        <p:nvSpPr>
          <p:cNvPr id="9" name="Text 6"/>
          <p:cNvSpPr/>
          <p:nvPr/>
        </p:nvSpPr>
        <p:spPr>
          <a:xfrm>
            <a:off x="357187" y="1118067"/>
            <a:ext cx="3000375" cy="144661"/>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00FF41"/>
                </a:solidFill>
              </a:rPr>
              <a:t>↓</a:t>
            </a:r>
            <a:endParaRPr lang="en-US" sz="727" dirty="0"/>
          </a:p>
        </p:txBody>
      </p:sp>
      <p:sp>
        <p:nvSpPr>
          <p:cNvPr id="10" name="Shape 7"/>
          <p:cNvSpPr/>
          <p:nvPr/>
        </p:nvSpPr>
        <p:spPr>
          <a:xfrm>
            <a:off x="357187" y="1272515"/>
            <a:ext cx="3000375" cy="453628"/>
          </a:xfrm>
          <a:prstGeom prst="rect">
            <a:avLst/>
          </a:prstGeom>
          <a:solidFill>
            <a:srgbClr val="00FF41">
              <a:alpha val="5000"/>
            </a:srgbClr>
          </a:solidFill>
          <a:ln/>
        </p:spPr>
        <p:txBody>
          <a:bodyPr/>
          <a:lstStyle/>
          <a:p>
            <a:endParaRPr lang="en-US"/>
          </a:p>
        </p:txBody>
      </p:sp>
      <p:sp>
        <p:nvSpPr>
          <p:cNvPr id="11" name="Shape 8"/>
          <p:cNvSpPr/>
          <p:nvPr/>
        </p:nvSpPr>
        <p:spPr>
          <a:xfrm>
            <a:off x="357187" y="1272515"/>
            <a:ext cx="21431" cy="453628"/>
          </a:xfrm>
          <a:prstGeom prst="rect">
            <a:avLst/>
          </a:prstGeom>
          <a:solidFill>
            <a:srgbClr val="00FF41"/>
          </a:solidFill>
          <a:ln/>
        </p:spPr>
        <p:txBody>
          <a:bodyPr/>
          <a:lstStyle/>
          <a:p>
            <a:endParaRPr lang="en-US"/>
          </a:p>
        </p:txBody>
      </p:sp>
      <p:sp>
        <p:nvSpPr>
          <p:cNvPr id="12" name="Text 9"/>
          <p:cNvSpPr/>
          <p:nvPr/>
        </p:nvSpPr>
        <p:spPr>
          <a:xfrm>
            <a:off x="464343" y="1363597"/>
            <a:ext cx="118622" cy="123303"/>
          </a:xfrm>
          <a:prstGeom prst="rect">
            <a:avLst/>
          </a:prstGeom>
          <a:noFill/>
          <a:ln/>
        </p:spPr>
        <p:txBody>
          <a:bodyPr wrap="none" lIns="0" tIns="0" rIns="0" bIns="0" rtlCol="0" anchor="t">
            <a:spAutoFit/>
          </a:bodyPr>
          <a:lstStyle/>
          <a:p>
            <a:pPr marL="0" indent="0" algn="l">
              <a:lnSpc>
                <a:spcPts val="1000"/>
              </a:lnSpc>
              <a:buNone/>
            </a:pPr>
            <a:r>
              <a:rPr lang="en-US" sz="800" b="1" dirty="0">
                <a:solidFill>
                  <a:srgbClr val="FF3333"/>
                </a:solidFill>
              </a:rPr>
              <a:t>[2]</a:t>
            </a:r>
            <a:endParaRPr lang="en-US" sz="800" dirty="0"/>
          </a:p>
        </p:txBody>
      </p:sp>
      <p:sp>
        <p:nvSpPr>
          <p:cNvPr id="13" name="Text 10"/>
          <p:cNvSpPr/>
          <p:nvPr/>
        </p:nvSpPr>
        <p:spPr>
          <a:xfrm>
            <a:off x="649578" y="1363597"/>
            <a:ext cx="993862" cy="130036"/>
          </a:xfrm>
          <a:prstGeom prst="rect">
            <a:avLst/>
          </a:prstGeom>
          <a:noFill/>
          <a:ln/>
        </p:spPr>
        <p:txBody>
          <a:bodyPr wrap="none" lIns="0" tIns="0" rIns="0" bIns="0" rtlCol="0" anchor="t">
            <a:spAutoFit/>
          </a:bodyPr>
          <a:lstStyle/>
          <a:p>
            <a:pPr marL="0" indent="0" algn="l">
              <a:lnSpc>
                <a:spcPts val="1000"/>
              </a:lnSpc>
              <a:buNone/>
            </a:pPr>
            <a:r>
              <a:rPr lang="en-US" sz="1000" b="1" dirty="0">
                <a:solidFill>
                  <a:srgbClr val="00FF41"/>
                </a:solidFill>
              </a:rPr>
              <a:t>Local File Inclusion</a:t>
            </a:r>
            <a:endParaRPr lang="en-US" sz="1000" dirty="0"/>
          </a:p>
        </p:txBody>
      </p:sp>
      <p:sp>
        <p:nvSpPr>
          <p:cNvPr id="14" name="Text 11"/>
          <p:cNvSpPr/>
          <p:nvPr/>
        </p:nvSpPr>
        <p:spPr>
          <a:xfrm>
            <a:off x="464343" y="1522546"/>
            <a:ext cx="2026389" cy="115416"/>
          </a:xfrm>
          <a:prstGeom prst="rect">
            <a:avLst/>
          </a:prstGeom>
          <a:noFill/>
          <a:ln/>
        </p:spPr>
        <p:txBody>
          <a:bodyPr wrap="none" lIns="170053" tIns="0" rIns="0" bIns="0" rtlCol="0" anchor="t">
            <a:spAutoFit/>
          </a:bodyPr>
          <a:lstStyle/>
          <a:p>
            <a:pPr marL="0" indent="0" algn="l">
              <a:lnSpc>
                <a:spcPts val="900"/>
              </a:lnSpc>
              <a:buNone/>
            </a:pPr>
            <a:r>
              <a:rPr lang="en-US" sz="800" dirty="0">
                <a:solidFill>
                  <a:srgbClr val="E0E0E0"/>
                </a:solidFill>
              </a:rPr>
              <a:t>Read sensitive system files via path traversal</a:t>
            </a:r>
            <a:endParaRPr lang="en-US" sz="800" dirty="0"/>
          </a:p>
        </p:txBody>
      </p:sp>
      <p:sp>
        <p:nvSpPr>
          <p:cNvPr id="15" name="Text 12"/>
          <p:cNvSpPr/>
          <p:nvPr/>
        </p:nvSpPr>
        <p:spPr>
          <a:xfrm>
            <a:off x="357188" y="1760541"/>
            <a:ext cx="3000375" cy="144661"/>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00FF41"/>
                </a:solidFill>
              </a:rPr>
              <a:t>↓</a:t>
            </a:r>
            <a:endParaRPr lang="en-US" sz="727" dirty="0"/>
          </a:p>
        </p:txBody>
      </p:sp>
      <p:sp>
        <p:nvSpPr>
          <p:cNvPr id="16" name="Shape 13"/>
          <p:cNvSpPr/>
          <p:nvPr/>
        </p:nvSpPr>
        <p:spPr>
          <a:xfrm>
            <a:off x="357188" y="1902491"/>
            <a:ext cx="3000375" cy="453628"/>
          </a:xfrm>
          <a:prstGeom prst="rect">
            <a:avLst/>
          </a:prstGeom>
          <a:solidFill>
            <a:srgbClr val="00FF41">
              <a:alpha val="5000"/>
            </a:srgbClr>
          </a:solidFill>
          <a:ln/>
        </p:spPr>
        <p:txBody>
          <a:bodyPr/>
          <a:lstStyle/>
          <a:p>
            <a:endParaRPr lang="en-US" dirty="0"/>
          </a:p>
        </p:txBody>
      </p:sp>
      <p:sp>
        <p:nvSpPr>
          <p:cNvPr id="17" name="Shape 14"/>
          <p:cNvSpPr/>
          <p:nvPr/>
        </p:nvSpPr>
        <p:spPr>
          <a:xfrm>
            <a:off x="357188" y="1902491"/>
            <a:ext cx="21431" cy="453628"/>
          </a:xfrm>
          <a:prstGeom prst="rect">
            <a:avLst/>
          </a:prstGeom>
          <a:solidFill>
            <a:srgbClr val="00FF41"/>
          </a:solidFill>
          <a:ln/>
        </p:spPr>
        <p:txBody>
          <a:bodyPr/>
          <a:lstStyle/>
          <a:p>
            <a:endParaRPr lang="en-US"/>
          </a:p>
        </p:txBody>
      </p:sp>
      <p:sp>
        <p:nvSpPr>
          <p:cNvPr id="18" name="Text 15"/>
          <p:cNvSpPr/>
          <p:nvPr/>
        </p:nvSpPr>
        <p:spPr>
          <a:xfrm>
            <a:off x="464344" y="1993574"/>
            <a:ext cx="118622" cy="123303"/>
          </a:xfrm>
          <a:prstGeom prst="rect">
            <a:avLst/>
          </a:prstGeom>
          <a:noFill/>
          <a:ln/>
        </p:spPr>
        <p:txBody>
          <a:bodyPr wrap="none" lIns="0" tIns="0" rIns="0" bIns="0" rtlCol="0" anchor="t">
            <a:spAutoFit/>
          </a:bodyPr>
          <a:lstStyle/>
          <a:p>
            <a:pPr marL="0" indent="0" algn="l">
              <a:lnSpc>
                <a:spcPts val="1000"/>
              </a:lnSpc>
              <a:buNone/>
            </a:pPr>
            <a:r>
              <a:rPr lang="en-US" sz="800" b="1" dirty="0">
                <a:solidFill>
                  <a:srgbClr val="FF3333"/>
                </a:solidFill>
              </a:rPr>
              <a:t>[3]</a:t>
            </a:r>
            <a:endParaRPr lang="en-US" sz="800" dirty="0"/>
          </a:p>
        </p:txBody>
      </p:sp>
      <p:sp>
        <p:nvSpPr>
          <p:cNvPr id="19" name="Text 16"/>
          <p:cNvSpPr/>
          <p:nvPr/>
        </p:nvSpPr>
        <p:spPr>
          <a:xfrm>
            <a:off x="649579" y="1993574"/>
            <a:ext cx="1304844" cy="130036"/>
          </a:xfrm>
          <a:prstGeom prst="rect">
            <a:avLst/>
          </a:prstGeom>
          <a:noFill/>
          <a:ln/>
        </p:spPr>
        <p:txBody>
          <a:bodyPr wrap="none" lIns="0" tIns="0" rIns="0" bIns="0" rtlCol="0" anchor="t">
            <a:spAutoFit/>
          </a:bodyPr>
          <a:lstStyle/>
          <a:p>
            <a:pPr marL="0" indent="0" algn="l">
              <a:lnSpc>
                <a:spcPts val="1000"/>
              </a:lnSpc>
              <a:buNone/>
            </a:pPr>
            <a:r>
              <a:rPr lang="en-US" sz="1000" b="1" dirty="0">
                <a:solidFill>
                  <a:srgbClr val="00FF41"/>
                </a:solidFill>
              </a:rPr>
              <a:t>Configuration Disclosure</a:t>
            </a:r>
            <a:endParaRPr lang="en-US" sz="1000" dirty="0"/>
          </a:p>
        </p:txBody>
      </p:sp>
      <p:sp>
        <p:nvSpPr>
          <p:cNvPr id="20" name="Text 17"/>
          <p:cNvSpPr/>
          <p:nvPr/>
        </p:nvSpPr>
        <p:spPr>
          <a:xfrm>
            <a:off x="464344" y="2152522"/>
            <a:ext cx="2233175" cy="115416"/>
          </a:xfrm>
          <a:prstGeom prst="rect">
            <a:avLst/>
          </a:prstGeom>
          <a:noFill/>
          <a:ln/>
        </p:spPr>
        <p:txBody>
          <a:bodyPr wrap="none" lIns="170053" tIns="0" rIns="0" bIns="0" rtlCol="0" anchor="t">
            <a:spAutoFit/>
          </a:bodyPr>
          <a:lstStyle/>
          <a:p>
            <a:pPr marL="0" indent="0" algn="l">
              <a:lnSpc>
                <a:spcPts val="900"/>
              </a:lnSpc>
              <a:buNone/>
            </a:pPr>
            <a:r>
              <a:rPr lang="en-US" sz="800" dirty="0">
                <a:solidFill>
                  <a:srgbClr val="E0E0E0"/>
                </a:solidFill>
              </a:rPr>
              <a:t>LFI exposed /etc/knockd.conf with port sequence</a:t>
            </a:r>
            <a:endParaRPr lang="en-US" sz="800" dirty="0"/>
          </a:p>
        </p:txBody>
      </p:sp>
      <p:sp>
        <p:nvSpPr>
          <p:cNvPr id="21" name="Text 18"/>
          <p:cNvSpPr/>
          <p:nvPr/>
        </p:nvSpPr>
        <p:spPr>
          <a:xfrm>
            <a:off x="357188" y="2387939"/>
            <a:ext cx="3000375" cy="144661"/>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00FF41"/>
                </a:solidFill>
              </a:rPr>
              <a:t>↓</a:t>
            </a:r>
            <a:endParaRPr lang="en-US" sz="727" dirty="0"/>
          </a:p>
        </p:txBody>
      </p:sp>
      <p:sp>
        <p:nvSpPr>
          <p:cNvPr id="22" name="Shape 19"/>
          <p:cNvSpPr/>
          <p:nvPr/>
        </p:nvSpPr>
        <p:spPr>
          <a:xfrm>
            <a:off x="357188" y="2529387"/>
            <a:ext cx="3000375" cy="453628"/>
          </a:xfrm>
          <a:prstGeom prst="rect">
            <a:avLst/>
          </a:prstGeom>
          <a:solidFill>
            <a:srgbClr val="00FF41">
              <a:alpha val="5000"/>
            </a:srgbClr>
          </a:solidFill>
          <a:ln/>
        </p:spPr>
        <p:txBody>
          <a:bodyPr/>
          <a:lstStyle/>
          <a:p>
            <a:endParaRPr lang="en-US"/>
          </a:p>
        </p:txBody>
      </p:sp>
      <p:sp>
        <p:nvSpPr>
          <p:cNvPr id="23" name="Shape 20"/>
          <p:cNvSpPr/>
          <p:nvPr/>
        </p:nvSpPr>
        <p:spPr>
          <a:xfrm>
            <a:off x="357188" y="2529387"/>
            <a:ext cx="21431" cy="453628"/>
          </a:xfrm>
          <a:prstGeom prst="rect">
            <a:avLst/>
          </a:prstGeom>
          <a:solidFill>
            <a:srgbClr val="00FF41"/>
          </a:solidFill>
          <a:ln/>
        </p:spPr>
        <p:txBody>
          <a:bodyPr/>
          <a:lstStyle/>
          <a:p>
            <a:endParaRPr lang="en-US"/>
          </a:p>
        </p:txBody>
      </p:sp>
      <p:sp>
        <p:nvSpPr>
          <p:cNvPr id="24" name="Text 21"/>
          <p:cNvSpPr/>
          <p:nvPr/>
        </p:nvSpPr>
        <p:spPr>
          <a:xfrm>
            <a:off x="464344" y="2620469"/>
            <a:ext cx="118622" cy="123303"/>
          </a:xfrm>
          <a:prstGeom prst="rect">
            <a:avLst/>
          </a:prstGeom>
          <a:noFill/>
          <a:ln/>
        </p:spPr>
        <p:txBody>
          <a:bodyPr wrap="none" lIns="0" tIns="0" rIns="0" bIns="0" rtlCol="0" anchor="t">
            <a:spAutoFit/>
          </a:bodyPr>
          <a:lstStyle/>
          <a:p>
            <a:pPr marL="0" indent="0" algn="l">
              <a:lnSpc>
                <a:spcPts val="1000"/>
              </a:lnSpc>
              <a:buNone/>
            </a:pPr>
            <a:r>
              <a:rPr lang="en-US" sz="800" b="1" dirty="0">
                <a:solidFill>
                  <a:srgbClr val="FF3333"/>
                </a:solidFill>
              </a:rPr>
              <a:t>[4]</a:t>
            </a:r>
            <a:endParaRPr lang="en-US" sz="800" dirty="0"/>
          </a:p>
        </p:txBody>
      </p:sp>
      <p:sp>
        <p:nvSpPr>
          <p:cNvPr id="25" name="Text 22"/>
          <p:cNvSpPr/>
          <p:nvPr/>
        </p:nvSpPr>
        <p:spPr>
          <a:xfrm>
            <a:off x="649579" y="2620469"/>
            <a:ext cx="819135" cy="130036"/>
          </a:xfrm>
          <a:prstGeom prst="rect">
            <a:avLst/>
          </a:prstGeom>
          <a:noFill/>
          <a:ln/>
        </p:spPr>
        <p:txBody>
          <a:bodyPr wrap="none" lIns="0" tIns="0" rIns="0" bIns="0" rtlCol="0" anchor="t">
            <a:spAutoFit/>
          </a:bodyPr>
          <a:lstStyle/>
          <a:p>
            <a:pPr marL="0" indent="0" algn="l">
              <a:lnSpc>
                <a:spcPts val="1000"/>
              </a:lnSpc>
              <a:buNone/>
            </a:pPr>
            <a:r>
              <a:rPr lang="en-US" sz="1000" b="1" dirty="0">
                <a:solidFill>
                  <a:srgbClr val="00FF41"/>
                </a:solidFill>
              </a:rPr>
              <a:t>Firewall Bypass</a:t>
            </a:r>
            <a:endParaRPr lang="en-US" sz="1000" dirty="0"/>
          </a:p>
        </p:txBody>
      </p:sp>
      <p:sp>
        <p:nvSpPr>
          <p:cNvPr id="26" name="Text 23"/>
          <p:cNvSpPr/>
          <p:nvPr/>
        </p:nvSpPr>
        <p:spPr>
          <a:xfrm>
            <a:off x="464344" y="2779418"/>
            <a:ext cx="2425536" cy="115416"/>
          </a:xfrm>
          <a:prstGeom prst="rect">
            <a:avLst/>
          </a:prstGeom>
          <a:noFill/>
          <a:ln/>
        </p:spPr>
        <p:txBody>
          <a:bodyPr wrap="none" lIns="170053" tIns="0" rIns="0" bIns="0" rtlCol="0" anchor="t">
            <a:spAutoFit/>
          </a:bodyPr>
          <a:lstStyle/>
          <a:p>
            <a:pPr marL="0" indent="0" algn="l">
              <a:lnSpc>
                <a:spcPts val="900"/>
              </a:lnSpc>
              <a:buNone/>
            </a:pPr>
            <a:r>
              <a:rPr lang="en-US" sz="800" dirty="0">
                <a:solidFill>
                  <a:srgbClr val="E0E0E0"/>
                </a:solidFill>
              </a:rPr>
              <a:t>Executed port knocking sequence to open SSH port 22</a:t>
            </a:r>
            <a:endParaRPr lang="en-US" sz="800" dirty="0"/>
          </a:p>
        </p:txBody>
      </p:sp>
      <p:sp>
        <p:nvSpPr>
          <p:cNvPr id="27" name="Text 24"/>
          <p:cNvSpPr/>
          <p:nvPr/>
        </p:nvSpPr>
        <p:spPr>
          <a:xfrm>
            <a:off x="357187" y="3025877"/>
            <a:ext cx="3000375" cy="144661"/>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00FF41"/>
                </a:solidFill>
              </a:rPr>
              <a:t>↓</a:t>
            </a:r>
            <a:endParaRPr lang="en-US" sz="727" dirty="0"/>
          </a:p>
        </p:txBody>
      </p:sp>
      <p:sp>
        <p:nvSpPr>
          <p:cNvPr id="28" name="Shape 25"/>
          <p:cNvSpPr/>
          <p:nvPr/>
        </p:nvSpPr>
        <p:spPr>
          <a:xfrm>
            <a:off x="357188" y="3156863"/>
            <a:ext cx="3000375" cy="453628"/>
          </a:xfrm>
          <a:prstGeom prst="rect">
            <a:avLst/>
          </a:prstGeom>
          <a:solidFill>
            <a:srgbClr val="00FF41">
              <a:alpha val="5000"/>
            </a:srgbClr>
          </a:solidFill>
          <a:ln/>
        </p:spPr>
        <p:txBody>
          <a:bodyPr/>
          <a:lstStyle/>
          <a:p>
            <a:endParaRPr lang="en-US"/>
          </a:p>
        </p:txBody>
      </p:sp>
      <p:sp>
        <p:nvSpPr>
          <p:cNvPr id="29" name="Shape 26"/>
          <p:cNvSpPr/>
          <p:nvPr/>
        </p:nvSpPr>
        <p:spPr>
          <a:xfrm>
            <a:off x="357188" y="3156863"/>
            <a:ext cx="21431" cy="453628"/>
          </a:xfrm>
          <a:prstGeom prst="rect">
            <a:avLst/>
          </a:prstGeom>
          <a:solidFill>
            <a:srgbClr val="00FF41"/>
          </a:solidFill>
          <a:ln/>
        </p:spPr>
        <p:txBody>
          <a:bodyPr/>
          <a:lstStyle/>
          <a:p>
            <a:endParaRPr lang="en-US"/>
          </a:p>
        </p:txBody>
      </p:sp>
      <p:sp>
        <p:nvSpPr>
          <p:cNvPr id="30" name="Text 27"/>
          <p:cNvSpPr/>
          <p:nvPr/>
        </p:nvSpPr>
        <p:spPr>
          <a:xfrm>
            <a:off x="464344" y="3247946"/>
            <a:ext cx="118622" cy="123303"/>
          </a:xfrm>
          <a:prstGeom prst="rect">
            <a:avLst/>
          </a:prstGeom>
          <a:noFill/>
          <a:ln/>
        </p:spPr>
        <p:txBody>
          <a:bodyPr wrap="none" lIns="0" tIns="0" rIns="0" bIns="0" rtlCol="0" anchor="t">
            <a:spAutoFit/>
          </a:bodyPr>
          <a:lstStyle/>
          <a:p>
            <a:pPr marL="0" indent="0" algn="l">
              <a:lnSpc>
                <a:spcPts val="1000"/>
              </a:lnSpc>
              <a:buNone/>
            </a:pPr>
            <a:r>
              <a:rPr lang="en-US" sz="800" b="1" dirty="0">
                <a:solidFill>
                  <a:srgbClr val="FF3333"/>
                </a:solidFill>
              </a:rPr>
              <a:t>[5]</a:t>
            </a:r>
            <a:endParaRPr lang="en-US" sz="800" dirty="0"/>
          </a:p>
        </p:txBody>
      </p:sp>
      <p:sp>
        <p:nvSpPr>
          <p:cNvPr id="31" name="Text 28"/>
          <p:cNvSpPr/>
          <p:nvPr/>
        </p:nvSpPr>
        <p:spPr>
          <a:xfrm>
            <a:off x="649579" y="3247946"/>
            <a:ext cx="1149354" cy="130036"/>
          </a:xfrm>
          <a:prstGeom prst="rect">
            <a:avLst/>
          </a:prstGeom>
          <a:noFill/>
          <a:ln/>
        </p:spPr>
        <p:txBody>
          <a:bodyPr wrap="none" lIns="0" tIns="0" rIns="0" bIns="0" rtlCol="0" anchor="t">
            <a:spAutoFit/>
          </a:bodyPr>
          <a:lstStyle/>
          <a:p>
            <a:pPr marL="0" indent="0" algn="l">
              <a:lnSpc>
                <a:spcPts val="1000"/>
              </a:lnSpc>
              <a:buNone/>
            </a:pPr>
            <a:r>
              <a:rPr lang="en-US" sz="1000" b="1" dirty="0">
                <a:solidFill>
                  <a:srgbClr val="00FF41"/>
                </a:solidFill>
              </a:rPr>
              <a:t>Credential Harvesting</a:t>
            </a:r>
            <a:endParaRPr lang="en-US" sz="1000" dirty="0"/>
          </a:p>
        </p:txBody>
      </p:sp>
      <p:sp>
        <p:nvSpPr>
          <p:cNvPr id="32" name="Text 29"/>
          <p:cNvSpPr/>
          <p:nvPr/>
        </p:nvSpPr>
        <p:spPr>
          <a:xfrm>
            <a:off x="464344" y="3406894"/>
            <a:ext cx="2672398" cy="115416"/>
          </a:xfrm>
          <a:prstGeom prst="rect">
            <a:avLst/>
          </a:prstGeom>
          <a:noFill/>
          <a:ln/>
        </p:spPr>
        <p:txBody>
          <a:bodyPr wrap="none" lIns="170053" tIns="0" rIns="0" bIns="0" rtlCol="0" anchor="t">
            <a:spAutoFit/>
          </a:bodyPr>
          <a:lstStyle/>
          <a:p>
            <a:pPr marL="0" indent="0" algn="l">
              <a:lnSpc>
                <a:spcPts val="900"/>
              </a:lnSpc>
              <a:buNone/>
            </a:pPr>
            <a:r>
              <a:rPr lang="en-US" sz="800" dirty="0">
                <a:solidFill>
                  <a:srgbClr val="E0E0E0"/>
                </a:solidFill>
              </a:rPr>
              <a:t>Used extracted hashes and dictionary attacks for SSH access</a:t>
            </a:r>
            <a:endParaRPr lang="en-US" sz="800" dirty="0"/>
          </a:p>
        </p:txBody>
      </p:sp>
      <p:sp>
        <p:nvSpPr>
          <p:cNvPr id="33" name="Text 30"/>
          <p:cNvSpPr/>
          <p:nvPr/>
        </p:nvSpPr>
        <p:spPr>
          <a:xfrm>
            <a:off x="321469" y="3663815"/>
            <a:ext cx="3000375" cy="144661"/>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00FF41"/>
                </a:solidFill>
              </a:rPr>
              <a:t>↓</a:t>
            </a:r>
            <a:endParaRPr lang="en-US" sz="727" dirty="0"/>
          </a:p>
        </p:txBody>
      </p:sp>
      <p:sp>
        <p:nvSpPr>
          <p:cNvPr id="34" name="Shape 31"/>
          <p:cNvSpPr/>
          <p:nvPr/>
        </p:nvSpPr>
        <p:spPr>
          <a:xfrm>
            <a:off x="357188" y="3829121"/>
            <a:ext cx="3000375" cy="453628"/>
          </a:xfrm>
          <a:prstGeom prst="rect">
            <a:avLst/>
          </a:prstGeom>
          <a:solidFill>
            <a:srgbClr val="00FF41">
              <a:alpha val="5000"/>
            </a:srgbClr>
          </a:solidFill>
          <a:ln/>
        </p:spPr>
        <p:txBody>
          <a:bodyPr/>
          <a:lstStyle/>
          <a:p>
            <a:endParaRPr lang="en-US"/>
          </a:p>
        </p:txBody>
      </p:sp>
      <p:sp>
        <p:nvSpPr>
          <p:cNvPr id="35" name="Shape 32"/>
          <p:cNvSpPr/>
          <p:nvPr/>
        </p:nvSpPr>
        <p:spPr>
          <a:xfrm>
            <a:off x="357188" y="3829121"/>
            <a:ext cx="21431" cy="453628"/>
          </a:xfrm>
          <a:prstGeom prst="rect">
            <a:avLst/>
          </a:prstGeom>
          <a:solidFill>
            <a:srgbClr val="00FF41"/>
          </a:solidFill>
          <a:ln/>
        </p:spPr>
        <p:txBody>
          <a:bodyPr/>
          <a:lstStyle/>
          <a:p>
            <a:endParaRPr lang="en-US"/>
          </a:p>
        </p:txBody>
      </p:sp>
      <p:sp>
        <p:nvSpPr>
          <p:cNvPr id="36" name="Text 33"/>
          <p:cNvSpPr/>
          <p:nvPr/>
        </p:nvSpPr>
        <p:spPr>
          <a:xfrm>
            <a:off x="464344" y="3920204"/>
            <a:ext cx="118622" cy="123303"/>
          </a:xfrm>
          <a:prstGeom prst="rect">
            <a:avLst/>
          </a:prstGeom>
          <a:noFill/>
          <a:ln/>
        </p:spPr>
        <p:txBody>
          <a:bodyPr wrap="none" lIns="0" tIns="0" rIns="0" bIns="0" rtlCol="0" anchor="t">
            <a:spAutoFit/>
          </a:bodyPr>
          <a:lstStyle/>
          <a:p>
            <a:pPr marL="0" indent="0" algn="l">
              <a:lnSpc>
                <a:spcPts val="1000"/>
              </a:lnSpc>
              <a:buNone/>
            </a:pPr>
            <a:r>
              <a:rPr lang="en-US" sz="800" b="1" dirty="0">
                <a:solidFill>
                  <a:srgbClr val="FF3333"/>
                </a:solidFill>
              </a:rPr>
              <a:t>[6]</a:t>
            </a:r>
            <a:endParaRPr lang="en-US" sz="800" dirty="0"/>
          </a:p>
        </p:txBody>
      </p:sp>
      <p:sp>
        <p:nvSpPr>
          <p:cNvPr id="37" name="Text 34"/>
          <p:cNvSpPr/>
          <p:nvPr/>
        </p:nvSpPr>
        <p:spPr>
          <a:xfrm>
            <a:off x="649579" y="3920204"/>
            <a:ext cx="1027525" cy="130036"/>
          </a:xfrm>
          <a:prstGeom prst="rect">
            <a:avLst/>
          </a:prstGeom>
          <a:noFill/>
          <a:ln/>
        </p:spPr>
        <p:txBody>
          <a:bodyPr wrap="none" lIns="0" tIns="0" rIns="0" bIns="0" rtlCol="0" anchor="t">
            <a:spAutoFit/>
          </a:bodyPr>
          <a:lstStyle/>
          <a:p>
            <a:pPr marL="0" indent="0" algn="l">
              <a:lnSpc>
                <a:spcPts val="1000"/>
              </a:lnSpc>
              <a:buNone/>
            </a:pPr>
            <a:r>
              <a:rPr lang="en-US" sz="1000" b="1" dirty="0">
                <a:solidFill>
                  <a:srgbClr val="00FF41"/>
                </a:solidFill>
              </a:rPr>
              <a:t>Privilege Escalation</a:t>
            </a:r>
            <a:endParaRPr lang="en-US" sz="1000" dirty="0"/>
          </a:p>
        </p:txBody>
      </p:sp>
      <p:sp>
        <p:nvSpPr>
          <p:cNvPr id="38" name="Text 35"/>
          <p:cNvSpPr/>
          <p:nvPr/>
        </p:nvSpPr>
        <p:spPr>
          <a:xfrm>
            <a:off x="464344" y="4079152"/>
            <a:ext cx="2669192" cy="115416"/>
          </a:xfrm>
          <a:prstGeom prst="rect">
            <a:avLst/>
          </a:prstGeom>
          <a:noFill/>
          <a:ln/>
        </p:spPr>
        <p:txBody>
          <a:bodyPr wrap="none" lIns="170053" tIns="0" rIns="0" bIns="0" rtlCol="0" anchor="t">
            <a:spAutoFit/>
          </a:bodyPr>
          <a:lstStyle/>
          <a:p>
            <a:pPr marL="0" indent="0" algn="l">
              <a:lnSpc>
                <a:spcPts val="900"/>
              </a:lnSpc>
              <a:buNone/>
            </a:pPr>
            <a:r>
              <a:rPr lang="en-US" sz="800" dirty="0">
                <a:solidFill>
                  <a:srgbClr val="E0E0E0"/>
                </a:solidFill>
              </a:rPr>
              <a:t>Exploited sudo NOPASSWD misconfiguration for root access</a:t>
            </a:r>
            <a:endParaRPr lang="en-US" sz="800" dirty="0"/>
          </a:p>
        </p:txBody>
      </p:sp>
      <p:pic>
        <p:nvPicPr>
          <p:cNvPr id="39" name="Image 1" descr="preencoded.png"/>
          <p:cNvPicPr>
            <a:picLocks noChangeAspect="1"/>
          </p:cNvPicPr>
          <p:nvPr/>
        </p:nvPicPr>
        <p:blipFill>
          <a:blip r:embed="rId4"/>
          <a:stretch>
            <a:fillRect/>
          </a:stretch>
        </p:blipFill>
        <p:spPr>
          <a:xfrm>
            <a:off x="3643312" y="773311"/>
            <a:ext cx="5143500" cy="357187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86435"/>
            <a:ext cx="9144000" cy="5329935"/>
          </a:xfrm>
          <a:prstGeom prst="rect">
            <a:avLst/>
          </a:prstGeom>
        </p:spPr>
      </p:pic>
      <p:sp>
        <p:nvSpPr>
          <p:cNvPr id="3" name="Text 0"/>
          <p:cNvSpPr/>
          <p:nvPr/>
        </p:nvSpPr>
        <p:spPr>
          <a:xfrm>
            <a:off x="357188" y="215278"/>
            <a:ext cx="8429625" cy="273248"/>
          </a:xfrm>
          <a:prstGeom prst="rect">
            <a:avLst/>
          </a:prstGeom>
          <a:noFill/>
          <a:ln/>
        </p:spPr>
        <p:txBody>
          <a:bodyPr wrap="none" lIns="0" tIns="0" rIns="0" bIns="0" rtlCol="0" anchor="t">
            <a:spAutoFit/>
          </a:bodyPr>
          <a:lstStyle/>
          <a:p>
            <a:pPr marL="0" indent="0" algn="l">
              <a:lnSpc>
                <a:spcPts val="1900"/>
              </a:lnSpc>
              <a:buNone/>
            </a:pPr>
            <a:r>
              <a:rPr lang="en-US" sz="1397" b="1" kern="0" spc="2" dirty="0">
                <a:solidFill>
                  <a:srgbClr val="00FF41"/>
                </a:solidFill>
              </a:rPr>
              <a:t>► BLACK-BOX METHODOLOGY: EMULATING A REAL-WORLD ADVERSARY</a:t>
            </a:r>
            <a:endParaRPr lang="en-US" sz="1397" dirty="0"/>
          </a:p>
        </p:txBody>
      </p:sp>
      <p:sp>
        <p:nvSpPr>
          <p:cNvPr id="4" name="Shape 1"/>
          <p:cNvSpPr/>
          <p:nvPr/>
        </p:nvSpPr>
        <p:spPr>
          <a:xfrm>
            <a:off x="357187" y="564130"/>
            <a:ext cx="8358188" cy="183952"/>
          </a:xfrm>
          <a:prstGeom prst="rect">
            <a:avLst/>
          </a:prstGeom>
          <a:solidFill>
            <a:srgbClr val="00FF41">
              <a:alpha val="10000"/>
            </a:srgbClr>
          </a:solidFill>
          <a:ln w="9144">
            <a:solidFill>
              <a:srgbClr val="00FF41"/>
            </a:solidFill>
            <a:prstDash val="solid"/>
          </a:ln>
        </p:spPr>
        <p:txBody>
          <a:bodyPr/>
          <a:lstStyle/>
          <a:p>
            <a:endParaRPr lang="en-US"/>
          </a:p>
        </p:txBody>
      </p:sp>
      <p:sp>
        <p:nvSpPr>
          <p:cNvPr id="5" name="Text 2"/>
          <p:cNvSpPr/>
          <p:nvPr/>
        </p:nvSpPr>
        <p:spPr>
          <a:xfrm>
            <a:off x="357187" y="564129"/>
            <a:ext cx="8167687" cy="180370"/>
          </a:xfrm>
          <a:prstGeom prst="rect">
            <a:avLst/>
          </a:prstGeom>
          <a:noFill/>
          <a:ln/>
        </p:spPr>
        <p:txBody>
          <a:bodyPr wrap="square" lIns="85090" tIns="42545" rIns="85090" bIns="42545" rtlCol="0" anchor="t">
            <a:spAutoFit/>
          </a:bodyPr>
          <a:lstStyle/>
          <a:p>
            <a:pPr marL="0" indent="0" algn="l">
              <a:lnSpc>
                <a:spcPts val="700"/>
              </a:lnSpc>
              <a:buNone/>
            </a:pPr>
            <a:r>
              <a:rPr lang="en-US" sz="800" dirty="0">
                <a:solidFill>
                  <a:srgbClr val="00FF41"/>
                </a:solidFill>
              </a:rPr>
              <a:t>APPROACH: Black-Box (No Prior Credentials)</a:t>
            </a:r>
            <a:endParaRPr lang="en-US" sz="800" dirty="0"/>
          </a:p>
        </p:txBody>
      </p:sp>
      <p:sp>
        <p:nvSpPr>
          <p:cNvPr id="6" name="Shape 3"/>
          <p:cNvSpPr/>
          <p:nvPr/>
        </p:nvSpPr>
        <p:spPr>
          <a:xfrm>
            <a:off x="357187" y="840448"/>
            <a:ext cx="4143375" cy="987623"/>
          </a:xfrm>
          <a:prstGeom prst="rect">
            <a:avLst/>
          </a:prstGeom>
          <a:solidFill>
            <a:srgbClr val="00FF41">
              <a:alpha val="5000"/>
            </a:srgbClr>
          </a:solidFill>
          <a:ln w="9144">
            <a:solidFill>
              <a:srgbClr val="00FF41"/>
            </a:solidFill>
            <a:prstDash val="solid"/>
          </a:ln>
        </p:spPr>
        <p:txBody>
          <a:bodyPr/>
          <a:lstStyle/>
          <a:p>
            <a:endParaRPr lang="en-US" dirty="0"/>
          </a:p>
        </p:txBody>
      </p:sp>
      <p:sp>
        <p:nvSpPr>
          <p:cNvPr id="7" name="Text 4"/>
          <p:cNvSpPr/>
          <p:nvPr/>
        </p:nvSpPr>
        <p:spPr>
          <a:xfrm>
            <a:off x="464344" y="947604"/>
            <a:ext cx="984950" cy="110800"/>
          </a:xfrm>
          <a:prstGeom prst="rect">
            <a:avLst/>
          </a:prstGeom>
          <a:noFill/>
          <a:ln/>
        </p:spPr>
        <p:txBody>
          <a:bodyPr wrap="none" lIns="0" tIns="0" rIns="0" bIns="0" rtlCol="0" anchor="t">
            <a:spAutoFit/>
          </a:bodyPr>
          <a:lstStyle/>
          <a:p>
            <a:pPr marL="0" indent="0" algn="l">
              <a:lnSpc>
                <a:spcPts val="800"/>
              </a:lnSpc>
              <a:buNone/>
            </a:pPr>
            <a:r>
              <a:rPr lang="en-US" sz="1000" b="1" kern="0" spc="1" dirty="0">
                <a:solidFill>
                  <a:srgbClr val="00FF41"/>
                </a:solidFill>
              </a:rPr>
              <a:t>[ Reconnaissance ]</a:t>
            </a:r>
            <a:endParaRPr lang="en-US" sz="1000" dirty="0"/>
          </a:p>
        </p:txBody>
      </p:sp>
      <p:sp>
        <p:nvSpPr>
          <p:cNvPr id="8" name="Text 5"/>
          <p:cNvSpPr/>
          <p:nvPr/>
        </p:nvSpPr>
        <p:spPr>
          <a:xfrm>
            <a:off x="564356" y="1135127"/>
            <a:ext cx="471283" cy="120418"/>
          </a:xfrm>
          <a:prstGeom prst="rect">
            <a:avLst/>
          </a:prstGeom>
          <a:noFill/>
          <a:ln/>
        </p:spPr>
        <p:txBody>
          <a:bodyPr wrap="none" lIns="0" tIns="0" rIns="0" bIns="0" rtlCol="0" anchor="t">
            <a:spAutoFit/>
          </a:bodyPr>
          <a:lstStyle/>
          <a:p>
            <a:pPr marL="0" indent="0" algn="l">
              <a:lnSpc>
                <a:spcPts val="900"/>
              </a:lnSpc>
              <a:buNone/>
            </a:pPr>
            <a:r>
              <a:rPr lang="en-US" sz="1000" b="1" dirty="0">
                <a:solidFill>
                  <a:srgbClr val="FF3333"/>
                </a:solidFill>
              </a:rPr>
              <a:t>Purpose:</a:t>
            </a:r>
            <a:endParaRPr lang="en-US" sz="1000" dirty="0"/>
          </a:p>
        </p:txBody>
      </p:sp>
      <p:sp>
        <p:nvSpPr>
          <p:cNvPr id="9" name="Text 6"/>
          <p:cNvSpPr/>
          <p:nvPr/>
        </p:nvSpPr>
        <p:spPr>
          <a:xfrm>
            <a:off x="564356" y="1249427"/>
            <a:ext cx="3784620" cy="115416"/>
          </a:xfrm>
          <a:prstGeom prst="rect">
            <a:avLst/>
          </a:prstGeom>
          <a:noFill/>
          <a:ln/>
        </p:spPr>
        <p:txBody>
          <a:bodyPr wrap="square" lIns="0" tIns="0" rIns="0" bIns="0" rtlCol="0" anchor="t">
            <a:spAutoFit/>
          </a:bodyPr>
          <a:lstStyle/>
          <a:p>
            <a:pPr marL="0" indent="0" algn="l">
              <a:lnSpc>
                <a:spcPts val="900"/>
              </a:lnSpc>
              <a:buNone/>
            </a:pPr>
            <a:r>
              <a:rPr lang="en-US" sz="800" dirty="0">
                <a:solidFill>
                  <a:srgbClr val="E0E0E0"/>
                </a:solidFill>
              </a:rPr>
              <a:t>Discover live hosts and verify target availability</a:t>
            </a:r>
            <a:endParaRPr lang="en-US" sz="800" dirty="0"/>
          </a:p>
        </p:txBody>
      </p:sp>
      <p:sp>
        <p:nvSpPr>
          <p:cNvPr id="10" name="Text 7"/>
          <p:cNvSpPr/>
          <p:nvPr/>
        </p:nvSpPr>
        <p:spPr>
          <a:xfrm>
            <a:off x="564356" y="1420877"/>
            <a:ext cx="631583" cy="120418"/>
          </a:xfrm>
          <a:prstGeom prst="rect">
            <a:avLst/>
          </a:prstGeom>
          <a:noFill/>
          <a:ln/>
        </p:spPr>
        <p:txBody>
          <a:bodyPr wrap="none" lIns="0" tIns="0" rIns="0" bIns="0" rtlCol="0" anchor="t">
            <a:spAutoFit/>
          </a:bodyPr>
          <a:lstStyle/>
          <a:p>
            <a:pPr marL="0" indent="0" algn="l">
              <a:lnSpc>
                <a:spcPts val="900"/>
              </a:lnSpc>
              <a:buNone/>
            </a:pPr>
            <a:r>
              <a:rPr lang="en-US" sz="1000" b="1" dirty="0">
                <a:solidFill>
                  <a:srgbClr val="FF3333"/>
                </a:solidFill>
              </a:rPr>
              <a:t>Commands:</a:t>
            </a:r>
            <a:endParaRPr lang="en-US" sz="1000" dirty="0"/>
          </a:p>
        </p:txBody>
      </p:sp>
      <p:sp>
        <p:nvSpPr>
          <p:cNvPr id="11" name="Text 8"/>
          <p:cNvSpPr/>
          <p:nvPr/>
        </p:nvSpPr>
        <p:spPr>
          <a:xfrm>
            <a:off x="564356" y="1535177"/>
            <a:ext cx="1505220" cy="115416"/>
          </a:xfrm>
          <a:prstGeom prst="rect">
            <a:avLst/>
          </a:prstGeom>
          <a:noFill/>
          <a:ln/>
        </p:spPr>
        <p:txBody>
          <a:bodyPr wrap="none" lIns="0" tIns="0" rIns="0" bIns="0" rtlCol="0" anchor="t">
            <a:spAutoFit/>
          </a:bodyPr>
          <a:lstStyle/>
          <a:p>
            <a:pPr marL="0" indent="0" algn="l">
              <a:lnSpc>
                <a:spcPts val="900"/>
              </a:lnSpc>
              <a:buNone/>
            </a:pPr>
            <a:r>
              <a:rPr lang="en-US" sz="800" dirty="0">
                <a:solidFill>
                  <a:srgbClr val="E0E0E0"/>
                </a:solidFill>
              </a:rPr>
              <a:t>ifconfig, nmap -sn 192.168.196.0/24</a:t>
            </a:r>
            <a:endParaRPr lang="en-US" sz="800" dirty="0"/>
          </a:p>
        </p:txBody>
      </p:sp>
      <p:sp>
        <p:nvSpPr>
          <p:cNvPr id="12" name="Shape 9"/>
          <p:cNvSpPr/>
          <p:nvPr/>
        </p:nvSpPr>
        <p:spPr>
          <a:xfrm>
            <a:off x="4643438" y="835819"/>
            <a:ext cx="4143375" cy="987623"/>
          </a:xfrm>
          <a:prstGeom prst="rect">
            <a:avLst/>
          </a:prstGeom>
          <a:solidFill>
            <a:srgbClr val="00FF41">
              <a:alpha val="5000"/>
            </a:srgbClr>
          </a:solidFill>
          <a:ln w="9144">
            <a:solidFill>
              <a:srgbClr val="00FF41"/>
            </a:solidFill>
            <a:prstDash val="solid"/>
          </a:ln>
        </p:spPr>
        <p:txBody>
          <a:bodyPr/>
          <a:lstStyle/>
          <a:p>
            <a:endParaRPr lang="en-US"/>
          </a:p>
        </p:txBody>
      </p:sp>
      <p:sp>
        <p:nvSpPr>
          <p:cNvPr id="13" name="Text 10"/>
          <p:cNvSpPr/>
          <p:nvPr/>
        </p:nvSpPr>
        <p:spPr>
          <a:xfrm>
            <a:off x="4750594" y="942975"/>
            <a:ext cx="1243674" cy="110800"/>
          </a:xfrm>
          <a:prstGeom prst="rect">
            <a:avLst/>
          </a:prstGeom>
          <a:noFill/>
          <a:ln/>
        </p:spPr>
        <p:txBody>
          <a:bodyPr wrap="none" lIns="0" tIns="0" rIns="0" bIns="0" rtlCol="0" anchor="t">
            <a:spAutoFit/>
          </a:bodyPr>
          <a:lstStyle/>
          <a:p>
            <a:pPr marL="0" indent="0" algn="l">
              <a:lnSpc>
                <a:spcPts val="800"/>
              </a:lnSpc>
              <a:buNone/>
            </a:pPr>
            <a:r>
              <a:rPr lang="en-US" sz="1000" b="1" kern="0" spc="1" dirty="0">
                <a:solidFill>
                  <a:srgbClr val="00FF41"/>
                </a:solidFill>
              </a:rPr>
              <a:t>[ Service Enumeration ]</a:t>
            </a:r>
            <a:endParaRPr lang="en-US" sz="1000" dirty="0"/>
          </a:p>
        </p:txBody>
      </p:sp>
      <p:sp>
        <p:nvSpPr>
          <p:cNvPr id="14" name="Text 11"/>
          <p:cNvSpPr/>
          <p:nvPr/>
        </p:nvSpPr>
        <p:spPr>
          <a:xfrm>
            <a:off x="4850606" y="1130498"/>
            <a:ext cx="471283" cy="120418"/>
          </a:xfrm>
          <a:prstGeom prst="rect">
            <a:avLst/>
          </a:prstGeom>
          <a:noFill/>
          <a:ln/>
        </p:spPr>
        <p:txBody>
          <a:bodyPr wrap="none" lIns="0" tIns="0" rIns="0" bIns="0" rtlCol="0" anchor="t">
            <a:spAutoFit/>
          </a:bodyPr>
          <a:lstStyle/>
          <a:p>
            <a:pPr marL="0" indent="0" algn="l">
              <a:lnSpc>
                <a:spcPts val="900"/>
              </a:lnSpc>
              <a:buNone/>
            </a:pPr>
            <a:r>
              <a:rPr lang="en-US" sz="1000" b="1" dirty="0">
                <a:solidFill>
                  <a:srgbClr val="FF3333"/>
                </a:solidFill>
              </a:rPr>
              <a:t>Purpose:</a:t>
            </a:r>
            <a:endParaRPr lang="en-US" sz="1000" dirty="0"/>
          </a:p>
        </p:txBody>
      </p:sp>
      <p:sp>
        <p:nvSpPr>
          <p:cNvPr id="15" name="Text 12"/>
          <p:cNvSpPr/>
          <p:nvPr/>
        </p:nvSpPr>
        <p:spPr>
          <a:xfrm>
            <a:off x="4850606" y="1244798"/>
            <a:ext cx="1755289" cy="115416"/>
          </a:xfrm>
          <a:prstGeom prst="rect">
            <a:avLst/>
          </a:prstGeom>
          <a:noFill/>
          <a:ln/>
        </p:spPr>
        <p:txBody>
          <a:bodyPr wrap="none" lIns="0" tIns="0" rIns="0" bIns="0" rtlCol="0" anchor="t">
            <a:spAutoFit/>
          </a:bodyPr>
          <a:lstStyle/>
          <a:p>
            <a:pPr marL="0" indent="0" algn="l">
              <a:lnSpc>
                <a:spcPts val="900"/>
              </a:lnSpc>
              <a:buNone/>
            </a:pPr>
            <a:r>
              <a:rPr lang="en-US" sz="800" dirty="0">
                <a:solidFill>
                  <a:srgbClr val="E0E0E0"/>
                </a:solidFill>
              </a:rPr>
              <a:t>Identify open ports, services, and versions</a:t>
            </a:r>
            <a:endParaRPr lang="en-US" sz="800" dirty="0"/>
          </a:p>
        </p:txBody>
      </p:sp>
      <p:sp>
        <p:nvSpPr>
          <p:cNvPr id="16" name="Text 13"/>
          <p:cNvSpPr/>
          <p:nvPr/>
        </p:nvSpPr>
        <p:spPr>
          <a:xfrm>
            <a:off x="4850606" y="1416248"/>
            <a:ext cx="631583" cy="120418"/>
          </a:xfrm>
          <a:prstGeom prst="rect">
            <a:avLst/>
          </a:prstGeom>
          <a:noFill/>
          <a:ln/>
        </p:spPr>
        <p:txBody>
          <a:bodyPr wrap="none" lIns="0" tIns="0" rIns="0" bIns="0" rtlCol="0" anchor="t">
            <a:spAutoFit/>
          </a:bodyPr>
          <a:lstStyle/>
          <a:p>
            <a:pPr marL="0" indent="0" algn="l">
              <a:lnSpc>
                <a:spcPts val="900"/>
              </a:lnSpc>
              <a:buNone/>
            </a:pPr>
            <a:r>
              <a:rPr lang="en-US" sz="1000" b="1" dirty="0">
                <a:solidFill>
                  <a:srgbClr val="FF3333"/>
                </a:solidFill>
              </a:rPr>
              <a:t>Commands:</a:t>
            </a:r>
            <a:endParaRPr lang="en-US" sz="1000" dirty="0"/>
          </a:p>
        </p:txBody>
      </p:sp>
      <p:sp>
        <p:nvSpPr>
          <p:cNvPr id="17" name="Text 14"/>
          <p:cNvSpPr/>
          <p:nvPr/>
        </p:nvSpPr>
        <p:spPr>
          <a:xfrm>
            <a:off x="4850606" y="1530548"/>
            <a:ext cx="1372171" cy="115416"/>
          </a:xfrm>
          <a:prstGeom prst="rect">
            <a:avLst/>
          </a:prstGeom>
          <a:noFill/>
          <a:ln/>
        </p:spPr>
        <p:txBody>
          <a:bodyPr wrap="none" lIns="0" tIns="0" rIns="0" bIns="0" rtlCol="0" anchor="t">
            <a:spAutoFit/>
          </a:bodyPr>
          <a:lstStyle/>
          <a:p>
            <a:pPr marL="0" indent="0" algn="l">
              <a:lnSpc>
                <a:spcPts val="900"/>
              </a:lnSpc>
              <a:buNone/>
            </a:pPr>
            <a:r>
              <a:rPr lang="en-US" sz="800" dirty="0">
                <a:solidFill>
                  <a:srgbClr val="E0E0E0"/>
                </a:solidFill>
              </a:rPr>
              <a:t>nmap -A -Pn -p- 192.168.196.138</a:t>
            </a:r>
            <a:endParaRPr lang="en-US" sz="800" dirty="0"/>
          </a:p>
        </p:txBody>
      </p:sp>
      <p:sp>
        <p:nvSpPr>
          <p:cNvPr id="18" name="Shape 15"/>
          <p:cNvSpPr/>
          <p:nvPr/>
        </p:nvSpPr>
        <p:spPr>
          <a:xfrm>
            <a:off x="357185" y="1930120"/>
            <a:ext cx="4143375" cy="987623"/>
          </a:xfrm>
          <a:prstGeom prst="rect">
            <a:avLst/>
          </a:prstGeom>
          <a:solidFill>
            <a:srgbClr val="00FF41">
              <a:alpha val="5000"/>
            </a:srgbClr>
          </a:solidFill>
          <a:ln w="9144">
            <a:solidFill>
              <a:srgbClr val="00FF41"/>
            </a:solidFill>
            <a:prstDash val="solid"/>
          </a:ln>
        </p:spPr>
        <p:txBody>
          <a:bodyPr/>
          <a:lstStyle/>
          <a:p>
            <a:endParaRPr lang="en-US"/>
          </a:p>
        </p:txBody>
      </p:sp>
      <p:sp>
        <p:nvSpPr>
          <p:cNvPr id="19" name="Text 16"/>
          <p:cNvSpPr/>
          <p:nvPr/>
        </p:nvSpPr>
        <p:spPr>
          <a:xfrm>
            <a:off x="477739" y="2034986"/>
            <a:ext cx="1153777" cy="110800"/>
          </a:xfrm>
          <a:prstGeom prst="rect">
            <a:avLst/>
          </a:prstGeom>
          <a:noFill/>
          <a:ln/>
        </p:spPr>
        <p:txBody>
          <a:bodyPr wrap="none" lIns="0" tIns="0" rIns="0" bIns="0" rtlCol="0" anchor="t">
            <a:spAutoFit/>
          </a:bodyPr>
          <a:lstStyle/>
          <a:p>
            <a:pPr marL="0" indent="0" algn="l">
              <a:lnSpc>
                <a:spcPts val="800"/>
              </a:lnSpc>
              <a:buNone/>
            </a:pPr>
            <a:r>
              <a:rPr lang="en-US" sz="1000" b="1" kern="0" spc="1" dirty="0">
                <a:solidFill>
                  <a:srgbClr val="00FF41"/>
                </a:solidFill>
              </a:rPr>
              <a:t>[ Initial Compromise ]</a:t>
            </a:r>
            <a:endParaRPr lang="en-US" sz="1000" dirty="0"/>
          </a:p>
        </p:txBody>
      </p:sp>
      <p:sp>
        <p:nvSpPr>
          <p:cNvPr id="20" name="Text 17"/>
          <p:cNvSpPr/>
          <p:nvPr/>
        </p:nvSpPr>
        <p:spPr>
          <a:xfrm>
            <a:off x="543270" y="2189672"/>
            <a:ext cx="639599" cy="120418"/>
          </a:xfrm>
          <a:prstGeom prst="rect">
            <a:avLst/>
          </a:prstGeom>
          <a:noFill/>
          <a:ln/>
        </p:spPr>
        <p:txBody>
          <a:bodyPr wrap="none" lIns="0" tIns="0" rIns="0" bIns="0" rtlCol="0" anchor="t">
            <a:spAutoFit/>
          </a:bodyPr>
          <a:lstStyle/>
          <a:p>
            <a:pPr marL="0" indent="0" algn="l">
              <a:lnSpc>
                <a:spcPts val="900"/>
              </a:lnSpc>
              <a:buNone/>
            </a:pPr>
            <a:r>
              <a:rPr lang="en-US" sz="1000" b="1" dirty="0">
                <a:solidFill>
                  <a:srgbClr val="FF3333"/>
                </a:solidFill>
              </a:rPr>
              <a:t>Techniques:</a:t>
            </a:r>
            <a:endParaRPr lang="en-US" sz="1000" dirty="0"/>
          </a:p>
        </p:txBody>
      </p:sp>
      <p:sp>
        <p:nvSpPr>
          <p:cNvPr id="21" name="Text 18"/>
          <p:cNvSpPr/>
          <p:nvPr/>
        </p:nvSpPr>
        <p:spPr>
          <a:xfrm>
            <a:off x="543270" y="2303972"/>
            <a:ext cx="2527936" cy="115416"/>
          </a:xfrm>
          <a:prstGeom prst="rect">
            <a:avLst/>
          </a:prstGeom>
          <a:noFill/>
          <a:ln/>
        </p:spPr>
        <p:txBody>
          <a:bodyPr wrap="none" lIns="0" tIns="0" rIns="0" bIns="0" rtlCol="0" anchor="t">
            <a:spAutoFit/>
          </a:bodyPr>
          <a:lstStyle/>
          <a:p>
            <a:pPr marL="0" indent="0" algn="l">
              <a:lnSpc>
                <a:spcPts val="900"/>
              </a:lnSpc>
              <a:buNone/>
            </a:pPr>
            <a:r>
              <a:rPr lang="en-US" sz="800" dirty="0">
                <a:solidFill>
                  <a:srgbClr val="E0E0E0"/>
                </a:solidFill>
              </a:rPr>
              <a:t>SQL Injection exploitation, Local File Inclusion, Path traversal</a:t>
            </a:r>
            <a:endParaRPr lang="en-US" sz="800" dirty="0"/>
          </a:p>
        </p:txBody>
      </p:sp>
      <p:sp>
        <p:nvSpPr>
          <p:cNvPr id="22" name="Text 19"/>
          <p:cNvSpPr/>
          <p:nvPr/>
        </p:nvSpPr>
        <p:spPr>
          <a:xfrm>
            <a:off x="543270" y="2475422"/>
            <a:ext cx="320601" cy="120418"/>
          </a:xfrm>
          <a:prstGeom prst="rect">
            <a:avLst/>
          </a:prstGeom>
          <a:noFill/>
          <a:ln/>
        </p:spPr>
        <p:txBody>
          <a:bodyPr wrap="none" lIns="0" tIns="0" rIns="0" bIns="0" rtlCol="0" anchor="t">
            <a:spAutoFit/>
          </a:bodyPr>
          <a:lstStyle/>
          <a:p>
            <a:pPr marL="0" indent="0" algn="l">
              <a:lnSpc>
                <a:spcPts val="900"/>
              </a:lnSpc>
              <a:buNone/>
            </a:pPr>
            <a:r>
              <a:rPr lang="en-US" sz="1000" b="1" dirty="0">
                <a:solidFill>
                  <a:srgbClr val="FF3333"/>
                </a:solidFill>
              </a:rPr>
              <a:t>Tools:</a:t>
            </a:r>
            <a:endParaRPr lang="en-US" sz="1000" dirty="0"/>
          </a:p>
        </p:txBody>
      </p:sp>
      <p:sp>
        <p:nvSpPr>
          <p:cNvPr id="23" name="Text 20"/>
          <p:cNvSpPr/>
          <p:nvPr/>
        </p:nvSpPr>
        <p:spPr>
          <a:xfrm>
            <a:off x="543270" y="2589722"/>
            <a:ext cx="2111155" cy="115416"/>
          </a:xfrm>
          <a:prstGeom prst="rect">
            <a:avLst/>
          </a:prstGeom>
          <a:noFill/>
          <a:ln/>
        </p:spPr>
        <p:txBody>
          <a:bodyPr wrap="none" lIns="0" tIns="0" rIns="0" bIns="0" rtlCol="0" anchor="t">
            <a:spAutoFit/>
          </a:bodyPr>
          <a:lstStyle/>
          <a:p>
            <a:pPr marL="0" indent="0" algn="l">
              <a:lnSpc>
                <a:spcPts val="900"/>
              </a:lnSpc>
              <a:buNone/>
            </a:pPr>
            <a:r>
              <a:rPr lang="en-US" sz="800" dirty="0">
                <a:solidFill>
                  <a:srgbClr val="E0E0E0"/>
                </a:solidFill>
              </a:rPr>
              <a:t>sqlmap for SQLi detection and database extraction</a:t>
            </a:r>
            <a:endParaRPr lang="en-US" sz="800" dirty="0"/>
          </a:p>
        </p:txBody>
      </p:sp>
      <p:sp>
        <p:nvSpPr>
          <p:cNvPr id="24" name="Shape 21"/>
          <p:cNvSpPr/>
          <p:nvPr/>
        </p:nvSpPr>
        <p:spPr>
          <a:xfrm>
            <a:off x="4643438" y="1932435"/>
            <a:ext cx="4143375" cy="987623"/>
          </a:xfrm>
          <a:prstGeom prst="rect">
            <a:avLst/>
          </a:prstGeom>
          <a:solidFill>
            <a:srgbClr val="00FF41">
              <a:alpha val="5000"/>
            </a:srgbClr>
          </a:solidFill>
          <a:ln w="9144">
            <a:solidFill>
              <a:srgbClr val="00FF41"/>
            </a:solidFill>
            <a:prstDash val="solid"/>
          </a:ln>
        </p:spPr>
        <p:txBody>
          <a:bodyPr/>
          <a:lstStyle/>
          <a:p>
            <a:endParaRPr lang="en-US"/>
          </a:p>
        </p:txBody>
      </p:sp>
      <p:sp>
        <p:nvSpPr>
          <p:cNvPr id="25" name="Text 22"/>
          <p:cNvSpPr/>
          <p:nvPr/>
        </p:nvSpPr>
        <p:spPr>
          <a:xfrm>
            <a:off x="4750594" y="2032071"/>
            <a:ext cx="1062278" cy="110800"/>
          </a:xfrm>
          <a:prstGeom prst="rect">
            <a:avLst/>
          </a:prstGeom>
          <a:noFill/>
          <a:ln/>
        </p:spPr>
        <p:txBody>
          <a:bodyPr wrap="none" lIns="0" tIns="0" rIns="0" bIns="0" rtlCol="0" anchor="t">
            <a:spAutoFit/>
          </a:bodyPr>
          <a:lstStyle/>
          <a:p>
            <a:pPr marL="0" indent="0" algn="l">
              <a:lnSpc>
                <a:spcPts val="800"/>
              </a:lnSpc>
              <a:buNone/>
            </a:pPr>
            <a:r>
              <a:rPr lang="en-US" sz="1000" b="1" kern="0" spc="1" dirty="0">
                <a:solidFill>
                  <a:srgbClr val="00FF41"/>
                </a:solidFill>
              </a:rPr>
              <a:t>[ Post-Exploitation ]</a:t>
            </a:r>
            <a:endParaRPr lang="en-US" sz="1000" dirty="0"/>
          </a:p>
        </p:txBody>
      </p:sp>
      <p:sp>
        <p:nvSpPr>
          <p:cNvPr id="26" name="Text 23"/>
          <p:cNvSpPr/>
          <p:nvPr/>
        </p:nvSpPr>
        <p:spPr>
          <a:xfrm>
            <a:off x="4845797" y="2205358"/>
            <a:ext cx="639599" cy="120418"/>
          </a:xfrm>
          <a:prstGeom prst="rect">
            <a:avLst/>
          </a:prstGeom>
          <a:noFill/>
          <a:ln/>
        </p:spPr>
        <p:txBody>
          <a:bodyPr wrap="none" lIns="0" tIns="0" rIns="0" bIns="0" rtlCol="0" anchor="t">
            <a:spAutoFit/>
          </a:bodyPr>
          <a:lstStyle/>
          <a:p>
            <a:pPr marL="0" indent="0" algn="l">
              <a:lnSpc>
                <a:spcPts val="900"/>
              </a:lnSpc>
              <a:buNone/>
            </a:pPr>
            <a:r>
              <a:rPr lang="en-US" sz="1000" b="1" dirty="0">
                <a:solidFill>
                  <a:srgbClr val="FF3333"/>
                </a:solidFill>
              </a:rPr>
              <a:t>Techniques:</a:t>
            </a:r>
            <a:endParaRPr lang="en-US" sz="1000" dirty="0"/>
          </a:p>
        </p:txBody>
      </p:sp>
      <p:sp>
        <p:nvSpPr>
          <p:cNvPr id="27" name="Text 24"/>
          <p:cNvSpPr/>
          <p:nvPr/>
        </p:nvSpPr>
        <p:spPr>
          <a:xfrm>
            <a:off x="4845797" y="2319658"/>
            <a:ext cx="2202526" cy="115416"/>
          </a:xfrm>
          <a:prstGeom prst="rect">
            <a:avLst/>
          </a:prstGeom>
          <a:noFill/>
          <a:ln/>
        </p:spPr>
        <p:txBody>
          <a:bodyPr wrap="none" lIns="0" tIns="0" rIns="0" bIns="0" rtlCol="0" anchor="t">
            <a:spAutoFit/>
          </a:bodyPr>
          <a:lstStyle/>
          <a:p>
            <a:pPr marL="0" indent="0" algn="l">
              <a:lnSpc>
                <a:spcPts val="900"/>
              </a:lnSpc>
              <a:buNone/>
            </a:pPr>
            <a:r>
              <a:rPr lang="en-US" sz="800" dirty="0">
                <a:solidFill>
                  <a:srgbClr val="E0E0E0"/>
                </a:solidFill>
              </a:rPr>
              <a:t>Port knocking, SSH authentication, credential attacks</a:t>
            </a:r>
            <a:endParaRPr lang="en-US" sz="800" dirty="0"/>
          </a:p>
        </p:txBody>
      </p:sp>
      <p:sp>
        <p:nvSpPr>
          <p:cNvPr id="28" name="Text 25"/>
          <p:cNvSpPr/>
          <p:nvPr/>
        </p:nvSpPr>
        <p:spPr>
          <a:xfrm>
            <a:off x="4845797" y="2491108"/>
            <a:ext cx="320601" cy="120418"/>
          </a:xfrm>
          <a:prstGeom prst="rect">
            <a:avLst/>
          </a:prstGeom>
          <a:noFill/>
          <a:ln/>
        </p:spPr>
        <p:txBody>
          <a:bodyPr wrap="none" lIns="0" tIns="0" rIns="0" bIns="0" rtlCol="0" anchor="t">
            <a:spAutoFit/>
          </a:bodyPr>
          <a:lstStyle/>
          <a:p>
            <a:pPr marL="0" indent="0" algn="l">
              <a:lnSpc>
                <a:spcPts val="900"/>
              </a:lnSpc>
              <a:buNone/>
            </a:pPr>
            <a:r>
              <a:rPr lang="en-US" sz="1000" b="1" dirty="0">
                <a:solidFill>
                  <a:srgbClr val="FF3333"/>
                </a:solidFill>
              </a:rPr>
              <a:t>Tools:</a:t>
            </a:r>
            <a:endParaRPr lang="en-US" sz="1000" dirty="0"/>
          </a:p>
        </p:txBody>
      </p:sp>
      <p:sp>
        <p:nvSpPr>
          <p:cNvPr id="29" name="Text 26"/>
          <p:cNvSpPr/>
          <p:nvPr/>
        </p:nvSpPr>
        <p:spPr>
          <a:xfrm>
            <a:off x="4849902" y="2589555"/>
            <a:ext cx="1899559" cy="115416"/>
          </a:xfrm>
          <a:prstGeom prst="rect">
            <a:avLst/>
          </a:prstGeom>
          <a:noFill/>
          <a:ln/>
        </p:spPr>
        <p:txBody>
          <a:bodyPr wrap="none" lIns="0" tIns="0" rIns="0" bIns="0" rtlCol="0" anchor="t">
            <a:spAutoFit/>
          </a:bodyPr>
          <a:lstStyle/>
          <a:p>
            <a:pPr marL="0" indent="0" algn="l">
              <a:lnSpc>
                <a:spcPts val="900"/>
              </a:lnSpc>
              <a:buNone/>
            </a:pPr>
            <a:r>
              <a:rPr lang="en-US" sz="800" dirty="0">
                <a:solidFill>
                  <a:srgbClr val="E0E0E0"/>
                </a:solidFill>
              </a:rPr>
              <a:t>knock, hydra, ssh for access and enumeration</a:t>
            </a:r>
            <a:endParaRPr lang="en-US" sz="800" dirty="0"/>
          </a:p>
        </p:txBody>
      </p:sp>
      <p:sp>
        <p:nvSpPr>
          <p:cNvPr id="30" name="Shape 27"/>
          <p:cNvSpPr/>
          <p:nvPr/>
        </p:nvSpPr>
        <p:spPr>
          <a:xfrm>
            <a:off x="357186" y="3090266"/>
            <a:ext cx="4143375" cy="987623"/>
          </a:xfrm>
          <a:prstGeom prst="rect">
            <a:avLst/>
          </a:prstGeom>
          <a:solidFill>
            <a:srgbClr val="00FF41">
              <a:alpha val="5000"/>
            </a:srgbClr>
          </a:solidFill>
          <a:ln w="9144">
            <a:solidFill>
              <a:srgbClr val="00FF41"/>
            </a:solidFill>
            <a:prstDash val="solid"/>
          </a:ln>
        </p:spPr>
        <p:txBody>
          <a:bodyPr/>
          <a:lstStyle/>
          <a:p>
            <a:endParaRPr lang="en-US"/>
          </a:p>
        </p:txBody>
      </p:sp>
      <p:sp>
        <p:nvSpPr>
          <p:cNvPr id="31" name="Text 28"/>
          <p:cNvSpPr/>
          <p:nvPr/>
        </p:nvSpPr>
        <p:spPr>
          <a:xfrm>
            <a:off x="485071" y="3166529"/>
            <a:ext cx="1171667" cy="110800"/>
          </a:xfrm>
          <a:prstGeom prst="rect">
            <a:avLst/>
          </a:prstGeom>
          <a:noFill/>
          <a:ln/>
        </p:spPr>
        <p:txBody>
          <a:bodyPr wrap="none" lIns="0" tIns="0" rIns="0" bIns="0" rtlCol="0" anchor="t">
            <a:spAutoFit/>
          </a:bodyPr>
          <a:lstStyle/>
          <a:p>
            <a:pPr marL="0" indent="0" algn="l">
              <a:lnSpc>
                <a:spcPts val="800"/>
              </a:lnSpc>
              <a:buNone/>
            </a:pPr>
            <a:r>
              <a:rPr lang="en-US" sz="1000" b="1" kern="0" spc="1" dirty="0">
                <a:solidFill>
                  <a:srgbClr val="00FF41"/>
                </a:solidFill>
              </a:rPr>
              <a:t>[ Privilege Escalation ]</a:t>
            </a:r>
            <a:endParaRPr lang="en-US" sz="1000" dirty="0"/>
          </a:p>
        </p:txBody>
      </p:sp>
      <p:sp>
        <p:nvSpPr>
          <p:cNvPr id="32" name="Text 29"/>
          <p:cNvSpPr/>
          <p:nvPr/>
        </p:nvSpPr>
        <p:spPr>
          <a:xfrm>
            <a:off x="543270" y="3295884"/>
            <a:ext cx="541815" cy="120418"/>
          </a:xfrm>
          <a:prstGeom prst="rect">
            <a:avLst/>
          </a:prstGeom>
          <a:noFill/>
          <a:ln/>
        </p:spPr>
        <p:txBody>
          <a:bodyPr wrap="none" lIns="0" tIns="0" rIns="0" bIns="0" rtlCol="0" anchor="t">
            <a:spAutoFit/>
          </a:bodyPr>
          <a:lstStyle/>
          <a:p>
            <a:pPr marL="0" indent="0" algn="l">
              <a:lnSpc>
                <a:spcPts val="900"/>
              </a:lnSpc>
              <a:buNone/>
            </a:pPr>
            <a:r>
              <a:rPr lang="en-US" sz="1000" b="1" dirty="0">
                <a:solidFill>
                  <a:srgbClr val="FF3333"/>
                </a:solidFill>
              </a:rPr>
              <a:t>Objective:</a:t>
            </a:r>
            <a:endParaRPr lang="en-US" sz="1000" dirty="0"/>
          </a:p>
        </p:txBody>
      </p:sp>
      <p:sp>
        <p:nvSpPr>
          <p:cNvPr id="33" name="Text 30"/>
          <p:cNvSpPr/>
          <p:nvPr/>
        </p:nvSpPr>
        <p:spPr>
          <a:xfrm>
            <a:off x="543270" y="3410184"/>
            <a:ext cx="2186496" cy="115416"/>
          </a:xfrm>
          <a:prstGeom prst="rect">
            <a:avLst/>
          </a:prstGeom>
          <a:noFill/>
          <a:ln/>
        </p:spPr>
        <p:txBody>
          <a:bodyPr wrap="none" lIns="0" tIns="0" rIns="0" bIns="0" rtlCol="0" anchor="t">
            <a:spAutoFit/>
          </a:bodyPr>
          <a:lstStyle/>
          <a:p>
            <a:pPr marL="0" indent="0" algn="l">
              <a:lnSpc>
                <a:spcPts val="900"/>
              </a:lnSpc>
              <a:buNone/>
            </a:pPr>
            <a:r>
              <a:rPr lang="en-US" sz="800" dirty="0">
                <a:solidFill>
                  <a:srgbClr val="E0E0E0"/>
                </a:solidFill>
              </a:rPr>
              <a:t>Identify and exploit local privilege escalation vectors</a:t>
            </a:r>
            <a:endParaRPr lang="en-US" sz="800" dirty="0"/>
          </a:p>
        </p:txBody>
      </p:sp>
      <p:sp>
        <p:nvSpPr>
          <p:cNvPr id="34" name="Text 31"/>
          <p:cNvSpPr/>
          <p:nvPr/>
        </p:nvSpPr>
        <p:spPr>
          <a:xfrm>
            <a:off x="543270" y="3581634"/>
            <a:ext cx="400751" cy="120418"/>
          </a:xfrm>
          <a:prstGeom prst="rect">
            <a:avLst/>
          </a:prstGeom>
          <a:noFill/>
          <a:ln/>
        </p:spPr>
        <p:txBody>
          <a:bodyPr wrap="none" lIns="0" tIns="0" rIns="0" bIns="0" rtlCol="0" anchor="t">
            <a:spAutoFit/>
          </a:bodyPr>
          <a:lstStyle/>
          <a:p>
            <a:pPr marL="0" indent="0" algn="l">
              <a:lnSpc>
                <a:spcPts val="900"/>
              </a:lnSpc>
              <a:buNone/>
            </a:pPr>
            <a:r>
              <a:rPr lang="en-US" sz="1000" b="1" dirty="0">
                <a:solidFill>
                  <a:srgbClr val="FF3333"/>
                </a:solidFill>
              </a:rPr>
              <a:t>Checks:</a:t>
            </a:r>
            <a:endParaRPr lang="en-US" sz="1000" dirty="0"/>
          </a:p>
        </p:txBody>
      </p:sp>
      <p:sp>
        <p:nvSpPr>
          <p:cNvPr id="35" name="Text 32"/>
          <p:cNvSpPr/>
          <p:nvPr/>
        </p:nvSpPr>
        <p:spPr>
          <a:xfrm>
            <a:off x="543270" y="3695934"/>
            <a:ext cx="2143215" cy="115416"/>
          </a:xfrm>
          <a:prstGeom prst="rect">
            <a:avLst/>
          </a:prstGeom>
          <a:noFill/>
          <a:ln/>
        </p:spPr>
        <p:txBody>
          <a:bodyPr wrap="none" lIns="0" tIns="0" rIns="0" bIns="0" rtlCol="0" anchor="t">
            <a:spAutoFit/>
          </a:bodyPr>
          <a:lstStyle/>
          <a:p>
            <a:pPr marL="0" indent="0" algn="l">
              <a:lnSpc>
                <a:spcPts val="900"/>
              </a:lnSpc>
              <a:buNone/>
            </a:pPr>
            <a:r>
              <a:rPr lang="en-US" sz="800" dirty="0">
                <a:solidFill>
                  <a:srgbClr val="E0E0E0"/>
                </a:solidFill>
              </a:rPr>
              <a:t>sudo entries, file permissions, kernel vulnerabilities</a:t>
            </a:r>
            <a:endParaRPr lang="en-US" sz="800" dirty="0"/>
          </a:p>
        </p:txBody>
      </p:sp>
      <p:sp>
        <p:nvSpPr>
          <p:cNvPr id="36" name="Shape 33"/>
          <p:cNvSpPr/>
          <p:nvPr/>
        </p:nvSpPr>
        <p:spPr>
          <a:xfrm>
            <a:off x="4643438" y="3090266"/>
            <a:ext cx="4143375" cy="987623"/>
          </a:xfrm>
          <a:prstGeom prst="rect">
            <a:avLst/>
          </a:prstGeom>
          <a:solidFill>
            <a:srgbClr val="00FF41">
              <a:alpha val="5000"/>
            </a:srgbClr>
          </a:solidFill>
          <a:ln w="9144">
            <a:solidFill>
              <a:srgbClr val="00FF41"/>
            </a:solidFill>
            <a:prstDash val="solid"/>
          </a:ln>
        </p:spPr>
        <p:txBody>
          <a:bodyPr/>
          <a:lstStyle/>
          <a:p>
            <a:endParaRPr lang="en-US"/>
          </a:p>
        </p:txBody>
      </p:sp>
      <p:sp>
        <p:nvSpPr>
          <p:cNvPr id="37" name="Text 34"/>
          <p:cNvSpPr/>
          <p:nvPr/>
        </p:nvSpPr>
        <p:spPr>
          <a:xfrm>
            <a:off x="4750594" y="3158096"/>
            <a:ext cx="736227" cy="110800"/>
          </a:xfrm>
          <a:prstGeom prst="rect">
            <a:avLst/>
          </a:prstGeom>
          <a:noFill/>
          <a:ln/>
        </p:spPr>
        <p:txBody>
          <a:bodyPr wrap="none" lIns="0" tIns="0" rIns="0" bIns="0" rtlCol="0" anchor="t">
            <a:spAutoFit/>
          </a:bodyPr>
          <a:lstStyle/>
          <a:p>
            <a:pPr marL="0" indent="0" algn="l">
              <a:lnSpc>
                <a:spcPts val="800"/>
              </a:lnSpc>
              <a:buNone/>
            </a:pPr>
            <a:r>
              <a:rPr lang="en-US" sz="1000" b="1" kern="0" spc="1" dirty="0">
                <a:solidFill>
                  <a:srgbClr val="00FF41"/>
                </a:solidFill>
              </a:rPr>
              <a:t>[ Exfiltration ]</a:t>
            </a:r>
            <a:endParaRPr lang="en-US" sz="1000" dirty="0"/>
          </a:p>
        </p:txBody>
      </p:sp>
      <p:sp>
        <p:nvSpPr>
          <p:cNvPr id="38" name="Text 35"/>
          <p:cNvSpPr/>
          <p:nvPr/>
        </p:nvSpPr>
        <p:spPr>
          <a:xfrm>
            <a:off x="4833704" y="3276740"/>
            <a:ext cx="471283" cy="120418"/>
          </a:xfrm>
          <a:prstGeom prst="rect">
            <a:avLst/>
          </a:prstGeom>
          <a:noFill/>
          <a:ln/>
        </p:spPr>
        <p:txBody>
          <a:bodyPr wrap="none" lIns="0" tIns="0" rIns="0" bIns="0" rtlCol="0" anchor="t">
            <a:spAutoFit/>
          </a:bodyPr>
          <a:lstStyle/>
          <a:p>
            <a:pPr marL="0" indent="0" algn="l">
              <a:lnSpc>
                <a:spcPts val="900"/>
              </a:lnSpc>
              <a:buNone/>
            </a:pPr>
            <a:r>
              <a:rPr lang="en-US" sz="1000" b="1" dirty="0">
                <a:solidFill>
                  <a:srgbClr val="FF3333"/>
                </a:solidFill>
              </a:rPr>
              <a:t>Purpose:</a:t>
            </a:r>
            <a:endParaRPr lang="en-US" sz="1000" dirty="0"/>
          </a:p>
        </p:txBody>
      </p:sp>
      <p:sp>
        <p:nvSpPr>
          <p:cNvPr id="39" name="Text 36"/>
          <p:cNvSpPr/>
          <p:nvPr/>
        </p:nvSpPr>
        <p:spPr>
          <a:xfrm>
            <a:off x="4833704" y="3391040"/>
            <a:ext cx="2292294" cy="115416"/>
          </a:xfrm>
          <a:prstGeom prst="rect">
            <a:avLst/>
          </a:prstGeom>
          <a:noFill/>
          <a:ln/>
        </p:spPr>
        <p:txBody>
          <a:bodyPr wrap="none" lIns="0" tIns="0" rIns="0" bIns="0" rtlCol="0" anchor="t">
            <a:spAutoFit/>
          </a:bodyPr>
          <a:lstStyle/>
          <a:p>
            <a:pPr marL="0" indent="0" algn="l">
              <a:lnSpc>
                <a:spcPts val="900"/>
              </a:lnSpc>
              <a:buNone/>
            </a:pPr>
            <a:r>
              <a:rPr lang="en-US" sz="800" dirty="0">
                <a:solidFill>
                  <a:srgbClr val="E0E0E0"/>
                </a:solidFill>
              </a:rPr>
              <a:t>Demonstrate data extraction and proof of compromise</a:t>
            </a:r>
            <a:endParaRPr lang="en-US" sz="800" dirty="0"/>
          </a:p>
        </p:txBody>
      </p:sp>
      <p:sp>
        <p:nvSpPr>
          <p:cNvPr id="40" name="Text 37"/>
          <p:cNvSpPr/>
          <p:nvPr/>
        </p:nvSpPr>
        <p:spPr>
          <a:xfrm>
            <a:off x="4833704" y="3562490"/>
            <a:ext cx="509755" cy="120418"/>
          </a:xfrm>
          <a:prstGeom prst="rect">
            <a:avLst/>
          </a:prstGeom>
          <a:noFill/>
          <a:ln/>
        </p:spPr>
        <p:txBody>
          <a:bodyPr wrap="none" lIns="0" tIns="0" rIns="0" bIns="0" rtlCol="0" anchor="t">
            <a:spAutoFit/>
          </a:bodyPr>
          <a:lstStyle/>
          <a:p>
            <a:pPr marL="0" indent="0" algn="l">
              <a:lnSpc>
                <a:spcPts val="900"/>
              </a:lnSpc>
              <a:buNone/>
            </a:pPr>
            <a:r>
              <a:rPr lang="en-US" sz="1000" b="1" dirty="0">
                <a:solidFill>
                  <a:srgbClr val="FF3333"/>
                </a:solidFill>
              </a:rPr>
              <a:t>Evidence:</a:t>
            </a:r>
            <a:endParaRPr lang="en-US" sz="1000" dirty="0"/>
          </a:p>
        </p:txBody>
      </p:sp>
      <p:sp>
        <p:nvSpPr>
          <p:cNvPr id="41" name="Text 38"/>
          <p:cNvSpPr/>
          <p:nvPr/>
        </p:nvSpPr>
        <p:spPr>
          <a:xfrm>
            <a:off x="4833704" y="3676790"/>
            <a:ext cx="2204130" cy="115416"/>
          </a:xfrm>
          <a:prstGeom prst="rect">
            <a:avLst/>
          </a:prstGeom>
          <a:noFill/>
          <a:ln/>
        </p:spPr>
        <p:txBody>
          <a:bodyPr wrap="none" lIns="0" tIns="0" rIns="0" bIns="0" rtlCol="0" anchor="t">
            <a:spAutoFit/>
          </a:bodyPr>
          <a:lstStyle/>
          <a:p>
            <a:pPr marL="0" indent="0" algn="l">
              <a:lnSpc>
                <a:spcPts val="900"/>
              </a:lnSpc>
              <a:buNone/>
            </a:pPr>
            <a:r>
              <a:rPr lang="en-US" sz="800" dirty="0">
                <a:solidFill>
                  <a:srgbClr val="E0E0E0"/>
                </a:solidFill>
              </a:rPr>
              <a:t>Database dumps, credential harvesting, flag retrieval</a:t>
            </a:r>
            <a:endParaRPr lang="en-US" sz="800" dirty="0"/>
          </a:p>
        </p:txBody>
      </p:sp>
      <p:sp>
        <p:nvSpPr>
          <p:cNvPr id="42" name="Shape 39"/>
          <p:cNvSpPr/>
          <p:nvPr/>
        </p:nvSpPr>
        <p:spPr>
          <a:xfrm>
            <a:off x="357186" y="4165626"/>
            <a:ext cx="8429625" cy="667550"/>
          </a:xfrm>
          <a:prstGeom prst="rect">
            <a:avLst/>
          </a:prstGeom>
          <a:solidFill>
            <a:srgbClr val="FF3333">
              <a:alpha val="5000"/>
            </a:srgbClr>
          </a:solidFill>
          <a:ln w="9144">
            <a:solidFill>
              <a:srgbClr val="FF3333"/>
            </a:solidFill>
            <a:prstDash val="solid"/>
          </a:ln>
        </p:spPr>
        <p:txBody>
          <a:bodyPr/>
          <a:lstStyle/>
          <a:p>
            <a:endParaRPr lang="en-US"/>
          </a:p>
        </p:txBody>
      </p:sp>
      <p:sp>
        <p:nvSpPr>
          <p:cNvPr id="43" name="Text 40"/>
          <p:cNvSpPr/>
          <p:nvPr/>
        </p:nvSpPr>
        <p:spPr>
          <a:xfrm>
            <a:off x="464342" y="4272783"/>
            <a:ext cx="993349" cy="110800"/>
          </a:xfrm>
          <a:prstGeom prst="rect">
            <a:avLst/>
          </a:prstGeom>
          <a:noFill/>
          <a:ln/>
        </p:spPr>
        <p:txBody>
          <a:bodyPr wrap="none" lIns="0" tIns="0" rIns="0" bIns="0" rtlCol="0" anchor="t">
            <a:spAutoFit/>
          </a:bodyPr>
          <a:lstStyle/>
          <a:p>
            <a:pPr marL="0" indent="0" algn="l">
              <a:lnSpc>
                <a:spcPts val="800"/>
              </a:lnSpc>
              <a:buNone/>
            </a:pPr>
            <a:r>
              <a:rPr lang="en-US" sz="1000" b="1" kern="0" spc="1" dirty="0">
                <a:solidFill>
                  <a:srgbClr val="FF3333"/>
                </a:solidFill>
              </a:rPr>
              <a:t>[ Tools &amp; Utilities ]</a:t>
            </a:r>
            <a:endParaRPr lang="en-US" sz="1000" dirty="0"/>
          </a:p>
        </p:txBody>
      </p:sp>
      <p:sp>
        <p:nvSpPr>
          <p:cNvPr id="44" name="Text 41"/>
          <p:cNvSpPr/>
          <p:nvPr/>
        </p:nvSpPr>
        <p:spPr>
          <a:xfrm>
            <a:off x="464342" y="4460306"/>
            <a:ext cx="8215313" cy="251427"/>
          </a:xfrm>
          <a:prstGeom prst="rect">
            <a:avLst/>
          </a:prstGeom>
          <a:noFill/>
          <a:ln/>
        </p:spPr>
        <p:txBody>
          <a:bodyPr wrap="square" lIns="0" tIns="0" rIns="0" bIns="0" rtlCol="0" anchor="t">
            <a:spAutoFit/>
          </a:bodyPr>
          <a:lstStyle/>
          <a:p>
            <a:pPr marL="0" indent="0" algn="l">
              <a:lnSpc>
                <a:spcPts val="1000"/>
              </a:lnSpc>
              <a:buNone/>
            </a:pPr>
            <a:r>
              <a:rPr lang="en-US" sz="800" dirty="0">
                <a:solidFill>
                  <a:srgbClr val="E0E0E0"/>
                </a:solidFill>
              </a:rPr>
              <a:t>Nmap (port scanning &amp; service detection) • sqlmap (SQL injection detection &amp; exploitation) • hydra (credential brute-forcing) • knock (port knocking client) • ssh (remote access &amp; post-exploitation) • CrackStation (password hash cracking PoC) • Kali Linux utilities • Standard Linux commands (ifconfig, cat, ls, sudo, etc.)</a:t>
            </a:r>
            <a:endParaRPr lang="en-US" sz="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57188" y="285750"/>
            <a:ext cx="8429625" cy="273248"/>
          </a:xfrm>
          <a:prstGeom prst="rect">
            <a:avLst/>
          </a:prstGeom>
          <a:noFill/>
          <a:ln/>
        </p:spPr>
        <p:txBody>
          <a:bodyPr wrap="none" lIns="0" tIns="0" rIns="0" bIns="0" rtlCol="0" anchor="t">
            <a:spAutoFit/>
          </a:bodyPr>
          <a:lstStyle/>
          <a:p>
            <a:pPr marL="0" indent="0" algn="l">
              <a:lnSpc>
                <a:spcPts val="1900"/>
              </a:lnSpc>
              <a:buNone/>
            </a:pPr>
            <a:r>
              <a:rPr lang="en-US" sz="1397" b="1" kern="0" spc="2" dirty="0">
                <a:solidFill>
                  <a:srgbClr val="00FF41"/>
                </a:solidFill>
              </a:rPr>
              <a:t>► FINDING 3.1: CRITICAL SQL INJECTION IN SEARCH PARAMETER</a:t>
            </a:r>
            <a:endParaRPr lang="en-US" sz="1397" dirty="0"/>
          </a:p>
        </p:txBody>
      </p:sp>
      <p:pic>
        <p:nvPicPr>
          <p:cNvPr id="4" name="Image 1" descr="preencoded.png"/>
          <p:cNvPicPr>
            <a:picLocks noChangeAspect="1"/>
          </p:cNvPicPr>
          <p:nvPr/>
        </p:nvPicPr>
        <p:blipFill>
          <a:blip r:embed="rId4"/>
          <a:stretch>
            <a:fillRect/>
          </a:stretch>
        </p:blipFill>
        <p:spPr>
          <a:xfrm>
            <a:off x="392906" y="773311"/>
            <a:ext cx="1000125" cy="1000125"/>
          </a:xfrm>
          <a:prstGeom prst="rect">
            <a:avLst/>
          </a:prstGeom>
        </p:spPr>
      </p:pic>
      <p:sp>
        <p:nvSpPr>
          <p:cNvPr id="5" name="Shape 1"/>
          <p:cNvSpPr/>
          <p:nvPr/>
        </p:nvSpPr>
        <p:spPr>
          <a:xfrm>
            <a:off x="357188" y="1880592"/>
            <a:ext cx="1071563" cy="258961"/>
          </a:xfrm>
          <a:prstGeom prst="rect">
            <a:avLst/>
          </a:prstGeom>
          <a:solidFill>
            <a:srgbClr val="FF3333"/>
          </a:solidFill>
          <a:ln w="18288">
            <a:solidFill>
              <a:srgbClr val="FF3333"/>
            </a:solidFill>
            <a:prstDash val="solid"/>
          </a:ln>
        </p:spPr>
        <p:txBody>
          <a:bodyPr/>
          <a:lstStyle/>
          <a:p>
            <a:endParaRPr lang="en-US"/>
          </a:p>
        </p:txBody>
      </p:sp>
      <p:sp>
        <p:nvSpPr>
          <p:cNvPr id="6" name="Text 2"/>
          <p:cNvSpPr/>
          <p:nvPr/>
        </p:nvSpPr>
        <p:spPr>
          <a:xfrm>
            <a:off x="357188" y="1880592"/>
            <a:ext cx="1071563" cy="241541"/>
          </a:xfrm>
          <a:prstGeom prst="rect">
            <a:avLst/>
          </a:prstGeom>
          <a:noFill/>
          <a:ln/>
        </p:spPr>
        <p:txBody>
          <a:bodyPr wrap="square" lIns="102108" tIns="68072" rIns="102108" bIns="68072" rtlCol="0" anchor="t">
            <a:spAutoFit/>
          </a:bodyPr>
          <a:lstStyle/>
          <a:p>
            <a:pPr marL="0" indent="0" algn="ctr">
              <a:lnSpc>
                <a:spcPts val="800"/>
              </a:lnSpc>
              <a:buNone/>
            </a:pPr>
            <a:r>
              <a:rPr lang="en-US" sz="800" b="1" kern="0" spc="1" dirty="0">
                <a:solidFill>
                  <a:srgbClr val="1A1A1A"/>
                </a:solidFill>
              </a:rPr>
              <a:t>CRITICAL</a:t>
            </a:r>
            <a:endParaRPr lang="en-US" sz="800" dirty="0"/>
          </a:p>
        </p:txBody>
      </p:sp>
      <p:sp>
        <p:nvSpPr>
          <p:cNvPr id="7" name="Shape 3"/>
          <p:cNvSpPr/>
          <p:nvPr/>
        </p:nvSpPr>
        <p:spPr>
          <a:xfrm>
            <a:off x="1643063" y="773311"/>
            <a:ext cx="3464719" cy="833251"/>
          </a:xfrm>
          <a:prstGeom prst="rect">
            <a:avLst/>
          </a:prstGeom>
          <a:solidFill>
            <a:srgbClr val="00FF41">
              <a:alpha val="5000"/>
            </a:srgbClr>
          </a:solidFill>
          <a:ln/>
        </p:spPr>
        <p:txBody>
          <a:bodyPr/>
          <a:lstStyle/>
          <a:p>
            <a:endParaRPr lang="en-US"/>
          </a:p>
        </p:txBody>
      </p:sp>
      <p:sp>
        <p:nvSpPr>
          <p:cNvPr id="8" name="Shape 4"/>
          <p:cNvSpPr/>
          <p:nvPr/>
        </p:nvSpPr>
        <p:spPr>
          <a:xfrm>
            <a:off x="1643063" y="773311"/>
            <a:ext cx="21431" cy="833251"/>
          </a:xfrm>
          <a:prstGeom prst="rect">
            <a:avLst/>
          </a:prstGeom>
          <a:solidFill>
            <a:srgbClr val="00FF41"/>
          </a:solidFill>
          <a:ln/>
        </p:spPr>
        <p:txBody>
          <a:bodyPr/>
          <a:lstStyle/>
          <a:p>
            <a:endParaRPr lang="en-US"/>
          </a:p>
        </p:txBody>
      </p:sp>
      <p:sp>
        <p:nvSpPr>
          <p:cNvPr id="9" name="Text 5"/>
          <p:cNvSpPr/>
          <p:nvPr/>
        </p:nvSpPr>
        <p:spPr>
          <a:xfrm>
            <a:off x="1750219" y="880467"/>
            <a:ext cx="1723742" cy="110800"/>
          </a:xfrm>
          <a:prstGeom prst="rect">
            <a:avLst/>
          </a:prstGeom>
          <a:noFill/>
          <a:ln/>
        </p:spPr>
        <p:txBody>
          <a:bodyPr wrap="none" lIns="0" tIns="0" rIns="0" bIns="0" rtlCol="0" anchor="t">
            <a:spAutoFit/>
          </a:bodyPr>
          <a:lstStyle/>
          <a:p>
            <a:pPr marL="0" indent="0" algn="l">
              <a:lnSpc>
                <a:spcPts val="800"/>
              </a:lnSpc>
              <a:buNone/>
            </a:pPr>
            <a:r>
              <a:rPr lang="en-US" sz="1000" b="1" kern="0" spc="1" dirty="0">
                <a:solidFill>
                  <a:srgbClr val="00FF41"/>
                </a:solidFill>
              </a:rPr>
              <a:t>[ VULNERABILITY DESCRIPTION ]</a:t>
            </a:r>
            <a:endParaRPr lang="en-US" sz="1000" dirty="0"/>
          </a:p>
        </p:txBody>
      </p:sp>
      <p:sp>
        <p:nvSpPr>
          <p:cNvPr id="10" name="Text 6"/>
          <p:cNvSpPr/>
          <p:nvPr/>
        </p:nvSpPr>
        <p:spPr>
          <a:xfrm>
            <a:off x="1750219" y="1053703"/>
            <a:ext cx="3250406" cy="450316"/>
          </a:xfrm>
          <a:prstGeom prst="rect">
            <a:avLst/>
          </a:prstGeom>
          <a:noFill/>
          <a:ln/>
        </p:spPr>
        <p:txBody>
          <a:bodyPr wrap="square" lIns="0" tIns="0" rIns="0" bIns="0" rtlCol="0" anchor="t">
            <a:spAutoFit/>
          </a:bodyPr>
          <a:lstStyle/>
          <a:p>
            <a:pPr marL="0" indent="0" algn="l">
              <a:lnSpc>
                <a:spcPts val="1200"/>
              </a:lnSpc>
              <a:buNone/>
            </a:pPr>
            <a:r>
              <a:rPr lang="en-US" sz="800" dirty="0">
                <a:solidFill>
                  <a:srgbClr val="E0E0E0"/>
                </a:solidFill>
              </a:rPr>
              <a:t>Unvalidated user input in a POST search parameter allowed SQL Injection attacks using boolean, time-based, and UNION-based techniques. The application failed to implement prepared statements or input sanitization.</a:t>
            </a:r>
            <a:endParaRPr lang="en-US" sz="800" dirty="0"/>
          </a:p>
        </p:txBody>
      </p:sp>
      <p:sp>
        <p:nvSpPr>
          <p:cNvPr id="11" name="Shape 7"/>
          <p:cNvSpPr/>
          <p:nvPr/>
        </p:nvSpPr>
        <p:spPr>
          <a:xfrm>
            <a:off x="1643063" y="1749437"/>
            <a:ext cx="3464719" cy="1261876"/>
          </a:xfrm>
          <a:prstGeom prst="rect">
            <a:avLst/>
          </a:prstGeom>
          <a:solidFill>
            <a:srgbClr val="00FF41">
              <a:alpha val="5000"/>
            </a:srgbClr>
          </a:solidFill>
          <a:ln/>
        </p:spPr>
        <p:txBody>
          <a:bodyPr/>
          <a:lstStyle/>
          <a:p>
            <a:endParaRPr lang="en-US"/>
          </a:p>
        </p:txBody>
      </p:sp>
      <p:sp>
        <p:nvSpPr>
          <p:cNvPr id="12" name="Shape 8"/>
          <p:cNvSpPr/>
          <p:nvPr/>
        </p:nvSpPr>
        <p:spPr>
          <a:xfrm>
            <a:off x="1643063" y="1749437"/>
            <a:ext cx="21431" cy="1261876"/>
          </a:xfrm>
          <a:prstGeom prst="rect">
            <a:avLst/>
          </a:prstGeom>
          <a:solidFill>
            <a:srgbClr val="00FF41"/>
          </a:solidFill>
          <a:ln/>
        </p:spPr>
        <p:txBody>
          <a:bodyPr/>
          <a:lstStyle/>
          <a:p>
            <a:endParaRPr lang="en-US"/>
          </a:p>
        </p:txBody>
      </p:sp>
      <p:sp>
        <p:nvSpPr>
          <p:cNvPr id="13" name="Text 9"/>
          <p:cNvSpPr/>
          <p:nvPr/>
        </p:nvSpPr>
        <p:spPr>
          <a:xfrm>
            <a:off x="1750219" y="1856594"/>
            <a:ext cx="1445652" cy="110800"/>
          </a:xfrm>
          <a:prstGeom prst="rect">
            <a:avLst/>
          </a:prstGeom>
          <a:noFill/>
          <a:ln/>
        </p:spPr>
        <p:txBody>
          <a:bodyPr wrap="none" lIns="0" tIns="0" rIns="0" bIns="0" rtlCol="0" anchor="t">
            <a:spAutoFit/>
          </a:bodyPr>
          <a:lstStyle/>
          <a:p>
            <a:pPr marL="0" indent="0" algn="l">
              <a:lnSpc>
                <a:spcPts val="800"/>
              </a:lnSpc>
              <a:buNone/>
            </a:pPr>
            <a:r>
              <a:rPr lang="en-US" sz="1000" b="1" kern="0" spc="1" dirty="0">
                <a:solidFill>
                  <a:srgbClr val="00FF41"/>
                </a:solidFill>
              </a:rPr>
              <a:t>[ EXPLOITATION METHOD ]</a:t>
            </a:r>
            <a:endParaRPr lang="en-US" sz="1000" dirty="0"/>
          </a:p>
        </p:txBody>
      </p:sp>
      <p:sp>
        <p:nvSpPr>
          <p:cNvPr id="14" name="Text 10"/>
          <p:cNvSpPr/>
          <p:nvPr/>
        </p:nvSpPr>
        <p:spPr>
          <a:xfrm>
            <a:off x="1750219" y="2029830"/>
            <a:ext cx="3250406" cy="450316"/>
          </a:xfrm>
          <a:prstGeom prst="rect">
            <a:avLst/>
          </a:prstGeom>
          <a:noFill/>
          <a:ln/>
        </p:spPr>
        <p:txBody>
          <a:bodyPr wrap="square" lIns="0" tIns="0" rIns="0" bIns="0" rtlCol="0" anchor="t">
            <a:spAutoFit/>
          </a:bodyPr>
          <a:lstStyle/>
          <a:p>
            <a:pPr marL="0" indent="0" algn="l">
              <a:lnSpc>
                <a:spcPts val="1200"/>
              </a:lnSpc>
              <a:buNone/>
            </a:pPr>
            <a:r>
              <a:rPr lang="en-US" sz="800" dirty="0">
                <a:solidFill>
                  <a:srgbClr val="E0E0E0"/>
                </a:solidFill>
              </a:rPr>
              <a:t>Tool: sqlmap was used to systematically identify and exploit the vulnerability. Multiple databases were enumerated, including Staff and users databases with sensitive tables.</a:t>
            </a:r>
            <a:endParaRPr lang="en-US" sz="800" dirty="0"/>
          </a:p>
        </p:txBody>
      </p:sp>
      <p:sp>
        <p:nvSpPr>
          <p:cNvPr id="15" name="Shape 11"/>
          <p:cNvSpPr/>
          <p:nvPr/>
        </p:nvSpPr>
        <p:spPr>
          <a:xfrm>
            <a:off x="1750219" y="2532683"/>
            <a:ext cx="3250406" cy="371475"/>
          </a:xfrm>
          <a:prstGeom prst="rect">
            <a:avLst/>
          </a:prstGeom>
          <a:solidFill>
            <a:srgbClr val="FF3333">
              <a:alpha val="10000"/>
            </a:srgbClr>
          </a:solidFill>
          <a:ln w="9144">
            <a:solidFill>
              <a:srgbClr val="FF3333"/>
            </a:solidFill>
            <a:prstDash val="solid"/>
          </a:ln>
        </p:spPr>
        <p:txBody>
          <a:bodyPr/>
          <a:lstStyle/>
          <a:p>
            <a:endParaRPr lang="en-US"/>
          </a:p>
        </p:txBody>
      </p:sp>
      <p:sp>
        <p:nvSpPr>
          <p:cNvPr id="16" name="Text 12"/>
          <p:cNvSpPr/>
          <p:nvPr/>
        </p:nvSpPr>
        <p:spPr>
          <a:xfrm>
            <a:off x="1750219" y="2532683"/>
            <a:ext cx="3250406" cy="356060"/>
          </a:xfrm>
          <a:prstGeom prst="rect">
            <a:avLst/>
          </a:prstGeom>
          <a:noFill/>
          <a:ln/>
        </p:spPr>
        <p:txBody>
          <a:bodyPr wrap="square" lIns="85090" tIns="85090" rIns="85090" bIns="85090" rtlCol="0" anchor="t">
            <a:spAutoFit/>
          </a:bodyPr>
          <a:lstStyle/>
          <a:p>
            <a:pPr marL="0" indent="0" algn="l">
              <a:lnSpc>
                <a:spcPts val="700"/>
              </a:lnSpc>
              <a:buNone/>
            </a:pPr>
            <a:r>
              <a:rPr lang="en-US" sz="800" dirty="0">
                <a:solidFill>
                  <a:srgbClr val="FF3333"/>
                </a:solidFill>
              </a:rPr>
              <a:t>sqlmap -r check2.txt --dbs
sqlmap -r check2.txt -D Staff -T Users -C username,password --dump</a:t>
            </a:r>
            <a:endParaRPr lang="en-US" sz="800" dirty="0"/>
          </a:p>
        </p:txBody>
      </p:sp>
      <p:sp>
        <p:nvSpPr>
          <p:cNvPr id="17" name="Shape 13"/>
          <p:cNvSpPr/>
          <p:nvPr/>
        </p:nvSpPr>
        <p:spPr>
          <a:xfrm>
            <a:off x="1643063" y="3139901"/>
            <a:ext cx="3464719" cy="801886"/>
          </a:xfrm>
          <a:prstGeom prst="rect">
            <a:avLst/>
          </a:prstGeom>
          <a:solidFill>
            <a:srgbClr val="00FF41">
              <a:alpha val="5000"/>
            </a:srgbClr>
          </a:solidFill>
          <a:ln/>
        </p:spPr>
        <p:txBody>
          <a:bodyPr/>
          <a:lstStyle/>
          <a:p>
            <a:endParaRPr lang="en-US"/>
          </a:p>
        </p:txBody>
      </p:sp>
      <p:sp>
        <p:nvSpPr>
          <p:cNvPr id="18" name="Shape 14"/>
          <p:cNvSpPr/>
          <p:nvPr/>
        </p:nvSpPr>
        <p:spPr>
          <a:xfrm>
            <a:off x="1643063" y="3139901"/>
            <a:ext cx="21431" cy="801886"/>
          </a:xfrm>
          <a:prstGeom prst="rect">
            <a:avLst/>
          </a:prstGeom>
          <a:solidFill>
            <a:srgbClr val="00FF41"/>
          </a:solidFill>
          <a:ln/>
        </p:spPr>
        <p:txBody>
          <a:bodyPr/>
          <a:lstStyle/>
          <a:p>
            <a:endParaRPr lang="en-US"/>
          </a:p>
        </p:txBody>
      </p:sp>
      <p:sp>
        <p:nvSpPr>
          <p:cNvPr id="19" name="Text 15"/>
          <p:cNvSpPr/>
          <p:nvPr/>
        </p:nvSpPr>
        <p:spPr>
          <a:xfrm>
            <a:off x="1750219" y="3247058"/>
            <a:ext cx="1331839" cy="110800"/>
          </a:xfrm>
          <a:prstGeom prst="rect">
            <a:avLst/>
          </a:prstGeom>
          <a:noFill/>
          <a:ln/>
        </p:spPr>
        <p:txBody>
          <a:bodyPr wrap="none" lIns="0" tIns="0" rIns="0" bIns="0" rtlCol="0" anchor="t">
            <a:spAutoFit/>
          </a:bodyPr>
          <a:lstStyle/>
          <a:p>
            <a:pPr marL="0" indent="0" algn="l">
              <a:lnSpc>
                <a:spcPts val="800"/>
              </a:lnSpc>
              <a:buNone/>
            </a:pPr>
            <a:r>
              <a:rPr lang="en-US" sz="1000" b="1" kern="0" spc="1" dirty="0">
                <a:solidFill>
                  <a:srgbClr val="00FF41"/>
                </a:solidFill>
              </a:rPr>
              <a:t>[ VULNERABILITY TYPES ]</a:t>
            </a:r>
            <a:endParaRPr lang="en-US" sz="1000" dirty="0"/>
          </a:p>
        </p:txBody>
      </p:sp>
      <p:sp>
        <p:nvSpPr>
          <p:cNvPr id="20" name="Text 16"/>
          <p:cNvSpPr/>
          <p:nvPr/>
        </p:nvSpPr>
        <p:spPr>
          <a:xfrm>
            <a:off x="1750219" y="3434581"/>
            <a:ext cx="3250406" cy="359907"/>
          </a:xfrm>
          <a:prstGeom prst="rect">
            <a:avLst/>
          </a:prstGeom>
          <a:noFill/>
          <a:ln/>
        </p:spPr>
        <p:txBody>
          <a:bodyPr wrap="square" lIns="0" tIns="85090" rIns="0" bIns="0" rtlCol="0" anchor="t">
            <a:spAutoFit/>
          </a:bodyPr>
          <a:lstStyle/>
          <a:p>
            <a:pPr marL="0" indent="0" algn="l">
              <a:lnSpc>
                <a:spcPts val="700"/>
              </a:lnSpc>
              <a:buNone/>
            </a:pPr>
            <a:r>
              <a:rPr lang="en-US" sz="800" dirty="0">
                <a:solidFill>
                  <a:srgbClr val="00FF41"/>
                </a:solidFill>
              </a:rPr>
              <a:t>• Boolean-based SQL Injection
 • Time-based SQL Injection
 • UNION-based SQL Injection</a:t>
            </a:r>
            <a:endParaRPr lang="en-US" sz="800" dirty="0"/>
          </a:p>
        </p:txBody>
      </p:sp>
      <p:sp>
        <p:nvSpPr>
          <p:cNvPr id="21" name="Shape 17"/>
          <p:cNvSpPr/>
          <p:nvPr/>
        </p:nvSpPr>
        <p:spPr>
          <a:xfrm>
            <a:off x="5322094" y="773311"/>
            <a:ext cx="3464719" cy="587573"/>
          </a:xfrm>
          <a:prstGeom prst="rect">
            <a:avLst/>
          </a:prstGeom>
          <a:solidFill>
            <a:srgbClr val="FF3333">
              <a:alpha val="5000"/>
            </a:srgbClr>
          </a:solidFill>
          <a:ln/>
        </p:spPr>
        <p:txBody>
          <a:bodyPr/>
          <a:lstStyle/>
          <a:p>
            <a:endParaRPr lang="en-US"/>
          </a:p>
        </p:txBody>
      </p:sp>
      <p:sp>
        <p:nvSpPr>
          <p:cNvPr id="22" name="Shape 18"/>
          <p:cNvSpPr/>
          <p:nvPr/>
        </p:nvSpPr>
        <p:spPr>
          <a:xfrm>
            <a:off x="5322094" y="773311"/>
            <a:ext cx="21431" cy="587573"/>
          </a:xfrm>
          <a:prstGeom prst="rect">
            <a:avLst/>
          </a:prstGeom>
          <a:solidFill>
            <a:srgbClr val="FF3333"/>
          </a:solidFill>
          <a:ln/>
        </p:spPr>
        <p:txBody>
          <a:bodyPr/>
          <a:lstStyle/>
          <a:p>
            <a:endParaRPr lang="en-US"/>
          </a:p>
        </p:txBody>
      </p:sp>
      <p:sp>
        <p:nvSpPr>
          <p:cNvPr id="23" name="Text 19"/>
          <p:cNvSpPr/>
          <p:nvPr/>
        </p:nvSpPr>
        <p:spPr>
          <a:xfrm>
            <a:off x="5407819" y="859036"/>
            <a:ext cx="1405578" cy="110800"/>
          </a:xfrm>
          <a:prstGeom prst="rect">
            <a:avLst/>
          </a:prstGeom>
          <a:noFill/>
          <a:ln/>
        </p:spPr>
        <p:txBody>
          <a:bodyPr wrap="none" lIns="0" tIns="0" rIns="0" bIns="0" rtlCol="0" anchor="t">
            <a:spAutoFit/>
          </a:bodyPr>
          <a:lstStyle/>
          <a:p>
            <a:pPr marL="0" indent="0" algn="l">
              <a:lnSpc>
                <a:spcPts val="800"/>
              </a:lnSpc>
              <a:buNone/>
            </a:pPr>
            <a:r>
              <a:rPr lang="en-US" sz="1000" b="1" kern="0" spc="1" dirty="0">
                <a:solidFill>
                  <a:srgbClr val="FF3333"/>
                </a:solidFill>
              </a:rPr>
              <a:t>[ DATABASE DISCLOSURE ]</a:t>
            </a:r>
            <a:endParaRPr lang="en-US" sz="1000" dirty="0"/>
          </a:p>
        </p:txBody>
      </p:sp>
      <p:sp>
        <p:nvSpPr>
          <p:cNvPr id="24" name="Text 20"/>
          <p:cNvSpPr/>
          <p:nvPr/>
        </p:nvSpPr>
        <p:spPr>
          <a:xfrm>
            <a:off x="5407819" y="1017984"/>
            <a:ext cx="3293269" cy="257175"/>
          </a:xfrm>
          <a:prstGeom prst="rect">
            <a:avLst/>
          </a:prstGeom>
          <a:noFill/>
          <a:ln/>
        </p:spPr>
        <p:txBody>
          <a:bodyPr wrap="square" lIns="0" tIns="0" rIns="0" bIns="0" rtlCol="0" anchor="t">
            <a:spAutoFit/>
          </a:bodyPr>
          <a:lstStyle/>
          <a:p>
            <a:pPr marL="0" indent="0" algn="l">
              <a:lnSpc>
                <a:spcPts val="1000"/>
              </a:lnSpc>
              <a:buNone/>
            </a:pPr>
            <a:r>
              <a:rPr lang="en-US" sz="800" dirty="0">
                <a:solidFill>
                  <a:srgbClr val="E0E0E0"/>
                </a:solidFill>
              </a:rPr>
              <a:t>Full extraction of usernames, emails, and password hashes from multiple databases. Complete database schema enumeration possible.</a:t>
            </a:r>
            <a:endParaRPr lang="en-US" sz="800" dirty="0"/>
          </a:p>
        </p:txBody>
      </p:sp>
      <p:sp>
        <p:nvSpPr>
          <p:cNvPr id="25" name="Shape 21"/>
          <p:cNvSpPr/>
          <p:nvPr/>
        </p:nvSpPr>
        <p:spPr>
          <a:xfrm>
            <a:off x="5322094" y="1468041"/>
            <a:ext cx="3464719" cy="587573"/>
          </a:xfrm>
          <a:prstGeom prst="rect">
            <a:avLst/>
          </a:prstGeom>
          <a:solidFill>
            <a:srgbClr val="FF3333">
              <a:alpha val="5000"/>
            </a:srgbClr>
          </a:solidFill>
          <a:ln/>
        </p:spPr>
        <p:txBody>
          <a:bodyPr/>
          <a:lstStyle/>
          <a:p>
            <a:endParaRPr lang="en-US"/>
          </a:p>
        </p:txBody>
      </p:sp>
      <p:sp>
        <p:nvSpPr>
          <p:cNvPr id="26" name="Shape 22"/>
          <p:cNvSpPr/>
          <p:nvPr/>
        </p:nvSpPr>
        <p:spPr>
          <a:xfrm>
            <a:off x="5322094" y="1468041"/>
            <a:ext cx="21431" cy="587573"/>
          </a:xfrm>
          <a:prstGeom prst="rect">
            <a:avLst/>
          </a:prstGeom>
          <a:solidFill>
            <a:srgbClr val="FF3333"/>
          </a:solidFill>
          <a:ln/>
        </p:spPr>
        <p:txBody>
          <a:bodyPr/>
          <a:lstStyle/>
          <a:p>
            <a:endParaRPr lang="en-US"/>
          </a:p>
        </p:txBody>
      </p:sp>
      <p:sp>
        <p:nvSpPr>
          <p:cNvPr id="27" name="Text 23"/>
          <p:cNvSpPr/>
          <p:nvPr/>
        </p:nvSpPr>
        <p:spPr>
          <a:xfrm>
            <a:off x="5407819" y="1553766"/>
            <a:ext cx="1543692" cy="110800"/>
          </a:xfrm>
          <a:prstGeom prst="rect">
            <a:avLst/>
          </a:prstGeom>
          <a:noFill/>
          <a:ln/>
        </p:spPr>
        <p:txBody>
          <a:bodyPr wrap="none" lIns="0" tIns="0" rIns="0" bIns="0" rtlCol="0" anchor="t">
            <a:spAutoFit/>
          </a:bodyPr>
          <a:lstStyle/>
          <a:p>
            <a:pPr marL="0" indent="0" algn="l">
              <a:lnSpc>
                <a:spcPts val="800"/>
              </a:lnSpc>
              <a:buNone/>
            </a:pPr>
            <a:r>
              <a:rPr lang="en-US" sz="1000" b="1" kern="0" spc="1" dirty="0">
                <a:solidFill>
                  <a:srgbClr val="FF3333"/>
                </a:solidFill>
              </a:rPr>
              <a:t>[ AUTHENTICATION BYPASS ]</a:t>
            </a:r>
            <a:endParaRPr lang="en-US" sz="1000" dirty="0"/>
          </a:p>
        </p:txBody>
      </p:sp>
      <p:sp>
        <p:nvSpPr>
          <p:cNvPr id="28" name="Text 24"/>
          <p:cNvSpPr/>
          <p:nvPr/>
        </p:nvSpPr>
        <p:spPr>
          <a:xfrm>
            <a:off x="5407819" y="1712714"/>
            <a:ext cx="3293269" cy="257175"/>
          </a:xfrm>
          <a:prstGeom prst="rect">
            <a:avLst/>
          </a:prstGeom>
          <a:noFill/>
          <a:ln/>
        </p:spPr>
        <p:txBody>
          <a:bodyPr wrap="square" lIns="0" tIns="0" rIns="0" bIns="0" rtlCol="0" anchor="t">
            <a:spAutoFit/>
          </a:bodyPr>
          <a:lstStyle/>
          <a:p>
            <a:pPr marL="0" indent="0" algn="l">
              <a:lnSpc>
                <a:spcPts val="1000"/>
              </a:lnSpc>
              <a:buNone/>
            </a:pPr>
            <a:r>
              <a:rPr lang="en-US" sz="800" dirty="0">
                <a:solidFill>
                  <a:srgbClr val="E0E0E0"/>
                </a:solidFill>
              </a:rPr>
              <a:t>Potential to bypass login mechanisms by manipulating SQL queries to return valid credentials or create unauthorized access.</a:t>
            </a:r>
            <a:endParaRPr lang="en-US" sz="800" dirty="0"/>
          </a:p>
        </p:txBody>
      </p:sp>
      <p:sp>
        <p:nvSpPr>
          <p:cNvPr id="29" name="Shape 25"/>
          <p:cNvSpPr/>
          <p:nvPr/>
        </p:nvSpPr>
        <p:spPr>
          <a:xfrm>
            <a:off x="5322094" y="2162770"/>
            <a:ext cx="3464719" cy="587573"/>
          </a:xfrm>
          <a:prstGeom prst="rect">
            <a:avLst/>
          </a:prstGeom>
          <a:solidFill>
            <a:srgbClr val="FF3333">
              <a:alpha val="5000"/>
            </a:srgbClr>
          </a:solidFill>
          <a:ln/>
        </p:spPr>
        <p:txBody>
          <a:bodyPr/>
          <a:lstStyle/>
          <a:p>
            <a:endParaRPr lang="en-US"/>
          </a:p>
        </p:txBody>
      </p:sp>
      <p:sp>
        <p:nvSpPr>
          <p:cNvPr id="30" name="Shape 26"/>
          <p:cNvSpPr/>
          <p:nvPr/>
        </p:nvSpPr>
        <p:spPr>
          <a:xfrm>
            <a:off x="5322094" y="2162770"/>
            <a:ext cx="21431" cy="587573"/>
          </a:xfrm>
          <a:prstGeom prst="rect">
            <a:avLst/>
          </a:prstGeom>
          <a:solidFill>
            <a:srgbClr val="FF3333"/>
          </a:solidFill>
          <a:ln/>
        </p:spPr>
        <p:txBody>
          <a:bodyPr/>
          <a:lstStyle/>
          <a:p>
            <a:endParaRPr lang="en-US"/>
          </a:p>
        </p:txBody>
      </p:sp>
      <p:sp>
        <p:nvSpPr>
          <p:cNvPr id="31" name="Text 27"/>
          <p:cNvSpPr/>
          <p:nvPr/>
        </p:nvSpPr>
        <p:spPr>
          <a:xfrm>
            <a:off x="5407819" y="2248495"/>
            <a:ext cx="1574149" cy="110800"/>
          </a:xfrm>
          <a:prstGeom prst="rect">
            <a:avLst/>
          </a:prstGeom>
          <a:noFill/>
          <a:ln/>
        </p:spPr>
        <p:txBody>
          <a:bodyPr wrap="none" lIns="0" tIns="0" rIns="0" bIns="0" rtlCol="0" anchor="t">
            <a:spAutoFit/>
          </a:bodyPr>
          <a:lstStyle/>
          <a:p>
            <a:pPr marL="0" indent="0" algn="l">
              <a:lnSpc>
                <a:spcPts val="800"/>
              </a:lnSpc>
              <a:buNone/>
            </a:pPr>
            <a:r>
              <a:rPr lang="en-US" sz="1000" b="1" kern="0" spc="1" dirty="0">
                <a:solidFill>
                  <a:srgbClr val="FF3333"/>
                </a:solidFill>
              </a:rPr>
              <a:t>[ REMOTE CODE EXECUTION ]</a:t>
            </a:r>
            <a:endParaRPr lang="en-US" sz="1000" dirty="0"/>
          </a:p>
        </p:txBody>
      </p:sp>
      <p:sp>
        <p:nvSpPr>
          <p:cNvPr id="32" name="Text 28"/>
          <p:cNvSpPr/>
          <p:nvPr/>
        </p:nvSpPr>
        <p:spPr>
          <a:xfrm>
            <a:off x="5407819" y="2407444"/>
            <a:ext cx="3293269" cy="257175"/>
          </a:xfrm>
          <a:prstGeom prst="rect">
            <a:avLst/>
          </a:prstGeom>
          <a:noFill/>
          <a:ln/>
        </p:spPr>
        <p:txBody>
          <a:bodyPr wrap="square" lIns="0" tIns="0" rIns="0" bIns="0" rtlCol="0" anchor="t">
            <a:spAutoFit/>
          </a:bodyPr>
          <a:lstStyle/>
          <a:p>
            <a:pPr marL="0" indent="0" algn="l">
              <a:lnSpc>
                <a:spcPts val="1000"/>
              </a:lnSpc>
              <a:buNone/>
            </a:pPr>
            <a:r>
              <a:rPr lang="en-US" sz="800" dirty="0">
                <a:solidFill>
                  <a:srgbClr val="E0E0E0"/>
                </a:solidFill>
              </a:rPr>
              <a:t>Possible RCE via chaining with additional vulnerabilities or database-specific functions (e.g., INTO OUTFILE, xp_cmdshell).</a:t>
            </a:r>
            <a:endParaRPr lang="en-US" sz="800" dirty="0"/>
          </a:p>
        </p:txBody>
      </p:sp>
      <p:sp>
        <p:nvSpPr>
          <p:cNvPr id="33" name="Shape 29"/>
          <p:cNvSpPr/>
          <p:nvPr/>
        </p:nvSpPr>
        <p:spPr>
          <a:xfrm>
            <a:off x="5322094" y="2857500"/>
            <a:ext cx="3464719" cy="587573"/>
          </a:xfrm>
          <a:prstGeom prst="rect">
            <a:avLst/>
          </a:prstGeom>
          <a:solidFill>
            <a:srgbClr val="FF3333">
              <a:alpha val="5000"/>
            </a:srgbClr>
          </a:solidFill>
          <a:ln/>
        </p:spPr>
        <p:txBody>
          <a:bodyPr/>
          <a:lstStyle/>
          <a:p>
            <a:endParaRPr lang="en-US"/>
          </a:p>
        </p:txBody>
      </p:sp>
      <p:sp>
        <p:nvSpPr>
          <p:cNvPr id="34" name="Shape 30"/>
          <p:cNvSpPr/>
          <p:nvPr/>
        </p:nvSpPr>
        <p:spPr>
          <a:xfrm>
            <a:off x="5322094" y="2857500"/>
            <a:ext cx="21431" cy="587573"/>
          </a:xfrm>
          <a:prstGeom prst="rect">
            <a:avLst/>
          </a:prstGeom>
          <a:solidFill>
            <a:srgbClr val="FF3333"/>
          </a:solidFill>
          <a:ln/>
        </p:spPr>
        <p:txBody>
          <a:bodyPr/>
          <a:lstStyle/>
          <a:p>
            <a:endParaRPr lang="en-US"/>
          </a:p>
        </p:txBody>
      </p:sp>
      <p:sp>
        <p:nvSpPr>
          <p:cNvPr id="35" name="Text 31"/>
          <p:cNvSpPr/>
          <p:nvPr/>
        </p:nvSpPr>
        <p:spPr>
          <a:xfrm>
            <a:off x="5407819" y="2943225"/>
            <a:ext cx="1114921" cy="110800"/>
          </a:xfrm>
          <a:prstGeom prst="rect">
            <a:avLst/>
          </a:prstGeom>
          <a:noFill/>
          <a:ln/>
        </p:spPr>
        <p:txBody>
          <a:bodyPr wrap="none" lIns="0" tIns="0" rIns="0" bIns="0" rtlCol="0" anchor="t">
            <a:spAutoFit/>
          </a:bodyPr>
          <a:lstStyle/>
          <a:p>
            <a:pPr marL="0" indent="0" algn="l">
              <a:lnSpc>
                <a:spcPts val="800"/>
              </a:lnSpc>
              <a:buNone/>
            </a:pPr>
            <a:r>
              <a:rPr lang="en-US" sz="1000" b="1" kern="0" spc="1" dirty="0">
                <a:solidFill>
                  <a:srgbClr val="FF3333"/>
                </a:solidFill>
              </a:rPr>
              <a:t>[ BUSINESS IMPACT ]</a:t>
            </a:r>
            <a:endParaRPr lang="en-US" sz="1000" dirty="0"/>
          </a:p>
        </p:txBody>
      </p:sp>
      <p:sp>
        <p:nvSpPr>
          <p:cNvPr id="36" name="Text 32"/>
          <p:cNvSpPr/>
          <p:nvPr/>
        </p:nvSpPr>
        <p:spPr>
          <a:xfrm>
            <a:off x="5407819" y="3102173"/>
            <a:ext cx="3293269" cy="257175"/>
          </a:xfrm>
          <a:prstGeom prst="rect">
            <a:avLst/>
          </a:prstGeom>
          <a:noFill/>
          <a:ln/>
        </p:spPr>
        <p:txBody>
          <a:bodyPr wrap="square" lIns="0" tIns="0" rIns="0" bIns="0" rtlCol="0" anchor="t">
            <a:spAutoFit/>
          </a:bodyPr>
          <a:lstStyle/>
          <a:p>
            <a:pPr marL="0" indent="0" algn="l">
              <a:lnSpc>
                <a:spcPts val="1000"/>
              </a:lnSpc>
              <a:buNone/>
            </a:pPr>
            <a:r>
              <a:rPr lang="en-US" sz="800" dirty="0">
                <a:solidFill>
                  <a:srgbClr val="E0E0E0"/>
                </a:solidFill>
              </a:rPr>
              <a:t>Complete compromise of data confidentiality, integrity, and availability. Regulatory compliance violations and reputational damage.</a:t>
            </a:r>
            <a:endParaRPr lang="en-US" sz="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
            <a:ext cx="9144000" cy="5143500"/>
          </a:xfrm>
          <a:prstGeom prst="rect">
            <a:avLst/>
          </a:prstGeom>
        </p:spPr>
      </p:pic>
      <p:sp>
        <p:nvSpPr>
          <p:cNvPr id="3" name="Text 0"/>
          <p:cNvSpPr/>
          <p:nvPr/>
        </p:nvSpPr>
        <p:spPr>
          <a:xfrm>
            <a:off x="357188" y="285750"/>
            <a:ext cx="8429625" cy="273248"/>
          </a:xfrm>
          <a:prstGeom prst="rect">
            <a:avLst/>
          </a:prstGeom>
          <a:noFill/>
          <a:ln/>
        </p:spPr>
        <p:txBody>
          <a:bodyPr wrap="none" lIns="0" tIns="0" rIns="0" bIns="0" rtlCol="0" anchor="t">
            <a:spAutoFit/>
          </a:bodyPr>
          <a:lstStyle/>
          <a:p>
            <a:pPr marL="0" indent="0" algn="l">
              <a:lnSpc>
                <a:spcPts val="1900"/>
              </a:lnSpc>
              <a:buNone/>
            </a:pPr>
            <a:r>
              <a:rPr lang="en-US" sz="1397" b="1" kern="0" spc="2" dirty="0">
                <a:solidFill>
                  <a:srgbClr val="00FF41"/>
                </a:solidFill>
              </a:rPr>
              <a:t>► FINDING 3.2: HIGH-SEVERITY LOCAL FILE INCLUSION (LFI)</a:t>
            </a:r>
            <a:endParaRPr lang="en-US" sz="1397" dirty="0"/>
          </a:p>
        </p:txBody>
      </p:sp>
      <p:sp>
        <p:nvSpPr>
          <p:cNvPr id="4" name="Text 1"/>
          <p:cNvSpPr/>
          <p:nvPr/>
        </p:nvSpPr>
        <p:spPr>
          <a:xfrm>
            <a:off x="357188" y="773311"/>
            <a:ext cx="857927" cy="110800"/>
          </a:xfrm>
          <a:prstGeom prst="rect">
            <a:avLst/>
          </a:prstGeom>
          <a:noFill/>
          <a:ln/>
        </p:spPr>
        <p:txBody>
          <a:bodyPr wrap="none" lIns="0" tIns="0" rIns="0" bIns="0" rtlCol="0" anchor="t">
            <a:spAutoFit/>
          </a:bodyPr>
          <a:lstStyle/>
          <a:p>
            <a:pPr marL="0" indent="0" algn="l">
              <a:lnSpc>
                <a:spcPts val="800"/>
              </a:lnSpc>
              <a:buNone/>
            </a:pPr>
            <a:r>
              <a:rPr lang="en-US" sz="1000" b="1" kern="0" spc="1" dirty="0">
                <a:solidFill>
                  <a:srgbClr val="FF3333"/>
                </a:solidFill>
              </a:rPr>
              <a:t>[ DESCRIPTION ]</a:t>
            </a:r>
            <a:endParaRPr lang="en-US" sz="1000" dirty="0"/>
          </a:p>
        </p:txBody>
      </p:sp>
      <p:sp>
        <p:nvSpPr>
          <p:cNvPr id="5" name="Text 2"/>
          <p:cNvSpPr/>
          <p:nvPr/>
        </p:nvSpPr>
        <p:spPr>
          <a:xfrm>
            <a:off x="357188" y="946547"/>
            <a:ext cx="6715125" cy="296428"/>
          </a:xfrm>
          <a:prstGeom prst="rect">
            <a:avLst/>
          </a:prstGeom>
          <a:noFill/>
          <a:ln/>
        </p:spPr>
        <p:txBody>
          <a:bodyPr wrap="square" lIns="127508" tIns="0" rIns="0" bIns="0" rtlCol="0" anchor="t">
            <a:spAutoFit/>
          </a:bodyPr>
          <a:lstStyle/>
          <a:p>
            <a:pPr marL="0" indent="0" algn="l">
              <a:lnSpc>
                <a:spcPts val="1200"/>
              </a:lnSpc>
              <a:buNone/>
            </a:pPr>
            <a:r>
              <a:rPr lang="en-US" sz="800" dirty="0">
                <a:solidFill>
                  <a:srgbClr val="E0E0E0"/>
                </a:solidFill>
              </a:rPr>
              <a:t>A vulnerable file parameter in the web application allowed local file inclusion and path traversal attacks, enabling unauthorized reading of arbitrary system files from the target host.</a:t>
            </a:r>
            <a:endParaRPr lang="en-US" sz="800" dirty="0"/>
          </a:p>
        </p:txBody>
      </p:sp>
      <p:sp>
        <p:nvSpPr>
          <p:cNvPr id="6" name="Text 3"/>
          <p:cNvSpPr/>
          <p:nvPr/>
        </p:nvSpPr>
        <p:spPr>
          <a:xfrm>
            <a:off x="357188" y="1512298"/>
            <a:ext cx="1437638" cy="110800"/>
          </a:xfrm>
          <a:prstGeom prst="rect">
            <a:avLst/>
          </a:prstGeom>
          <a:noFill/>
          <a:ln/>
        </p:spPr>
        <p:txBody>
          <a:bodyPr wrap="none" lIns="0" tIns="0" rIns="0" bIns="0" rtlCol="0" anchor="t">
            <a:spAutoFit/>
          </a:bodyPr>
          <a:lstStyle/>
          <a:p>
            <a:pPr marL="0" indent="0" algn="l">
              <a:lnSpc>
                <a:spcPts val="800"/>
              </a:lnSpc>
              <a:buNone/>
            </a:pPr>
            <a:r>
              <a:rPr lang="en-US" sz="1000" b="1" kern="0" spc="1" dirty="0">
                <a:solidFill>
                  <a:srgbClr val="FF3333"/>
                </a:solidFill>
              </a:rPr>
              <a:t>[ VULNERABLE ENDPOINT ]</a:t>
            </a:r>
            <a:endParaRPr lang="en-US" sz="1000" dirty="0"/>
          </a:p>
        </p:txBody>
      </p:sp>
      <p:sp>
        <p:nvSpPr>
          <p:cNvPr id="7" name="Text 4"/>
          <p:cNvSpPr/>
          <p:nvPr/>
        </p:nvSpPr>
        <p:spPr>
          <a:xfrm>
            <a:off x="357188" y="1685534"/>
            <a:ext cx="6715125" cy="296428"/>
          </a:xfrm>
          <a:prstGeom prst="rect">
            <a:avLst/>
          </a:prstGeom>
          <a:noFill/>
          <a:ln/>
        </p:spPr>
        <p:txBody>
          <a:bodyPr wrap="square" lIns="127508" tIns="0" rIns="0" bIns="0" rtlCol="0" anchor="t">
            <a:spAutoFit/>
          </a:bodyPr>
          <a:lstStyle/>
          <a:p>
            <a:pPr marL="0" indent="0" algn="l">
              <a:lnSpc>
                <a:spcPts val="1200"/>
              </a:lnSpc>
              <a:buNone/>
            </a:pPr>
            <a:r>
              <a:rPr lang="en-US" sz="800" dirty="0">
                <a:solidFill>
                  <a:srgbClr val="E0E0E0"/>
                </a:solidFill>
              </a:rPr>
              <a:t>Parameter: </a:t>
            </a:r>
            <a:r>
              <a:rPr lang="en-US" sz="800" b="1" dirty="0">
                <a:solidFill>
                  <a:srgbClr val="E0E0E0"/>
                </a:solidFill>
              </a:rPr>
              <a:t>file</a:t>
            </a:r>
            <a:r>
              <a:rPr lang="en-US" sz="800" dirty="0">
                <a:solidFill>
                  <a:srgbClr val="E0E0E0"/>
                </a:solidFill>
              </a:rPr>
              <a:t> (GET/POST)
 Endpoint: </a:t>
            </a:r>
            <a:r>
              <a:rPr lang="en-US" sz="800" b="1" dirty="0">
                <a:solidFill>
                  <a:srgbClr val="E0E0E0"/>
                </a:solidFill>
              </a:rPr>
              <a:t>welcome.php</a:t>
            </a:r>
            <a:endParaRPr lang="en-US" sz="800" dirty="0"/>
          </a:p>
        </p:txBody>
      </p:sp>
      <p:sp>
        <p:nvSpPr>
          <p:cNvPr id="8" name="Shape 5"/>
          <p:cNvSpPr/>
          <p:nvPr/>
        </p:nvSpPr>
        <p:spPr>
          <a:xfrm>
            <a:off x="357188" y="2058405"/>
            <a:ext cx="6715125" cy="421481"/>
          </a:xfrm>
          <a:prstGeom prst="rect">
            <a:avLst/>
          </a:prstGeom>
          <a:solidFill>
            <a:srgbClr val="00FF41">
              <a:alpha val="8000"/>
            </a:srgbClr>
          </a:solidFill>
          <a:ln w="9144">
            <a:solidFill>
              <a:srgbClr val="00FF41"/>
            </a:solidFill>
            <a:prstDash val="solid"/>
          </a:ln>
        </p:spPr>
        <p:txBody>
          <a:bodyPr/>
          <a:lstStyle/>
          <a:p>
            <a:endParaRPr lang="en-US" sz="800"/>
          </a:p>
        </p:txBody>
      </p:sp>
      <p:sp>
        <p:nvSpPr>
          <p:cNvPr id="9" name="Text 6"/>
          <p:cNvSpPr/>
          <p:nvPr/>
        </p:nvSpPr>
        <p:spPr>
          <a:xfrm>
            <a:off x="357188" y="2058405"/>
            <a:ext cx="6715125" cy="437043"/>
          </a:xfrm>
          <a:prstGeom prst="rect">
            <a:avLst/>
          </a:prstGeom>
          <a:noFill/>
          <a:ln/>
        </p:spPr>
        <p:txBody>
          <a:bodyPr wrap="square" lIns="102108" tIns="102108" rIns="102108" bIns="102108" rtlCol="0" anchor="t">
            <a:spAutoFit/>
          </a:bodyPr>
          <a:lstStyle/>
          <a:p>
            <a:pPr marL="0" indent="0" algn="l">
              <a:lnSpc>
                <a:spcPts val="900"/>
              </a:lnSpc>
              <a:buNone/>
            </a:pPr>
            <a:r>
              <a:rPr lang="en-US" sz="800" dirty="0">
                <a:solidFill>
                  <a:srgbClr val="00FF41"/>
                </a:solidFill>
              </a:rPr>
              <a:t>http://192.168.196.138/welcome.php?file=../../../../etc/passwd
 http://192.168.196.138/welcome.php?file=///////etc/knockd.conf</a:t>
            </a:r>
            <a:endParaRPr lang="en-US" sz="800" dirty="0"/>
          </a:p>
        </p:txBody>
      </p:sp>
      <p:sp>
        <p:nvSpPr>
          <p:cNvPr id="10" name="Text 7"/>
          <p:cNvSpPr/>
          <p:nvPr/>
        </p:nvSpPr>
        <p:spPr>
          <a:xfrm>
            <a:off x="357188" y="2715630"/>
            <a:ext cx="1587101" cy="110800"/>
          </a:xfrm>
          <a:prstGeom prst="rect">
            <a:avLst/>
          </a:prstGeom>
          <a:noFill/>
          <a:ln/>
        </p:spPr>
        <p:txBody>
          <a:bodyPr wrap="none" lIns="0" tIns="0" rIns="0" bIns="0" rtlCol="0" anchor="t">
            <a:spAutoFit/>
          </a:bodyPr>
          <a:lstStyle/>
          <a:p>
            <a:pPr marL="0" indent="0" algn="l">
              <a:lnSpc>
                <a:spcPts val="800"/>
              </a:lnSpc>
              <a:buNone/>
            </a:pPr>
            <a:r>
              <a:rPr lang="en-US" sz="1000" b="1" kern="0" spc="1" dirty="0">
                <a:solidFill>
                  <a:srgbClr val="FF3333"/>
                </a:solidFill>
              </a:rPr>
              <a:t>[ EXPLOITATION TECHNIQUE ]</a:t>
            </a:r>
            <a:endParaRPr lang="en-US" sz="1000" dirty="0"/>
          </a:p>
        </p:txBody>
      </p:sp>
      <p:sp>
        <p:nvSpPr>
          <p:cNvPr id="11" name="Text 8"/>
          <p:cNvSpPr/>
          <p:nvPr/>
        </p:nvSpPr>
        <p:spPr>
          <a:xfrm>
            <a:off x="357188" y="2888866"/>
            <a:ext cx="6715125" cy="296428"/>
          </a:xfrm>
          <a:prstGeom prst="rect">
            <a:avLst/>
          </a:prstGeom>
          <a:noFill/>
          <a:ln/>
        </p:spPr>
        <p:txBody>
          <a:bodyPr wrap="square" lIns="127508" tIns="0" rIns="0" bIns="0" rtlCol="0" anchor="t">
            <a:spAutoFit/>
          </a:bodyPr>
          <a:lstStyle/>
          <a:p>
            <a:pPr marL="0" indent="0" algn="l">
              <a:lnSpc>
                <a:spcPts val="1200"/>
              </a:lnSpc>
              <a:buNone/>
            </a:pPr>
            <a:r>
              <a:rPr lang="en-US" sz="800" dirty="0">
                <a:solidFill>
                  <a:srgbClr val="E0E0E0"/>
                </a:solidFill>
              </a:rPr>
              <a:t>Path traversal using directory traversal sequences (../) and null byte injection to bypass basic filters. The application failed to validate or sanitize user input, allowing attackers to read files outside the intended webroot directory.</a:t>
            </a:r>
            <a:endParaRPr lang="en-US" sz="800" dirty="0"/>
          </a:p>
        </p:txBody>
      </p:sp>
      <p:sp>
        <p:nvSpPr>
          <p:cNvPr id="12" name="Text 9"/>
          <p:cNvSpPr/>
          <p:nvPr/>
        </p:nvSpPr>
        <p:spPr>
          <a:xfrm>
            <a:off x="357188" y="3454617"/>
            <a:ext cx="981744" cy="110800"/>
          </a:xfrm>
          <a:prstGeom prst="rect">
            <a:avLst/>
          </a:prstGeom>
          <a:noFill/>
          <a:ln/>
        </p:spPr>
        <p:txBody>
          <a:bodyPr wrap="none" lIns="0" tIns="0" rIns="0" bIns="0" rtlCol="0" anchor="t">
            <a:spAutoFit/>
          </a:bodyPr>
          <a:lstStyle/>
          <a:p>
            <a:pPr marL="0" indent="0" algn="l">
              <a:lnSpc>
                <a:spcPts val="800"/>
              </a:lnSpc>
              <a:buNone/>
            </a:pPr>
            <a:r>
              <a:rPr lang="en-US" sz="1000" b="1" kern="0" spc="1" dirty="0">
                <a:solidFill>
                  <a:srgbClr val="FF3333"/>
                </a:solidFill>
              </a:rPr>
              <a:t>[ FILES ACCESSED ]</a:t>
            </a:r>
            <a:endParaRPr lang="en-US" sz="1000" dirty="0"/>
          </a:p>
        </p:txBody>
      </p:sp>
      <p:sp>
        <p:nvSpPr>
          <p:cNvPr id="13" name="Text 10"/>
          <p:cNvSpPr/>
          <p:nvPr/>
        </p:nvSpPr>
        <p:spPr>
          <a:xfrm>
            <a:off x="357188" y="3642140"/>
            <a:ext cx="1840440" cy="132922"/>
          </a:xfrm>
          <a:prstGeom prst="rect">
            <a:avLst/>
          </a:prstGeom>
          <a:noFill/>
          <a:ln/>
        </p:spPr>
        <p:txBody>
          <a:bodyPr wrap="none" lIns="170053" tIns="0" rIns="0" bIns="0" rtlCol="0" anchor="t">
            <a:spAutoFit/>
          </a:bodyPr>
          <a:lstStyle/>
          <a:p>
            <a:pPr marL="0" indent="0" algn="l">
              <a:lnSpc>
                <a:spcPts val="1100"/>
              </a:lnSpc>
              <a:buNone/>
            </a:pPr>
            <a:r>
              <a:rPr lang="en-US" sz="800" dirty="0">
                <a:solidFill>
                  <a:srgbClr val="E0E0E0"/>
                </a:solidFill>
              </a:rPr>
              <a:t>/etc/passwd - System user enumeration</a:t>
            </a:r>
            <a:endParaRPr lang="en-US" sz="800" dirty="0"/>
          </a:p>
        </p:txBody>
      </p:sp>
      <p:sp>
        <p:nvSpPr>
          <p:cNvPr id="14" name="Text 11"/>
          <p:cNvSpPr/>
          <p:nvPr/>
        </p:nvSpPr>
        <p:spPr>
          <a:xfrm>
            <a:off x="357188" y="3836445"/>
            <a:ext cx="2574616" cy="132922"/>
          </a:xfrm>
          <a:prstGeom prst="rect">
            <a:avLst/>
          </a:prstGeom>
          <a:noFill/>
          <a:ln/>
        </p:spPr>
        <p:txBody>
          <a:bodyPr wrap="none" lIns="170053" tIns="0" rIns="0" bIns="0" rtlCol="0" anchor="t">
            <a:spAutoFit/>
          </a:bodyPr>
          <a:lstStyle/>
          <a:p>
            <a:pPr marL="0" indent="0" algn="l">
              <a:lnSpc>
                <a:spcPts val="1100"/>
              </a:lnSpc>
              <a:buNone/>
            </a:pPr>
            <a:r>
              <a:rPr lang="en-US" sz="800" dirty="0">
                <a:solidFill>
                  <a:srgbClr val="E0E0E0"/>
                </a:solidFill>
              </a:rPr>
              <a:t>/etc/knockd.conf - Port knocking configuration (CRITICAL)</a:t>
            </a:r>
            <a:endParaRPr lang="en-US" sz="800" dirty="0"/>
          </a:p>
        </p:txBody>
      </p:sp>
      <p:sp>
        <p:nvSpPr>
          <p:cNvPr id="15" name="Text 12"/>
          <p:cNvSpPr/>
          <p:nvPr/>
        </p:nvSpPr>
        <p:spPr>
          <a:xfrm>
            <a:off x="357188" y="4030749"/>
            <a:ext cx="1580754" cy="132922"/>
          </a:xfrm>
          <a:prstGeom prst="rect">
            <a:avLst/>
          </a:prstGeom>
          <a:noFill/>
          <a:ln/>
        </p:spPr>
        <p:txBody>
          <a:bodyPr wrap="none" lIns="170053" tIns="0" rIns="0" bIns="0" rtlCol="0" anchor="t">
            <a:spAutoFit/>
          </a:bodyPr>
          <a:lstStyle/>
          <a:p>
            <a:pPr marL="0" indent="0" algn="l">
              <a:lnSpc>
                <a:spcPts val="1100"/>
              </a:lnSpc>
              <a:buNone/>
            </a:pPr>
            <a:r>
              <a:rPr lang="en-US" sz="800" dirty="0">
                <a:solidFill>
                  <a:srgbClr val="E0E0E0"/>
                </a:solidFill>
              </a:rPr>
              <a:t>Other sensitive configuration files</a:t>
            </a:r>
            <a:endParaRPr lang="en-US" sz="800" dirty="0"/>
          </a:p>
        </p:txBody>
      </p:sp>
      <p:sp>
        <p:nvSpPr>
          <p:cNvPr id="16" name="Shape 13"/>
          <p:cNvSpPr/>
          <p:nvPr/>
        </p:nvSpPr>
        <p:spPr>
          <a:xfrm>
            <a:off x="357188" y="4264781"/>
            <a:ext cx="6715125" cy="711473"/>
          </a:xfrm>
          <a:prstGeom prst="rect">
            <a:avLst/>
          </a:prstGeom>
          <a:solidFill>
            <a:srgbClr val="FF3333">
              <a:alpha val="10000"/>
            </a:srgbClr>
          </a:solidFill>
          <a:ln/>
        </p:spPr>
        <p:txBody>
          <a:bodyPr/>
          <a:lstStyle/>
          <a:p>
            <a:endParaRPr lang="en-US"/>
          </a:p>
        </p:txBody>
      </p:sp>
      <p:sp>
        <p:nvSpPr>
          <p:cNvPr id="17" name="Shape 14"/>
          <p:cNvSpPr/>
          <p:nvPr/>
        </p:nvSpPr>
        <p:spPr>
          <a:xfrm>
            <a:off x="367903" y="4260576"/>
            <a:ext cx="21431" cy="711473"/>
          </a:xfrm>
          <a:prstGeom prst="rect">
            <a:avLst/>
          </a:prstGeom>
          <a:solidFill>
            <a:srgbClr val="FF3333"/>
          </a:solidFill>
          <a:ln/>
        </p:spPr>
        <p:txBody>
          <a:bodyPr/>
          <a:lstStyle/>
          <a:p>
            <a:endParaRPr lang="en-US"/>
          </a:p>
        </p:txBody>
      </p:sp>
      <p:sp>
        <p:nvSpPr>
          <p:cNvPr id="18" name="Text 15"/>
          <p:cNvSpPr/>
          <p:nvPr/>
        </p:nvSpPr>
        <p:spPr>
          <a:xfrm>
            <a:off x="357188" y="3642140"/>
            <a:ext cx="42863" cy="137127"/>
          </a:xfrm>
          <a:prstGeom prst="rect">
            <a:avLst/>
          </a:prstGeom>
          <a:noFill/>
          <a:ln/>
        </p:spPr>
        <p:txBody>
          <a:bodyPr wrap="none" lIns="0" tIns="0" rIns="0" bIns="0" rtlCol="0" anchor="t">
            <a:spAutoFit/>
          </a:bodyPr>
          <a:lstStyle/>
          <a:p>
            <a:pPr marL="0" indent="0" algn="l">
              <a:lnSpc>
                <a:spcPts val="1100"/>
              </a:lnSpc>
              <a:buNone/>
            </a:pPr>
            <a:r>
              <a:rPr lang="en-US" sz="621" dirty="0">
                <a:solidFill>
                  <a:srgbClr val="00FF41"/>
                </a:solidFill>
              </a:rPr>
              <a:t>▸</a:t>
            </a:r>
            <a:endParaRPr lang="en-US" sz="621" dirty="0"/>
          </a:p>
        </p:txBody>
      </p:sp>
      <p:sp>
        <p:nvSpPr>
          <p:cNvPr id="19" name="Text 16"/>
          <p:cNvSpPr/>
          <p:nvPr/>
        </p:nvSpPr>
        <p:spPr>
          <a:xfrm>
            <a:off x="357188" y="3836445"/>
            <a:ext cx="42863" cy="137127"/>
          </a:xfrm>
          <a:prstGeom prst="rect">
            <a:avLst/>
          </a:prstGeom>
          <a:noFill/>
          <a:ln/>
        </p:spPr>
        <p:txBody>
          <a:bodyPr wrap="none" lIns="0" tIns="0" rIns="0" bIns="0" rtlCol="0" anchor="t">
            <a:spAutoFit/>
          </a:bodyPr>
          <a:lstStyle/>
          <a:p>
            <a:pPr marL="0" indent="0" algn="l">
              <a:lnSpc>
                <a:spcPts val="1100"/>
              </a:lnSpc>
              <a:buNone/>
            </a:pPr>
            <a:r>
              <a:rPr lang="en-US" sz="621" dirty="0">
                <a:solidFill>
                  <a:srgbClr val="00FF41"/>
                </a:solidFill>
              </a:rPr>
              <a:t>▸</a:t>
            </a:r>
            <a:endParaRPr lang="en-US" sz="621" dirty="0"/>
          </a:p>
        </p:txBody>
      </p:sp>
      <p:sp>
        <p:nvSpPr>
          <p:cNvPr id="20" name="Text 17"/>
          <p:cNvSpPr/>
          <p:nvPr/>
        </p:nvSpPr>
        <p:spPr>
          <a:xfrm>
            <a:off x="357188" y="4030749"/>
            <a:ext cx="42863" cy="137127"/>
          </a:xfrm>
          <a:prstGeom prst="rect">
            <a:avLst/>
          </a:prstGeom>
          <a:noFill/>
          <a:ln/>
        </p:spPr>
        <p:txBody>
          <a:bodyPr wrap="none" lIns="0" tIns="0" rIns="0" bIns="0" rtlCol="0" anchor="t">
            <a:spAutoFit/>
          </a:bodyPr>
          <a:lstStyle/>
          <a:p>
            <a:pPr marL="0" indent="0" algn="l">
              <a:lnSpc>
                <a:spcPts val="1100"/>
              </a:lnSpc>
              <a:buNone/>
            </a:pPr>
            <a:r>
              <a:rPr lang="en-US" sz="621" dirty="0">
                <a:solidFill>
                  <a:srgbClr val="00FF41"/>
                </a:solidFill>
              </a:rPr>
              <a:t>▸</a:t>
            </a:r>
            <a:endParaRPr lang="en-US" sz="621" dirty="0"/>
          </a:p>
        </p:txBody>
      </p:sp>
      <p:sp>
        <p:nvSpPr>
          <p:cNvPr id="21" name="Text 18"/>
          <p:cNvSpPr/>
          <p:nvPr/>
        </p:nvSpPr>
        <p:spPr>
          <a:xfrm>
            <a:off x="464344" y="4371938"/>
            <a:ext cx="597921" cy="141064"/>
          </a:xfrm>
          <a:prstGeom prst="rect">
            <a:avLst/>
          </a:prstGeom>
          <a:noFill/>
          <a:ln/>
        </p:spPr>
        <p:txBody>
          <a:bodyPr wrap="none" lIns="0" tIns="0" rIns="0" bIns="0" rtlCol="0" anchor="t">
            <a:spAutoFit/>
          </a:bodyPr>
          <a:lstStyle/>
          <a:p>
            <a:pPr marL="0" indent="0" algn="l">
              <a:lnSpc>
                <a:spcPts val="1100"/>
              </a:lnSpc>
              <a:buNone/>
            </a:pPr>
            <a:r>
              <a:rPr lang="en-US" sz="1000" b="1" dirty="0">
                <a:solidFill>
                  <a:srgbClr val="FF3333"/>
                </a:solidFill>
              </a:rPr>
              <a:t>⚠ IMPACT:</a:t>
            </a:r>
            <a:endParaRPr lang="en-US" sz="1000" dirty="0"/>
          </a:p>
        </p:txBody>
      </p:sp>
      <p:sp>
        <p:nvSpPr>
          <p:cNvPr id="22" name="Text 19"/>
          <p:cNvSpPr/>
          <p:nvPr/>
        </p:nvSpPr>
        <p:spPr>
          <a:xfrm>
            <a:off x="464344" y="4571963"/>
            <a:ext cx="6500813" cy="297135"/>
          </a:xfrm>
          <a:prstGeom prst="rect">
            <a:avLst/>
          </a:prstGeom>
          <a:noFill/>
          <a:ln/>
        </p:spPr>
        <p:txBody>
          <a:bodyPr wrap="square" lIns="0" tIns="0" rIns="0" bIns="0" rtlCol="0" anchor="t">
            <a:spAutoFit/>
          </a:bodyPr>
          <a:lstStyle/>
          <a:p>
            <a:pPr marL="0" indent="0" algn="l">
              <a:lnSpc>
                <a:spcPts val="1200"/>
              </a:lnSpc>
              <a:buNone/>
            </a:pPr>
            <a:r>
              <a:rPr lang="en-US" sz="800" dirty="0">
                <a:solidFill>
                  <a:srgbClr val="E0E0E0"/>
                </a:solidFill>
              </a:rPr>
              <a:t>Disclosure of system users, credentials, and critical security configuration files. This vulnerability was instrumental in escalating the attack surface by revealing the port knocking sequence, which enabled firewall bypass and unauthorized SSH access.</a:t>
            </a:r>
            <a:endParaRPr lang="en-US" sz="800" dirty="0"/>
          </a:p>
        </p:txBody>
      </p:sp>
      <p:pic>
        <p:nvPicPr>
          <p:cNvPr id="23" name="Image 1" descr="preencoded.png"/>
          <p:cNvPicPr>
            <a:picLocks noChangeAspect="1"/>
          </p:cNvPicPr>
          <p:nvPr/>
        </p:nvPicPr>
        <p:blipFill>
          <a:blip r:embed="rId4"/>
          <a:stretch>
            <a:fillRect/>
          </a:stretch>
        </p:blipFill>
        <p:spPr>
          <a:xfrm>
            <a:off x="7429500" y="773311"/>
            <a:ext cx="1285875" cy="1285875"/>
          </a:xfrm>
          <a:prstGeom prst="rect">
            <a:avLst/>
          </a:prstGeom>
        </p:spPr>
      </p:pic>
      <p:sp>
        <p:nvSpPr>
          <p:cNvPr id="24" name="Shape 20"/>
          <p:cNvSpPr/>
          <p:nvPr/>
        </p:nvSpPr>
        <p:spPr>
          <a:xfrm>
            <a:off x="7358063" y="2202061"/>
            <a:ext cx="1428750" cy="471488"/>
          </a:xfrm>
          <a:prstGeom prst="rect">
            <a:avLst/>
          </a:prstGeom>
          <a:solidFill>
            <a:srgbClr val="FF3333"/>
          </a:solidFill>
          <a:ln w="18288">
            <a:solidFill>
              <a:srgbClr val="FF3333"/>
            </a:solidFill>
            <a:prstDash val="solid"/>
          </a:ln>
        </p:spPr>
        <p:txBody>
          <a:bodyPr/>
          <a:lstStyle/>
          <a:p>
            <a:endParaRPr lang="en-US"/>
          </a:p>
        </p:txBody>
      </p:sp>
      <p:sp>
        <p:nvSpPr>
          <p:cNvPr id="25" name="Text 21"/>
          <p:cNvSpPr/>
          <p:nvPr/>
        </p:nvSpPr>
        <p:spPr>
          <a:xfrm>
            <a:off x="7358063" y="2202061"/>
            <a:ext cx="1428750" cy="437043"/>
          </a:xfrm>
          <a:prstGeom prst="rect">
            <a:avLst/>
          </a:prstGeom>
          <a:noFill/>
          <a:ln/>
        </p:spPr>
        <p:txBody>
          <a:bodyPr wrap="square" lIns="170053" tIns="102108" rIns="170053" bIns="102108" rtlCol="0" anchor="t">
            <a:spAutoFit/>
          </a:bodyPr>
          <a:lstStyle/>
          <a:p>
            <a:pPr marL="0" indent="0" algn="ctr">
              <a:lnSpc>
                <a:spcPts val="900"/>
              </a:lnSpc>
              <a:buNone/>
            </a:pPr>
            <a:r>
              <a:rPr lang="en-US" sz="800" b="1" kern="0" spc="1" dirty="0">
                <a:solidFill>
                  <a:srgbClr val="1A1A1A"/>
                </a:solidFill>
              </a:rPr>
              <a:t>SEVERITY
HIGH</a:t>
            </a:r>
            <a:endParaRPr lang="en-US" sz="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
            <a:ext cx="9144000" cy="5143500"/>
          </a:xfrm>
          <a:prstGeom prst="rect">
            <a:avLst/>
          </a:prstGeom>
        </p:spPr>
      </p:pic>
      <p:sp>
        <p:nvSpPr>
          <p:cNvPr id="3" name="Text 0"/>
          <p:cNvSpPr/>
          <p:nvPr/>
        </p:nvSpPr>
        <p:spPr>
          <a:xfrm>
            <a:off x="345245" y="122709"/>
            <a:ext cx="8429625" cy="273248"/>
          </a:xfrm>
          <a:prstGeom prst="rect">
            <a:avLst/>
          </a:prstGeom>
          <a:noFill/>
          <a:ln/>
        </p:spPr>
        <p:txBody>
          <a:bodyPr wrap="none" lIns="0" tIns="0" rIns="0" bIns="0" rtlCol="0" anchor="t">
            <a:spAutoFit/>
          </a:bodyPr>
          <a:lstStyle/>
          <a:p>
            <a:pPr marL="0" indent="0" algn="l">
              <a:lnSpc>
                <a:spcPts val="1900"/>
              </a:lnSpc>
              <a:buNone/>
            </a:pPr>
            <a:r>
              <a:rPr lang="en-US" sz="1397" b="1" kern="0" spc="2" dirty="0">
                <a:solidFill>
                  <a:srgbClr val="00FF41"/>
                </a:solidFill>
              </a:rPr>
              <a:t>► FINDINGS 3.3 &amp; 3.4: CONFIGURATION AND CREDENTIAL WEAKNESSES</a:t>
            </a:r>
            <a:endParaRPr lang="en-US" sz="1397" dirty="0"/>
          </a:p>
        </p:txBody>
      </p:sp>
      <p:sp>
        <p:nvSpPr>
          <p:cNvPr id="4" name="Shape 1"/>
          <p:cNvSpPr/>
          <p:nvPr/>
        </p:nvSpPr>
        <p:spPr>
          <a:xfrm>
            <a:off x="345245" y="412161"/>
            <a:ext cx="3214688" cy="2224263"/>
          </a:xfrm>
          <a:prstGeom prst="rect">
            <a:avLst/>
          </a:prstGeom>
          <a:solidFill>
            <a:srgbClr val="00FF41">
              <a:alpha val="5000"/>
            </a:srgbClr>
          </a:solidFill>
          <a:ln w="18288">
            <a:solidFill>
              <a:srgbClr val="00FF41"/>
            </a:solidFill>
            <a:prstDash val="solid"/>
          </a:ln>
        </p:spPr>
        <p:txBody>
          <a:bodyPr/>
          <a:lstStyle/>
          <a:p>
            <a:endParaRPr lang="en-US"/>
          </a:p>
        </p:txBody>
      </p:sp>
      <p:sp>
        <p:nvSpPr>
          <p:cNvPr id="5" name="Text 2"/>
          <p:cNvSpPr/>
          <p:nvPr/>
        </p:nvSpPr>
        <p:spPr>
          <a:xfrm>
            <a:off x="488120" y="555036"/>
            <a:ext cx="957313" cy="117596"/>
          </a:xfrm>
          <a:prstGeom prst="rect">
            <a:avLst/>
          </a:prstGeom>
          <a:noFill/>
          <a:ln/>
        </p:spPr>
        <p:txBody>
          <a:bodyPr wrap="none" lIns="0" tIns="0" rIns="0" bIns="0" rtlCol="0" anchor="t">
            <a:spAutoFit/>
          </a:bodyPr>
          <a:lstStyle/>
          <a:p>
            <a:pPr marL="0" indent="0" algn="l">
              <a:lnSpc>
                <a:spcPts val="800"/>
              </a:lnSpc>
              <a:buNone/>
            </a:pPr>
            <a:r>
              <a:rPr lang="en-US" sz="1200" b="1" kern="0" spc="1" dirty="0">
                <a:solidFill>
                  <a:srgbClr val="FF3333"/>
                </a:solidFill>
              </a:rPr>
              <a:t>[ FINDING 3.3 ]</a:t>
            </a:r>
            <a:endParaRPr lang="en-US" sz="1200" dirty="0"/>
          </a:p>
        </p:txBody>
      </p:sp>
      <p:sp>
        <p:nvSpPr>
          <p:cNvPr id="6" name="Text 3"/>
          <p:cNvSpPr/>
          <p:nvPr/>
        </p:nvSpPr>
        <p:spPr>
          <a:xfrm>
            <a:off x="488120" y="756847"/>
            <a:ext cx="2212144" cy="130036"/>
          </a:xfrm>
          <a:prstGeom prst="rect">
            <a:avLst/>
          </a:prstGeom>
          <a:noFill/>
          <a:ln/>
        </p:spPr>
        <p:txBody>
          <a:bodyPr wrap="none" lIns="0" tIns="0" rIns="0" bIns="0" rtlCol="0" anchor="t">
            <a:spAutoFit/>
          </a:bodyPr>
          <a:lstStyle/>
          <a:p>
            <a:pPr marL="0" indent="0" algn="l">
              <a:lnSpc>
                <a:spcPts val="1000"/>
              </a:lnSpc>
              <a:buNone/>
            </a:pPr>
            <a:r>
              <a:rPr lang="en-US" sz="1000" b="1" dirty="0">
                <a:solidFill>
                  <a:srgbClr val="00FF41"/>
                </a:solidFill>
              </a:rPr>
              <a:t>Disclosure of Port Knocking Configuration</a:t>
            </a:r>
            <a:endParaRPr lang="en-US" sz="1000" dirty="0"/>
          </a:p>
        </p:txBody>
      </p:sp>
      <p:sp>
        <p:nvSpPr>
          <p:cNvPr id="7" name="Text 4"/>
          <p:cNvSpPr/>
          <p:nvPr/>
        </p:nvSpPr>
        <p:spPr>
          <a:xfrm>
            <a:off x="488120" y="1029733"/>
            <a:ext cx="645946" cy="101182"/>
          </a:xfrm>
          <a:prstGeom prst="rect">
            <a:avLst/>
          </a:prstGeom>
          <a:noFill/>
          <a:ln/>
        </p:spPr>
        <p:txBody>
          <a:bodyPr wrap="none" lIns="0" tIns="0" rIns="0" bIns="0" rtlCol="0" anchor="t">
            <a:spAutoFit/>
          </a:bodyPr>
          <a:lstStyle/>
          <a:p>
            <a:pPr marL="0" indent="0" algn="l">
              <a:lnSpc>
                <a:spcPts val="700"/>
              </a:lnSpc>
              <a:buNone/>
            </a:pPr>
            <a:r>
              <a:rPr lang="en-US" sz="1000" b="1" kern="0" spc="1" dirty="0">
                <a:solidFill>
                  <a:srgbClr val="FF3333"/>
                </a:solidFill>
              </a:rPr>
              <a:t>Description:</a:t>
            </a:r>
            <a:endParaRPr lang="en-US" sz="1000" dirty="0"/>
          </a:p>
        </p:txBody>
      </p:sp>
      <p:sp>
        <p:nvSpPr>
          <p:cNvPr id="8" name="Text 5"/>
          <p:cNvSpPr/>
          <p:nvPr/>
        </p:nvSpPr>
        <p:spPr>
          <a:xfrm>
            <a:off x="488120" y="1188332"/>
            <a:ext cx="2928938" cy="411463"/>
          </a:xfrm>
          <a:prstGeom prst="rect">
            <a:avLst/>
          </a:prstGeom>
          <a:noFill/>
          <a:ln/>
        </p:spPr>
        <p:txBody>
          <a:bodyPr wrap="square" lIns="102108" tIns="0" rIns="0" bIns="0" rtlCol="0" anchor="t">
            <a:spAutoFit/>
          </a:bodyPr>
          <a:lstStyle/>
          <a:p>
            <a:pPr marL="0" indent="0" algn="l">
              <a:lnSpc>
                <a:spcPts val="1100"/>
              </a:lnSpc>
              <a:buNone/>
            </a:pPr>
            <a:r>
              <a:rPr lang="en-US" sz="800" dirty="0">
                <a:solidFill>
                  <a:srgbClr val="E0E0E0"/>
                </a:solidFill>
              </a:rPr>
              <a:t>/etc/knockd.conf content was exposed via Local File Inclusion vulnerability, revealing the SSH open sequence used for network access control.</a:t>
            </a:r>
            <a:endParaRPr lang="en-US" sz="800" dirty="0"/>
          </a:p>
        </p:txBody>
      </p:sp>
      <p:sp>
        <p:nvSpPr>
          <p:cNvPr id="9" name="Text 6"/>
          <p:cNvSpPr/>
          <p:nvPr/>
        </p:nvSpPr>
        <p:spPr>
          <a:xfrm>
            <a:off x="464337" y="1642179"/>
            <a:ext cx="920701" cy="101182"/>
          </a:xfrm>
          <a:prstGeom prst="rect">
            <a:avLst/>
          </a:prstGeom>
          <a:noFill/>
          <a:ln/>
        </p:spPr>
        <p:txBody>
          <a:bodyPr wrap="none" lIns="0" tIns="0" rIns="0" bIns="0" rtlCol="0" anchor="t">
            <a:spAutoFit/>
          </a:bodyPr>
          <a:lstStyle/>
          <a:p>
            <a:pPr marL="0" indent="0" algn="l">
              <a:lnSpc>
                <a:spcPts val="700"/>
              </a:lnSpc>
              <a:buNone/>
            </a:pPr>
            <a:r>
              <a:rPr lang="en-US" sz="1000" b="1" kern="0" spc="1" dirty="0">
                <a:solidFill>
                  <a:srgbClr val="FF3333"/>
                </a:solidFill>
              </a:rPr>
              <a:t>Potential Impact:</a:t>
            </a:r>
            <a:endParaRPr lang="en-US" sz="1000" dirty="0"/>
          </a:p>
        </p:txBody>
      </p:sp>
      <p:sp>
        <p:nvSpPr>
          <p:cNvPr id="10" name="Text 7"/>
          <p:cNvSpPr/>
          <p:nvPr/>
        </p:nvSpPr>
        <p:spPr>
          <a:xfrm>
            <a:off x="464337" y="1782828"/>
            <a:ext cx="2928938" cy="415050"/>
          </a:xfrm>
          <a:prstGeom prst="rect">
            <a:avLst/>
          </a:prstGeom>
          <a:noFill/>
          <a:ln/>
        </p:spPr>
        <p:txBody>
          <a:bodyPr wrap="square" lIns="102108" tIns="0" rIns="0" bIns="0" rtlCol="0" anchor="t">
            <a:spAutoFit/>
          </a:bodyPr>
          <a:lstStyle/>
          <a:p>
            <a:pPr marL="0" indent="0" algn="l">
              <a:lnSpc>
                <a:spcPts val="1100"/>
              </a:lnSpc>
              <a:buNone/>
            </a:pPr>
            <a:r>
              <a:rPr lang="en-US" sz="800" dirty="0">
                <a:solidFill>
                  <a:srgbClr val="E0E0E0"/>
                </a:solidFill>
              </a:rPr>
              <a:t>Bypass of network filtering and firewall rules, enabling remote SSH access when the knock sequence is executed by unauthorized actors.</a:t>
            </a:r>
            <a:endParaRPr lang="en-US" sz="800" dirty="0"/>
          </a:p>
        </p:txBody>
      </p:sp>
      <p:sp>
        <p:nvSpPr>
          <p:cNvPr id="11" name="Shape 8"/>
          <p:cNvSpPr/>
          <p:nvPr/>
        </p:nvSpPr>
        <p:spPr>
          <a:xfrm>
            <a:off x="452394" y="2224838"/>
            <a:ext cx="2928938" cy="176659"/>
          </a:xfrm>
          <a:prstGeom prst="rect">
            <a:avLst/>
          </a:prstGeom>
          <a:solidFill>
            <a:srgbClr val="FF3333">
              <a:alpha val="20000"/>
            </a:srgbClr>
          </a:solidFill>
          <a:ln/>
        </p:spPr>
        <p:txBody>
          <a:bodyPr/>
          <a:lstStyle/>
          <a:p>
            <a:endParaRPr lang="en-US"/>
          </a:p>
        </p:txBody>
      </p:sp>
      <p:sp>
        <p:nvSpPr>
          <p:cNvPr id="12" name="Text 9"/>
          <p:cNvSpPr/>
          <p:nvPr/>
        </p:nvSpPr>
        <p:spPr>
          <a:xfrm>
            <a:off x="464337" y="2255200"/>
            <a:ext cx="2928938" cy="171450"/>
          </a:xfrm>
          <a:prstGeom prst="rect">
            <a:avLst/>
          </a:prstGeom>
          <a:noFill/>
          <a:ln/>
        </p:spPr>
        <p:txBody>
          <a:bodyPr wrap="square" lIns="68072" tIns="34036" rIns="68072" bIns="34036" rtlCol="0" anchor="t">
            <a:spAutoFit/>
          </a:bodyPr>
          <a:lstStyle/>
          <a:p>
            <a:pPr marL="0" indent="0" algn="l">
              <a:lnSpc>
                <a:spcPts val="700"/>
              </a:lnSpc>
              <a:buNone/>
            </a:pPr>
            <a:r>
              <a:rPr lang="en-US" sz="1000" b="1" kern="0" spc="1" dirty="0">
                <a:solidFill>
                  <a:srgbClr val="FF3333"/>
                </a:solidFill>
              </a:rPr>
              <a:t>⚠ HIGH SEVERITY</a:t>
            </a:r>
            <a:endParaRPr lang="en-US" sz="1000" dirty="0"/>
          </a:p>
        </p:txBody>
      </p:sp>
      <p:sp>
        <p:nvSpPr>
          <p:cNvPr id="13" name="Shape 10"/>
          <p:cNvSpPr/>
          <p:nvPr/>
        </p:nvSpPr>
        <p:spPr>
          <a:xfrm>
            <a:off x="345245" y="2759134"/>
            <a:ext cx="3214688" cy="2261657"/>
          </a:xfrm>
          <a:prstGeom prst="rect">
            <a:avLst/>
          </a:prstGeom>
          <a:solidFill>
            <a:srgbClr val="00FF41">
              <a:alpha val="5000"/>
            </a:srgbClr>
          </a:solidFill>
          <a:ln w="18288">
            <a:solidFill>
              <a:srgbClr val="00FF41"/>
            </a:solidFill>
            <a:prstDash val="solid"/>
          </a:ln>
        </p:spPr>
        <p:txBody>
          <a:bodyPr/>
          <a:lstStyle/>
          <a:p>
            <a:endParaRPr lang="en-US"/>
          </a:p>
        </p:txBody>
      </p:sp>
      <p:sp>
        <p:nvSpPr>
          <p:cNvPr id="14" name="Text 11"/>
          <p:cNvSpPr/>
          <p:nvPr/>
        </p:nvSpPr>
        <p:spPr>
          <a:xfrm>
            <a:off x="488120" y="2902009"/>
            <a:ext cx="957313" cy="117596"/>
          </a:xfrm>
          <a:prstGeom prst="rect">
            <a:avLst/>
          </a:prstGeom>
          <a:noFill/>
          <a:ln/>
        </p:spPr>
        <p:txBody>
          <a:bodyPr wrap="square" lIns="0" tIns="0" rIns="0" bIns="0" rtlCol="0" anchor="t">
            <a:spAutoFit/>
          </a:bodyPr>
          <a:lstStyle/>
          <a:p>
            <a:pPr marL="0" indent="0" algn="l">
              <a:lnSpc>
                <a:spcPts val="800"/>
              </a:lnSpc>
              <a:buNone/>
            </a:pPr>
            <a:r>
              <a:rPr lang="en-US" sz="1200" b="1" kern="0" spc="1" dirty="0">
                <a:solidFill>
                  <a:srgbClr val="FF3333"/>
                </a:solidFill>
              </a:rPr>
              <a:t>[ FINDING 3.4 ]</a:t>
            </a:r>
            <a:endParaRPr lang="en-US" sz="1200" dirty="0"/>
          </a:p>
        </p:txBody>
      </p:sp>
      <p:sp>
        <p:nvSpPr>
          <p:cNvPr id="15" name="Text 12"/>
          <p:cNvSpPr/>
          <p:nvPr/>
        </p:nvSpPr>
        <p:spPr>
          <a:xfrm>
            <a:off x="488120" y="3103820"/>
            <a:ext cx="2329164" cy="130036"/>
          </a:xfrm>
          <a:prstGeom prst="rect">
            <a:avLst/>
          </a:prstGeom>
          <a:noFill/>
          <a:ln/>
        </p:spPr>
        <p:txBody>
          <a:bodyPr wrap="square" lIns="0" tIns="0" rIns="0" bIns="0" rtlCol="0" anchor="t">
            <a:spAutoFit/>
          </a:bodyPr>
          <a:lstStyle/>
          <a:p>
            <a:pPr marL="0" indent="0" algn="l">
              <a:lnSpc>
                <a:spcPts val="1000"/>
              </a:lnSpc>
              <a:buNone/>
            </a:pPr>
            <a:r>
              <a:rPr lang="en-US" sz="1000" b="1" dirty="0">
                <a:solidFill>
                  <a:srgbClr val="00FF41"/>
                </a:solidFill>
              </a:rPr>
              <a:t>Weak Password Storage &amp; Credential Reuse</a:t>
            </a:r>
            <a:endParaRPr lang="en-US" sz="1000" dirty="0"/>
          </a:p>
        </p:txBody>
      </p:sp>
      <p:sp>
        <p:nvSpPr>
          <p:cNvPr id="16" name="Text 13"/>
          <p:cNvSpPr/>
          <p:nvPr/>
        </p:nvSpPr>
        <p:spPr>
          <a:xfrm>
            <a:off x="488120" y="3376706"/>
            <a:ext cx="645946" cy="101182"/>
          </a:xfrm>
          <a:prstGeom prst="rect">
            <a:avLst/>
          </a:prstGeom>
          <a:noFill/>
          <a:ln/>
        </p:spPr>
        <p:txBody>
          <a:bodyPr wrap="square" lIns="0" tIns="0" rIns="0" bIns="0" rtlCol="0" anchor="t">
            <a:spAutoFit/>
          </a:bodyPr>
          <a:lstStyle/>
          <a:p>
            <a:pPr marL="0" indent="0" algn="l">
              <a:lnSpc>
                <a:spcPts val="700"/>
              </a:lnSpc>
              <a:buNone/>
            </a:pPr>
            <a:r>
              <a:rPr lang="en-US" sz="1000" b="1" kern="0" spc="1" dirty="0">
                <a:solidFill>
                  <a:srgbClr val="FF3333"/>
                </a:solidFill>
              </a:rPr>
              <a:t>Description:</a:t>
            </a:r>
            <a:endParaRPr lang="en-US" sz="1000" dirty="0"/>
          </a:p>
        </p:txBody>
      </p:sp>
      <p:sp>
        <p:nvSpPr>
          <p:cNvPr id="17" name="Text 14"/>
          <p:cNvSpPr/>
          <p:nvPr/>
        </p:nvSpPr>
        <p:spPr>
          <a:xfrm>
            <a:off x="488120" y="3511228"/>
            <a:ext cx="2928938" cy="415050"/>
          </a:xfrm>
          <a:prstGeom prst="rect">
            <a:avLst/>
          </a:prstGeom>
          <a:noFill/>
          <a:ln/>
        </p:spPr>
        <p:txBody>
          <a:bodyPr wrap="square" lIns="102108" tIns="0" rIns="0" bIns="0" rtlCol="0" anchor="t">
            <a:spAutoFit/>
          </a:bodyPr>
          <a:lstStyle/>
          <a:p>
            <a:pPr marL="0" indent="0" algn="l">
              <a:lnSpc>
                <a:spcPts val="1100"/>
              </a:lnSpc>
              <a:buNone/>
            </a:pPr>
            <a:r>
              <a:rPr lang="en-US" sz="800" dirty="0">
                <a:solidFill>
                  <a:srgbClr val="E0E0E0"/>
                </a:solidFill>
              </a:rPr>
              <a:t>Passwords stored in weak formats (plaintext or MD5 hash) and reused across multiple accounts found in database dumps via SQL injection.</a:t>
            </a:r>
            <a:endParaRPr lang="en-US" sz="800" dirty="0"/>
          </a:p>
        </p:txBody>
      </p:sp>
      <p:sp>
        <p:nvSpPr>
          <p:cNvPr id="18" name="Text 15"/>
          <p:cNvSpPr/>
          <p:nvPr/>
        </p:nvSpPr>
        <p:spPr>
          <a:xfrm>
            <a:off x="488120" y="3986771"/>
            <a:ext cx="920701" cy="101182"/>
          </a:xfrm>
          <a:prstGeom prst="rect">
            <a:avLst/>
          </a:prstGeom>
          <a:noFill/>
          <a:ln/>
        </p:spPr>
        <p:txBody>
          <a:bodyPr wrap="square" lIns="0" tIns="0" rIns="0" bIns="0" rtlCol="0" anchor="t">
            <a:spAutoFit/>
          </a:bodyPr>
          <a:lstStyle/>
          <a:p>
            <a:pPr marL="0" indent="0" algn="l">
              <a:lnSpc>
                <a:spcPts val="700"/>
              </a:lnSpc>
              <a:buNone/>
            </a:pPr>
            <a:r>
              <a:rPr lang="en-US" sz="1000" b="1" kern="0" spc="1" dirty="0">
                <a:solidFill>
                  <a:srgbClr val="FF3333"/>
                </a:solidFill>
              </a:rPr>
              <a:t>Potential Impact:</a:t>
            </a:r>
            <a:endParaRPr lang="en-US" sz="1000" dirty="0"/>
          </a:p>
        </p:txBody>
      </p:sp>
      <p:sp>
        <p:nvSpPr>
          <p:cNvPr id="19" name="Text 16"/>
          <p:cNvSpPr/>
          <p:nvPr/>
        </p:nvSpPr>
        <p:spPr>
          <a:xfrm>
            <a:off x="500063" y="4122609"/>
            <a:ext cx="2928938" cy="415050"/>
          </a:xfrm>
          <a:prstGeom prst="rect">
            <a:avLst/>
          </a:prstGeom>
          <a:noFill/>
          <a:ln/>
        </p:spPr>
        <p:txBody>
          <a:bodyPr wrap="square" lIns="102108" tIns="0" rIns="0" bIns="0" rtlCol="0" anchor="t">
            <a:spAutoFit/>
          </a:bodyPr>
          <a:lstStyle/>
          <a:p>
            <a:pPr marL="0" indent="0" algn="l">
              <a:lnSpc>
                <a:spcPts val="1100"/>
              </a:lnSpc>
              <a:buNone/>
            </a:pPr>
            <a:r>
              <a:rPr lang="en-US" sz="800" dirty="0">
                <a:solidFill>
                  <a:srgbClr val="E0E0E0"/>
                </a:solidFill>
              </a:rPr>
              <a:t>Easy hash cracking via online tools (PoC with CrackStation demonstrated), credential reuse across services leading to unauthorized access.</a:t>
            </a:r>
            <a:endParaRPr lang="en-US" sz="800" dirty="0"/>
          </a:p>
        </p:txBody>
      </p:sp>
      <p:sp>
        <p:nvSpPr>
          <p:cNvPr id="20" name="Shape 17"/>
          <p:cNvSpPr/>
          <p:nvPr/>
        </p:nvSpPr>
        <p:spPr>
          <a:xfrm>
            <a:off x="454897" y="4588464"/>
            <a:ext cx="2928938" cy="182409"/>
          </a:xfrm>
          <a:prstGeom prst="rect">
            <a:avLst/>
          </a:prstGeom>
          <a:solidFill>
            <a:srgbClr val="FF3333">
              <a:alpha val="20000"/>
            </a:srgbClr>
          </a:solidFill>
          <a:ln/>
        </p:spPr>
        <p:txBody>
          <a:bodyPr/>
          <a:lstStyle/>
          <a:p>
            <a:endParaRPr lang="en-US" sz="1000"/>
          </a:p>
        </p:txBody>
      </p:sp>
      <p:sp>
        <p:nvSpPr>
          <p:cNvPr id="21" name="Text 18"/>
          <p:cNvSpPr/>
          <p:nvPr/>
        </p:nvSpPr>
        <p:spPr>
          <a:xfrm>
            <a:off x="454897" y="4600955"/>
            <a:ext cx="2928938" cy="169918"/>
          </a:xfrm>
          <a:prstGeom prst="rect">
            <a:avLst/>
          </a:prstGeom>
          <a:noFill/>
          <a:ln/>
        </p:spPr>
        <p:txBody>
          <a:bodyPr wrap="square" lIns="68072" tIns="34036" rIns="68072" bIns="34036" rtlCol="0" anchor="t">
            <a:spAutoFit/>
          </a:bodyPr>
          <a:lstStyle/>
          <a:p>
            <a:pPr marL="0" indent="0" algn="l">
              <a:lnSpc>
                <a:spcPts val="700"/>
              </a:lnSpc>
              <a:buNone/>
            </a:pPr>
            <a:r>
              <a:rPr lang="en-US" sz="1000" b="1" kern="0" spc="1" dirty="0">
                <a:solidFill>
                  <a:srgbClr val="FF3333"/>
                </a:solidFill>
              </a:rPr>
              <a:t>⚠ HIGH SEVERITY</a:t>
            </a:r>
            <a:endParaRPr lang="en-US" sz="1000" dirty="0"/>
          </a:p>
        </p:txBody>
      </p:sp>
      <p:pic>
        <p:nvPicPr>
          <p:cNvPr id="22" name="Image 1" descr="preencoded.png"/>
          <p:cNvPicPr>
            <a:picLocks noChangeAspect="1"/>
          </p:cNvPicPr>
          <p:nvPr/>
        </p:nvPicPr>
        <p:blipFill>
          <a:blip r:embed="rId4"/>
          <a:stretch>
            <a:fillRect/>
          </a:stretch>
        </p:blipFill>
        <p:spPr>
          <a:xfrm>
            <a:off x="3857611" y="595089"/>
            <a:ext cx="4929188" cy="3571875"/>
          </a:xfrm>
          <a:prstGeom prst="rect">
            <a:avLst/>
          </a:prstGeom>
        </p:spPr>
      </p:pic>
      <p:sp>
        <p:nvSpPr>
          <p:cNvPr id="23" name="Text 19"/>
          <p:cNvSpPr/>
          <p:nvPr/>
        </p:nvSpPr>
        <p:spPr>
          <a:xfrm>
            <a:off x="5582483" y="4340721"/>
            <a:ext cx="1479444" cy="110800"/>
          </a:xfrm>
          <a:prstGeom prst="rect">
            <a:avLst/>
          </a:prstGeom>
          <a:noFill/>
          <a:ln/>
        </p:spPr>
        <p:txBody>
          <a:bodyPr wrap="none" lIns="0" tIns="0" rIns="0" bIns="0" rtlCol="0" anchor="t">
            <a:spAutoFit/>
          </a:bodyPr>
          <a:lstStyle/>
          <a:p>
            <a:pPr marL="0" indent="0" algn="ctr">
              <a:lnSpc>
                <a:spcPts val="800"/>
              </a:lnSpc>
              <a:buNone/>
            </a:pPr>
            <a:r>
              <a:rPr lang="en-US" sz="1000" kern="0" spc="1" dirty="0">
                <a:solidFill>
                  <a:srgbClr val="00FF41"/>
                </a:solidFill>
              </a:rPr>
              <a:t>BUSINESS IMPACT ANALYSIS</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70194" cy="5143500"/>
          </a:xfrm>
          <a:prstGeom prst="rect">
            <a:avLst/>
          </a:prstGeom>
        </p:spPr>
      </p:pic>
      <p:sp>
        <p:nvSpPr>
          <p:cNvPr id="3" name="Text 0"/>
          <p:cNvSpPr/>
          <p:nvPr/>
        </p:nvSpPr>
        <p:spPr>
          <a:xfrm>
            <a:off x="357188" y="285750"/>
            <a:ext cx="8429625" cy="562570"/>
          </a:xfrm>
          <a:prstGeom prst="rect">
            <a:avLst/>
          </a:prstGeom>
          <a:noFill/>
          <a:ln/>
        </p:spPr>
        <p:txBody>
          <a:bodyPr wrap="square" lIns="0" tIns="0" rIns="0" bIns="0" rtlCol="0" anchor="t">
            <a:spAutoFit/>
          </a:bodyPr>
          <a:lstStyle/>
          <a:p>
            <a:pPr marL="0" indent="0" algn="l">
              <a:lnSpc>
                <a:spcPts val="1900"/>
              </a:lnSpc>
              <a:buNone/>
            </a:pPr>
            <a:r>
              <a:rPr lang="en-US" sz="1397" b="1" kern="0" spc="2" dirty="0">
                <a:solidFill>
                  <a:srgbClr val="FF3333"/>
                </a:solidFill>
              </a:rPr>
              <a:t>⚠ FINDING 3.6: CRITICAL SUDO MISCONFIGURATION FOR PRIVILEGE ESCALATION</a:t>
            </a:r>
            <a:endParaRPr lang="en-US" sz="1397" dirty="0"/>
          </a:p>
        </p:txBody>
      </p:sp>
      <p:sp>
        <p:nvSpPr>
          <p:cNvPr id="4" name="Shape 1"/>
          <p:cNvSpPr/>
          <p:nvPr/>
        </p:nvSpPr>
        <p:spPr>
          <a:xfrm>
            <a:off x="321469" y="669573"/>
            <a:ext cx="5643563" cy="928994"/>
          </a:xfrm>
          <a:prstGeom prst="rect">
            <a:avLst/>
          </a:prstGeom>
          <a:solidFill>
            <a:srgbClr val="FF3333">
              <a:alpha val="5000"/>
            </a:srgbClr>
          </a:solidFill>
          <a:ln/>
        </p:spPr>
        <p:txBody>
          <a:bodyPr/>
          <a:lstStyle/>
          <a:p>
            <a:endParaRPr lang="en-US"/>
          </a:p>
        </p:txBody>
      </p:sp>
      <p:sp>
        <p:nvSpPr>
          <p:cNvPr id="5" name="Shape 2"/>
          <p:cNvSpPr/>
          <p:nvPr/>
        </p:nvSpPr>
        <p:spPr>
          <a:xfrm>
            <a:off x="321469" y="669573"/>
            <a:ext cx="21431" cy="928994"/>
          </a:xfrm>
          <a:prstGeom prst="rect">
            <a:avLst/>
          </a:prstGeom>
          <a:solidFill>
            <a:srgbClr val="FF3333"/>
          </a:solidFill>
          <a:ln/>
        </p:spPr>
        <p:txBody>
          <a:bodyPr/>
          <a:lstStyle/>
          <a:p>
            <a:endParaRPr lang="en-US"/>
          </a:p>
        </p:txBody>
      </p:sp>
      <p:sp>
        <p:nvSpPr>
          <p:cNvPr id="6" name="Text 3"/>
          <p:cNvSpPr/>
          <p:nvPr/>
        </p:nvSpPr>
        <p:spPr>
          <a:xfrm>
            <a:off x="464344" y="798160"/>
            <a:ext cx="1723742" cy="120418"/>
          </a:xfrm>
          <a:prstGeom prst="rect">
            <a:avLst/>
          </a:prstGeom>
          <a:noFill/>
          <a:ln/>
        </p:spPr>
        <p:txBody>
          <a:bodyPr wrap="none" lIns="0" tIns="0" rIns="0" bIns="0" rtlCol="0" anchor="t">
            <a:spAutoFit/>
          </a:bodyPr>
          <a:lstStyle/>
          <a:p>
            <a:pPr marL="0" indent="0" algn="l">
              <a:lnSpc>
                <a:spcPts val="900"/>
              </a:lnSpc>
              <a:buNone/>
            </a:pPr>
            <a:r>
              <a:rPr lang="en-US" sz="1000" b="1" kern="0" spc="1" dirty="0">
                <a:solidFill>
                  <a:srgbClr val="FF3333"/>
                </a:solidFill>
              </a:rPr>
              <a:t>[ VULNERABILITY DESCRIPTION ]</a:t>
            </a:r>
            <a:endParaRPr lang="en-US" sz="1000" dirty="0"/>
          </a:p>
        </p:txBody>
      </p:sp>
      <p:sp>
        <p:nvSpPr>
          <p:cNvPr id="7" name="Text 4"/>
          <p:cNvSpPr/>
          <p:nvPr/>
        </p:nvSpPr>
        <p:spPr>
          <a:xfrm>
            <a:off x="464344" y="996399"/>
            <a:ext cx="5357813" cy="450316"/>
          </a:xfrm>
          <a:prstGeom prst="rect">
            <a:avLst/>
          </a:prstGeom>
          <a:noFill/>
          <a:ln/>
        </p:spPr>
        <p:txBody>
          <a:bodyPr wrap="square" lIns="0" tIns="0" rIns="0" bIns="0" rtlCol="0" anchor="t">
            <a:spAutoFit/>
          </a:bodyPr>
          <a:lstStyle/>
          <a:p>
            <a:pPr marL="0" indent="0" algn="l">
              <a:lnSpc>
                <a:spcPts val="1200"/>
              </a:lnSpc>
              <a:buNone/>
            </a:pPr>
            <a:r>
              <a:rPr lang="en-US" sz="800" dirty="0">
                <a:solidFill>
                  <a:srgbClr val="E0E0E0"/>
                </a:solidFill>
              </a:rPr>
              <a:t>A sudoers entry permitted a non-privileged user to run a binary as root without requiring a password (NOPASSWD). This misconfiguration creates a direct privilege escalation vector allowing any authenticated user to execute arbitrary commands with root privileges.</a:t>
            </a:r>
            <a:endParaRPr lang="en-US" sz="800" dirty="0"/>
          </a:p>
        </p:txBody>
      </p:sp>
      <p:sp>
        <p:nvSpPr>
          <p:cNvPr id="8" name="Shape 5"/>
          <p:cNvSpPr/>
          <p:nvPr/>
        </p:nvSpPr>
        <p:spPr>
          <a:xfrm>
            <a:off x="321469" y="1683567"/>
            <a:ext cx="5643563" cy="1001883"/>
          </a:xfrm>
          <a:prstGeom prst="rect">
            <a:avLst/>
          </a:prstGeom>
          <a:solidFill>
            <a:srgbClr val="FF3333">
              <a:alpha val="5000"/>
            </a:srgbClr>
          </a:solidFill>
          <a:ln/>
        </p:spPr>
        <p:txBody>
          <a:bodyPr/>
          <a:lstStyle/>
          <a:p>
            <a:endParaRPr lang="en-US"/>
          </a:p>
        </p:txBody>
      </p:sp>
      <p:sp>
        <p:nvSpPr>
          <p:cNvPr id="9" name="Shape 6"/>
          <p:cNvSpPr/>
          <p:nvPr/>
        </p:nvSpPr>
        <p:spPr>
          <a:xfrm>
            <a:off x="321469" y="1683567"/>
            <a:ext cx="21431" cy="1001883"/>
          </a:xfrm>
          <a:prstGeom prst="rect">
            <a:avLst/>
          </a:prstGeom>
          <a:solidFill>
            <a:srgbClr val="FF3333"/>
          </a:solidFill>
          <a:ln/>
        </p:spPr>
        <p:txBody>
          <a:bodyPr/>
          <a:lstStyle/>
          <a:p>
            <a:endParaRPr lang="en-US"/>
          </a:p>
        </p:txBody>
      </p:sp>
      <p:sp>
        <p:nvSpPr>
          <p:cNvPr id="10" name="Text 7"/>
          <p:cNvSpPr/>
          <p:nvPr/>
        </p:nvSpPr>
        <p:spPr>
          <a:xfrm>
            <a:off x="464344" y="1812155"/>
            <a:ext cx="1196931" cy="120418"/>
          </a:xfrm>
          <a:prstGeom prst="rect">
            <a:avLst/>
          </a:prstGeom>
          <a:noFill/>
          <a:ln/>
        </p:spPr>
        <p:txBody>
          <a:bodyPr wrap="none" lIns="0" tIns="0" rIns="0" bIns="0" rtlCol="0" anchor="t">
            <a:spAutoFit/>
          </a:bodyPr>
          <a:lstStyle/>
          <a:p>
            <a:pPr marL="0" indent="0" algn="l">
              <a:lnSpc>
                <a:spcPts val="900"/>
              </a:lnSpc>
              <a:buNone/>
            </a:pPr>
            <a:r>
              <a:rPr lang="en-US" sz="1000" b="1" kern="0" spc="1" dirty="0">
                <a:solidFill>
                  <a:srgbClr val="FF3333"/>
                </a:solidFill>
              </a:rPr>
              <a:t>[ TECHNICAL DETAILS ]</a:t>
            </a:r>
            <a:endParaRPr lang="en-US" sz="1000" dirty="0"/>
          </a:p>
        </p:txBody>
      </p:sp>
      <p:sp>
        <p:nvSpPr>
          <p:cNvPr id="11" name="Text 8"/>
          <p:cNvSpPr/>
          <p:nvPr/>
        </p:nvSpPr>
        <p:spPr>
          <a:xfrm>
            <a:off x="464344" y="2024681"/>
            <a:ext cx="3464090" cy="142540"/>
          </a:xfrm>
          <a:prstGeom prst="rect">
            <a:avLst/>
          </a:prstGeom>
          <a:noFill/>
          <a:ln/>
        </p:spPr>
        <p:txBody>
          <a:bodyPr wrap="none" lIns="0" tIns="0" rIns="0" bIns="0" rtlCol="0" anchor="t">
            <a:spAutoFit/>
          </a:bodyPr>
          <a:lstStyle/>
          <a:p>
            <a:pPr marL="0" indent="0" algn="l">
              <a:lnSpc>
                <a:spcPts val="1200"/>
              </a:lnSpc>
              <a:buNone/>
            </a:pPr>
            <a:r>
              <a:rPr lang="en-US" sz="800" dirty="0">
                <a:solidFill>
                  <a:srgbClr val="E0E0E0"/>
                </a:solidFill>
              </a:rPr>
              <a:t>Sudoers configuration allowed execution as root without password authentication:</a:t>
            </a:r>
            <a:endParaRPr lang="en-US" sz="800" dirty="0"/>
          </a:p>
        </p:txBody>
      </p:sp>
      <p:sp>
        <p:nvSpPr>
          <p:cNvPr id="12" name="Shape 9"/>
          <p:cNvSpPr/>
          <p:nvPr/>
        </p:nvSpPr>
        <p:spPr>
          <a:xfrm>
            <a:off x="464343" y="2258639"/>
            <a:ext cx="5357813" cy="317171"/>
          </a:xfrm>
          <a:prstGeom prst="rect">
            <a:avLst/>
          </a:prstGeom>
          <a:solidFill>
            <a:srgbClr val="00FF41">
              <a:alpha val="8000"/>
            </a:srgbClr>
          </a:solidFill>
          <a:ln/>
        </p:spPr>
        <p:txBody>
          <a:bodyPr/>
          <a:lstStyle/>
          <a:p>
            <a:endParaRPr lang="en-US"/>
          </a:p>
        </p:txBody>
      </p:sp>
      <p:sp>
        <p:nvSpPr>
          <p:cNvPr id="13" name="Shape 10"/>
          <p:cNvSpPr/>
          <p:nvPr/>
        </p:nvSpPr>
        <p:spPr>
          <a:xfrm>
            <a:off x="452438" y="2250095"/>
            <a:ext cx="14288" cy="317171"/>
          </a:xfrm>
          <a:prstGeom prst="rect">
            <a:avLst/>
          </a:prstGeom>
          <a:solidFill>
            <a:srgbClr val="00FF41"/>
          </a:solidFill>
          <a:ln/>
        </p:spPr>
        <p:txBody>
          <a:bodyPr/>
          <a:lstStyle/>
          <a:p>
            <a:endParaRPr lang="en-US"/>
          </a:p>
        </p:txBody>
      </p:sp>
      <p:sp>
        <p:nvSpPr>
          <p:cNvPr id="14" name="Text 11"/>
          <p:cNvSpPr/>
          <p:nvPr/>
        </p:nvSpPr>
        <p:spPr>
          <a:xfrm>
            <a:off x="464344" y="2239691"/>
            <a:ext cx="5357813" cy="339132"/>
          </a:xfrm>
          <a:prstGeom prst="rect">
            <a:avLst/>
          </a:prstGeom>
          <a:noFill/>
          <a:ln/>
        </p:spPr>
        <p:txBody>
          <a:bodyPr wrap="square" lIns="127508" tIns="102108" rIns="127508" bIns="102108" rtlCol="0" anchor="t">
            <a:spAutoFit/>
          </a:bodyPr>
          <a:lstStyle/>
          <a:p>
            <a:pPr marL="0" indent="0" algn="l">
              <a:lnSpc>
                <a:spcPts val="1100"/>
              </a:lnSpc>
              <a:buNone/>
            </a:pPr>
            <a:r>
              <a:rPr lang="en-US" sz="800" b="1" dirty="0">
                <a:solidFill>
                  <a:srgbClr val="00FF41"/>
                </a:solidFill>
              </a:rPr>
              <a:t>user ALL=(root) NOPASSWD: /path/to/binary</a:t>
            </a:r>
            <a:endParaRPr lang="en-US" sz="800" dirty="0"/>
          </a:p>
        </p:txBody>
      </p:sp>
      <p:sp>
        <p:nvSpPr>
          <p:cNvPr id="15" name="Shape 12"/>
          <p:cNvSpPr/>
          <p:nvPr/>
        </p:nvSpPr>
        <p:spPr>
          <a:xfrm>
            <a:off x="317044" y="2801967"/>
            <a:ext cx="5643563" cy="1512605"/>
          </a:xfrm>
          <a:prstGeom prst="rect">
            <a:avLst/>
          </a:prstGeom>
          <a:solidFill>
            <a:srgbClr val="FF3333">
              <a:alpha val="5000"/>
            </a:srgbClr>
          </a:solidFill>
          <a:ln/>
        </p:spPr>
        <p:txBody>
          <a:bodyPr/>
          <a:lstStyle/>
          <a:p>
            <a:endParaRPr lang="en-US"/>
          </a:p>
        </p:txBody>
      </p:sp>
      <p:sp>
        <p:nvSpPr>
          <p:cNvPr id="16" name="Shape 13"/>
          <p:cNvSpPr/>
          <p:nvPr/>
        </p:nvSpPr>
        <p:spPr>
          <a:xfrm>
            <a:off x="317044" y="2801967"/>
            <a:ext cx="21431" cy="1512605"/>
          </a:xfrm>
          <a:prstGeom prst="rect">
            <a:avLst/>
          </a:prstGeom>
          <a:solidFill>
            <a:srgbClr val="FF3333"/>
          </a:solidFill>
          <a:ln/>
        </p:spPr>
        <p:txBody>
          <a:bodyPr/>
          <a:lstStyle/>
          <a:p>
            <a:endParaRPr lang="en-US"/>
          </a:p>
        </p:txBody>
      </p:sp>
      <p:sp>
        <p:nvSpPr>
          <p:cNvPr id="17" name="Text 14"/>
          <p:cNvSpPr/>
          <p:nvPr/>
        </p:nvSpPr>
        <p:spPr>
          <a:xfrm>
            <a:off x="459919" y="2930554"/>
            <a:ext cx="1191993" cy="120418"/>
          </a:xfrm>
          <a:prstGeom prst="rect">
            <a:avLst/>
          </a:prstGeom>
          <a:noFill/>
          <a:ln/>
        </p:spPr>
        <p:txBody>
          <a:bodyPr wrap="none" lIns="0" tIns="0" rIns="0" bIns="0" rtlCol="0" anchor="t">
            <a:spAutoFit/>
          </a:bodyPr>
          <a:lstStyle/>
          <a:p>
            <a:pPr marL="0" indent="0" algn="l">
              <a:lnSpc>
                <a:spcPts val="900"/>
              </a:lnSpc>
              <a:buNone/>
            </a:pPr>
            <a:r>
              <a:rPr lang="en-US" sz="1000" b="1" kern="0" spc="1" dirty="0">
                <a:solidFill>
                  <a:srgbClr val="FF3333"/>
                </a:solidFill>
              </a:rPr>
              <a:t>[ POTENTIAL IMPACT ]</a:t>
            </a:r>
            <a:endParaRPr lang="en-US" sz="1000" dirty="0"/>
          </a:p>
        </p:txBody>
      </p:sp>
      <p:sp>
        <p:nvSpPr>
          <p:cNvPr id="18" name="Text 15"/>
          <p:cNvSpPr/>
          <p:nvPr/>
        </p:nvSpPr>
        <p:spPr>
          <a:xfrm>
            <a:off x="459919" y="3128793"/>
            <a:ext cx="1816395" cy="142540"/>
          </a:xfrm>
          <a:prstGeom prst="rect">
            <a:avLst/>
          </a:prstGeom>
          <a:noFill/>
          <a:ln/>
        </p:spPr>
        <p:txBody>
          <a:bodyPr wrap="none" lIns="170053" tIns="0" rIns="0" bIns="0" rtlCol="0" anchor="t">
            <a:spAutoFit/>
          </a:bodyPr>
          <a:lstStyle/>
          <a:p>
            <a:pPr marL="0" indent="0" algn="l">
              <a:lnSpc>
                <a:spcPts val="1200"/>
              </a:lnSpc>
              <a:buNone/>
            </a:pPr>
            <a:r>
              <a:rPr lang="en-US" sz="800" dirty="0">
                <a:solidFill>
                  <a:srgbClr val="E0E0E0"/>
                </a:solidFill>
              </a:rPr>
              <a:t>Local privilege escalation to root access</a:t>
            </a:r>
            <a:endParaRPr lang="en-US" sz="800" dirty="0"/>
          </a:p>
        </p:txBody>
      </p:sp>
      <p:sp>
        <p:nvSpPr>
          <p:cNvPr id="19" name="Text 16"/>
          <p:cNvSpPr/>
          <p:nvPr/>
        </p:nvSpPr>
        <p:spPr>
          <a:xfrm>
            <a:off x="459919" y="3340232"/>
            <a:ext cx="1683346" cy="142540"/>
          </a:xfrm>
          <a:prstGeom prst="rect">
            <a:avLst/>
          </a:prstGeom>
          <a:noFill/>
          <a:ln/>
        </p:spPr>
        <p:txBody>
          <a:bodyPr wrap="none" lIns="170053" tIns="0" rIns="0" bIns="0" rtlCol="0" anchor="t">
            <a:spAutoFit/>
          </a:bodyPr>
          <a:lstStyle/>
          <a:p>
            <a:pPr marL="0" indent="0" algn="l">
              <a:lnSpc>
                <a:spcPts val="1200"/>
              </a:lnSpc>
              <a:buNone/>
            </a:pPr>
            <a:r>
              <a:rPr lang="en-US" sz="800" dirty="0">
                <a:solidFill>
                  <a:srgbClr val="E0E0E0"/>
                </a:solidFill>
              </a:rPr>
              <a:t>Full system compromise and control</a:t>
            </a:r>
            <a:endParaRPr lang="en-US" sz="800" dirty="0"/>
          </a:p>
        </p:txBody>
      </p:sp>
      <p:sp>
        <p:nvSpPr>
          <p:cNvPr id="20" name="Text 17"/>
          <p:cNvSpPr/>
          <p:nvPr/>
        </p:nvSpPr>
        <p:spPr>
          <a:xfrm>
            <a:off x="459919" y="3551670"/>
            <a:ext cx="2008755" cy="142540"/>
          </a:xfrm>
          <a:prstGeom prst="rect">
            <a:avLst/>
          </a:prstGeom>
          <a:noFill/>
          <a:ln/>
        </p:spPr>
        <p:txBody>
          <a:bodyPr wrap="none" lIns="170053" tIns="0" rIns="0" bIns="0" rtlCol="0" anchor="t">
            <a:spAutoFit/>
          </a:bodyPr>
          <a:lstStyle/>
          <a:p>
            <a:pPr marL="0" indent="0" algn="l">
              <a:lnSpc>
                <a:spcPts val="1200"/>
              </a:lnSpc>
              <a:buNone/>
            </a:pPr>
            <a:r>
              <a:rPr lang="en-US" sz="800" dirty="0">
                <a:solidFill>
                  <a:srgbClr val="E0E0E0"/>
                </a:solidFill>
              </a:rPr>
              <a:t>Unauthorized access to all system resources</a:t>
            </a:r>
            <a:endParaRPr lang="en-US" sz="800" dirty="0"/>
          </a:p>
        </p:txBody>
      </p:sp>
      <p:sp>
        <p:nvSpPr>
          <p:cNvPr id="21" name="Text 18"/>
          <p:cNvSpPr/>
          <p:nvPr/>
        </p:nvSpPr>
        <p:spPr>
          <a:xfrm>
            <a:off x="459919" y="3763108"/>
            <a:ext cx="1805174" cy="142540"/>
          </a:xfrm>
          <a:prstGeom prst="rect">
            <a:avLst/>
          </a:prstGeom>
          <a:noFill/>
          <a:ln/>
        </p:spPr>
        <p:txBody>
          <a:bodyPr wrap="none" lIns="170053" tIns="0" rIns="0" bIns="0" rtlCol="0" anchor="t">
            <a:spAutoFit/>
          </a:bodyPr>
          <a:lstStyle/>
          <a:p>
            <a:pPr marL="0" indent="0" algn="l">
              <a:lnSpc>
                <a:spcPts val="1200"/>
              </a:lnSpc>
              <a:buNone/>
            </a:pPr>
            <a:r>
              <a:rPr lang="en-US" sz="800" dirty="0">
                <a:solidFill>
                  <a:srgbClr val="E0E0E0"/>
                </a:solidFill>
              </a:rPr>
              <a:t>Ability to modify system configurations</a:t>
            </a:r>
            <a:endParaRPr lang="en-US" sz="800" dirty="0"/>
          </a:p>
        </p:txBody>
      </p:sp>
      <p:sp>
        <p:nvSpPr>
          <p:cNvPr id="22" name="Text 19"/>
          <p:cNvSpPr/>
          <p:nvPr/>
        </p:nvSpPr>
        <p:spPr>
          <a:xfrm>
            <a:off x="459919" y="3974546"/>
            <a:ext cx="2029595" cy="142540"/>
          </a:xfrm>
          <a:prstGeom prst="rect">
            <a:avLst/>
          </a:prstGeom>
          <a:noFill/>
          <a:ln/>
        </p:spPr>
        <p:txBody>
          <a:bodyPr wrap="none" lIns="170053" tIns="0" rIns="0" bIns="0" rtlCol="0" anchor="t">
            <a:spAutoFit/>
          </a:bodyPr>
          <a:lstStyle/>
          <a:p>
            <a:pPr marL="0" indent="0" algn="l">
              <a:lnSpc>
                <a:spcPts val="1200"/>
              </a:lnSpc>
              <a:buNone/>
            </a:pPr>
            <a:r>
              <a:rPr lang="en-US" sz="800" dirty="0">
                <a:solidFill>
                  <a:srgbClr val="E0E0E0"/>
                </a:solidFill>
              </a:rPr>
              <a:t>Data exfiltration and destruction capabilities</a:t>
            </a:r>
            <a:endParaRPr lang="en-US" sz="800" dirty="0"/>
          </a:p>
        </p:txBody>
      </p:sp>
      <p:sp>
        <p:nvSpPr>
          <p:cNvPr id="23" name="Shape 20"/>
          <p:cNvSpPr/>
          <p:nvPr/>
        </p:nvSpPr>
        <p:spPr>
          <a:xfrm>
            <a:off x="317044" y="4420595"/>
            <a:ext cx="5643563" cy="610791"/>
          </a:xfrm>
          <a:prstGeom prst="rect">
            <a:avLst/>
          </a:prstGeom>
          <a:solidFill>
            <a:srgbClr val="FF3333">
              <a:alpha val="15000"/>
            </a:srgbClr>
          </a:solidFill>
          <a:ln w="18288">
            <a:solidFill>
              <a:srgbClr val="FF3333"/>
            </a:solidFill>
            <a:prstDash val="solid"/>
          </a:ln>
        </p:spPr>
        <p:txBody>
          <a:bodyPr/>
          <a:lstStyle/>
          <a:p>
            <a:endParaRPr lang="en-US"/>
          </a:p>
        </p:txBody>
      </p:sp>
      <p:sp>
        <p:nvSpPr>
          <p:cNvPr id="24" name="Text 21"/>
          <p:cNvSpPr/>
          <p:nvPr/>
        </p:nvSpPr>
        <p:spPr>
          <a:xfrm>
            <a:off x="2736310" y="4527751"/>
            <a:ext cx="805029" cy="110800"/>
          </a:xfrm>
          <a:prstGeom prst="rect">
            <a:avLst/>
          </a:prstGeom>
          <a:noFill/>
          <a:ln/>
        </p:spPr>
        <p:txBody>
          <a:bodyPr wrap="none" lIns="0" tIns="0" rIns="0" bIns="0" rtlCol="0" anchor="t">
            <a:spAutoFit/>
          </a:bodyPr>
          <a:lstStyle/>
          <a:p>
            <a:pPr marL="0" indent="0" algn="ctr">
              <a:lnSpc>
                <a:spcPts val="800"/>
              </a:lnSpc>
              <a:buNone/>
            </a:pPr>
            <a:r>
              <a:rPr lang="en-US" sz="1000" b="1" kern="0" spc="1" dirty="0">
                <a:solidFill>
                  <a:srgbClr val="FF3333"/>
                </a:solidFill>
              </a:rPr>
              <a:t>Severity Rating</a:t>
            </a:r>
            <a:endParaRPr lang="en-US" sz="1000" dirty="0"/>
          </a:p>
        </p:txBody>
      </p:sp>
      <p:sp>
        <p:nvSpPr>
          <p:cNvPr id="25" name="Text 22"/>
          <p:cNvSpPr/>
          <p:nvPr/>
        </p:nvSpPr>
        <p:spPr>
          <a:xfrm>
            <a:off x="2853266" y="4700987"/>
            <a:ext cx="571118" cy="179536"/>
          </a:xfrm>
          <a:prstGeom prst="rect">
            <a:avLst/>
          </a:prstGeom>
          <a:noFill/>
          <a:ln/>
        </p:spPr>
        <p:txBody>
          <a:bodyPr wrap="none" lIns="0" tIns="0" rIns="0" bIns="0" rtlCol="0" anchor="t">
            <a:spAutoFit/>
          </a:bodyPr>
          <a:lstStyle/>
          <a:p>
            <a:pPr marL="0" indent="0" algn="ctr">
              <a:lnSpc>
                <a:spcPts val="1400"/>
              </a:lnSpc>
              <a:buNone/>
            </a:pPr>
            <a:r>
              <a:rPr lang="en-US" sz="1200" b="1" kern="0" spc="2" dirty="0">
                <a:solidFill>
                  <a:srgbClr val="FF3333"/>
                </a:solidFill>
              </a:rPr>
              <a:t>CRITICAL</a:t>
            </a:r>
            <a:endParaRPr lang="en-US" sz="1200" dirty="0"/>
          </a:p>
        </p:txBody>
      </p:sp>
      <p:pic>
        <p:nvPicPr>
          <p:cNvPr id="26" name="Image 1" descr="preencoded.png"/>
          <p:cNvPicPr>
            <a:picLocks noChangeAspect="1"/>
          </p:cNvPicPr>
          <p:nvPr/>
        </p:nvPicPr>
        <p:blipFill>
          <a:blip r:embed="rId4"/>
          <a:stretch>
            <a:fillRect/>
          </a:stretch>
        </p:blipFill>
        <p:spPr>
          <a:xfrm>
            <a:off x="6286500" y="643244"/>
            <a:ext cx="2500313" cy="3736181"/>
          </a:xfrm>
          <a:prstGeom prst="rect">
            <a:avLst/>
          </a:prstGeom>
        </p:spPr>
      </p:pic>
      <p:sp>
        <p:nvSpPr>
          <p:cNvPr id="27" name="Text 23"/>
          <p:cNvSpPr/>
          <p:nvPr/>
        </p:nvSpPr>
        <p:spPr>
          <a:xfrm>
            <a:off x="6726274" y="4532216"/>
            <a:ext cx="1620765" cy="101182"/>
          </a:xfrm>
          <a:prstGeom prst="rect">
            <a:avLst/>
          </a:prstGeom>
          <a:noFill/>
          <a:ln/>
        </p:spPr>
        <p:txBody>
          <a:bodyPr wrap="none" lIns="0" tIns="0" rIns="0" bIns="0" rtlCol="0" anchor="t">
            <a:spAutoFit/>
          </a:bodyPr>
          <a:lstStyle/>
          <a:p>
            <a:pPr marL="0" indent="0" algn="ctr">
              <a:lnSpc>
                <a:spcPts val="700"/>
              </a:lnSpc>
              <a:buNone/>
            </a:pPr>
            <a:r>
              <a:rPr lang="en-US" sz="1000" kern="0" spc="1" dirty="0">
                <a:solidFill>
                  <a:srgbClr val="FF3333"/>
                </a:solidFill>
              </a:rPr>
              <a:t>VERTICAL ESCALATION ATTACK</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57188" y="214313"/>
            <a:ext cx="8429625" cy="271463"/>
          </a:xfrm>
          <a:prstGeom prst="rect">
            <a:avLst/>
          </a:prstGeom>
          <a:noFill/>
          <a:ln/>
        </p:spPr>
        <p:txBody>
          <a:bodyPr wrap="none" lIns="0" tIns="0" rIns="0" bIns="0" rtlCol="0" anchor="t">
            <a:spAutoFit/>
          </a:bodyPr>
          <a:lstStyle/>
          <a:p>
            <a:pPr marL="0" indent="0" algn="l">
              <a:lnSpc>
                <a:spcPts val="1800"/>
              </a:lnSpc>
              <a:buNone/>
            </a:pPr>
            <a:r>
              <a:rPr lang="en-US" sz="1295" b="1" kern="0" spc="2" dirty="0">
                <a:solidFill>
                  <a:srgbClr val="FF3333"/>
                </a:solidFill>
              </a:rPr>
              <a:t>⚠ IMMEDIATE ACTION: PRIORITIZED REMEDIATION STEPS</a:t>
            </a:r>
            <a:endParaRPr lang="en-US" sz="1295" dirty="0"/>
          </a:p>
        </p:txBody>
      </p:sp>
      <p:sp>
        <p:nvSpPr>
          <p:cNvPr id="4" name="Shape 1"/>
          <p:cNvSpPr/>
          <p:nvPr/>
        </p:nvSpPr>
        <p:spPr>
          <a:xfrm>
            <a:off x="357188" y="571500"/>
            <a:ext cx="8429625" cy="235744"/>
          </a:xfrm>
          <a:prstGeom prst="rect">
            <a:avLst/>
          </a:prstGeom>
          <a:solidFill>
            <a:srgbClr val="FF3333">
              <a:alpha val="10000"/>
            </a:srgbClr>
          </a:solidFill>
          <a:ln w="9144">
            <a:solidFill>
              <a:srgbClr val="FF3333"/>
            </a:solidFill>
            <a:prstDash val="solid"/>
          </a:ln>
        </p:spPr>
        <p:txBody>
          <a:bodyPr/>
          <a:lstStyle/>
          <a:p>
            <a:endParaRPr lang="en-US"/>
          </a:p>
        </p:txBody>
      </p:sp>
      <p:sp>
        <p:nvSpPr>
          <p:cNvPr id="5" name="Text 2"/>
          <p:cNvSpPr/>
          <p:nvPr/>
        </p:nvSpPr>
        <p:spPr>
          <a:xfrm>
            <a:off x="357188" y="571500"/>
            <a:ext cx="8429625" cy="235744"/>
          </a:xfrm>
          <a:prstGeom prst="rect">
            <a:avLst/>
          </a:prstGeom>
          <a:noFill/>
          <a:ln/>
        </p:spPr>
        <p:txBody>
          <a:bodyPr wrap="square" lIns="102108" tIns="68072" rIns="102108" bIns="68072" rtlCol="0" anchor="t">
            <a:spAutoFit/>
          </a:bodyPr>
          <a:lstStyle/>
          <a:p>
            <a:pPr marL="0" indent="0" algn="l">
              <a:lnSpc>
                <a:spcPts val="700"/>
              </a:lnSpc>
              <a:buNone/>
            </a:pPr>
            <a:r>
              <a:rPr lang="en-US" sz="568" kern="0" spc="1" dirty="0">
                <a:solidFill>
                  <a:srgbClr val="FF3333"/>
                </a:solidFill>
              </a:rPr>
              <a:t>[ CRITICAL ] Implement these recommendations immediately to mitigate highest-risk vulnerabilities</a:t>
            </a:r>
            <a:endParaRPr lang="en-US" sz="568" dirty="0"/>
          </a:p>
        </p:txBody>
      </p:sp>
      <p:sp>
        <p:nvSpPr>
          <p:cNvPr id="6" name="Shape 3"/>
          <p:cNvSpPr/>
          <p:nvPr/>
        </p:nvSpPr>
        <p:spPr>
          <a:xfrm>
            <a:off x="357188" y="900113"/>
            <a:ext cx="4171950" cy="1971675"/>
          </a:xfrm>
          <a:prstGeom prst="rect">
            <a:avLst/>
          </a:prstGeom>
          <a:solidFill>
            <a:srgbClr val="FF3333">
              <a:alpha val="5000"/>
            </a:srgbClr>
          </a:solidFill>
          <a:ln w="18288">
            <a:solidFill>
              <a:srgbClr val="FF3333"/>
            </a:solidFill>
            <a:prstDash val="solid"/>
          </a:ln>
        </p:spPr>
        <p:txBody>
          <a:bodyPr/>
          <a:lstStyle/>
          <a:p>
            <a:endParaRPr lang="en-US" sz="800"/>
          </a:p>
        </p:txBody>
      </p:sp>
      <p:sp>
        <p:nvSpPr>
          <p:cNvPr id="7" name="Text 4"/>
          <p:cNvSpPr/>
          <p:nvPr/>
        </p:nvSpPr>
        <p:spPr>
          <a:xfrm>
            <a:off x="457200" y="1000125"/>
            <a:ext cx="1057341" cy="94449"/>
          </a:xfrm>
          <a:prstGeom prst="rect">
            <a:avLst/>
          </a:prstGeom>
          <a:noFill/>
          <a:ln/>
        </p:spPr>
        <p:txBody>
          <a:bodyPr wrap="none" lIns="0" tIns="0" rIns="0" bIns="0" rtlCol="0" anchor="t">
            <a:spAutoFit/>
          </a:bodyPr>
          <a:lstStyle/>
          <a:p>
            <a:pPr marL="0" indent="0" algn="l">
              <a:lnSpc>
                <a:spcPts val="700"/>
              </a:lnSpc>
              <a:buNone/>
            </a:pPr>
            <a:r>
              <a:rPr lang="en-US" sz="800" b="1" kern="0" spc="1" dirty="0">
                <a:solidFill>
                  <a:srgbClr val="FF3333"/>
                </a:solidFill>
              </a:rPr>
              <a:t>[ RECOMMENDATION 1 ]</a:t>
            </a:r>
            <a:endParaRPr lang="en-US" sz="800" dirty="0"/>
          </a:p>
        </p:txBody>
      </p:sp>
      <p:sp>
        <p:nvSpPr>
          <p:cNvPr id="8" name="Text 5"/>
          <p:cNvSpPr/>
          <p:nvPr/>
        </p:nvSpPr>
        <p:spPr>
          <a:xfrm>
            <a:off x="457200" y="1155502"/>
            <a:ext cx="1681551" cy="120418"/>
          </a:xfrm>
          <a:prstGeom prst="rect">
            <a:avLst/>
          </a:prstGeom>
          <a:noFill/>
          <a:ln/>
        </p:spPr>
        <p:txBody>
          <a:bodyPr wrap="none" lIns="0" tIns="0" rIns="0" bIns="0" rtlCol="0" anchor="t">
            <a:spAutoFit/>
          </a:bodyPr>
          <a:lstStyle/>
          <a:p>
            <a:pPr marL="0" indent="0" algn="l">
              <a:lnSpc>
                <a:spcPts val="900"/>
              </a:lnSpc>
              <a:buNone/>
            </a:pPr>
            <a:r>
              <a:rPr lang="en-US" sz="1000" b="1" dirty="0">
                <a:solidFill>
                  <a:srgbClr val="FF3333"/>
                </a:solidFill>
              </a:rPr>
              <a:t>Fix SQL Injection Vulnerabilities</a:t>
            </a:r>
            <a:endParaRPr lang="en-US" sz="1000" dirty="0"/>
          </a:p>
        </p:txBody>
      </p:sp>
      <p:sp>
        <p:nvSpPr>
          <p:cNvPr id="9" name="Text 6"/>
          <p:cNvSpPr/>
          <p:nvPr/>
        </p:nvSpPr>
        <p:spPr>
          <a:xfrm>
            <a:off x="457200" y="1324077"/>
            <a:ext cx="3971925" cy="282385"/>
          </a:xfrm>
          <a:prstGeom prst="rect">
            <a:avLst/>
          </a:prstGeom>
          <a:noFill/>
          <a:ln/>
        </p:spPr>
        <p:txBody>
          <a:bodyPr wrap="square" lIns="0" tIns="51054" rIns="0" bIns="0" rtlCol="0" anchor="t">
            <a:spAutoFit/>
          </a:bodyPr>
          <a:lstStyle/>
          <a:p>
            <a:pPr marL="0" indent="0" algn="l">
              <a:lnSpc>
                <a:spcPts val="900"/>
              </a:lnSpc>
              <a:buNone/>
            </a:pPr>
            <a:r>
              <a:rPr lang="en-US" sz="800" dirty="0">
                <a:solidFill>
                  <a:srgbClr val="E0E0E0"/>
                </a:solidFill>
              </a:rPr>
              <a:t>Replace vulnerable queries with prepared statements and parameterized queries to prevent SQL injection attacks.</a:t>
            </a:r>
            <a:endParaRPr lang="en-US" sz="800" dirty="0"/>
          </a:p>
        </p:txBody>
      </p:sp>
      <p:sp>
        <p:nvSpPr>
          <p:cNvPr id="10" name="Text 7"/>
          <p:cNvSpPr/>
          <p:nvPr/>
        </p:nvSpPr>
        <p:spPr>
          <a:xfrm>
            <a:off x="457200" y="1736964"/>
            <a:ext cx="899605" cy="91564"/>
          </a:xfrm>
          <a:prstGeom prst="rect">
            <a:avLst/>
          </a:prstGeom>
          <a:noFill/>
          <a:ln/>
        </p:spPr>
        <p:txBody>
          <a:bodyPr wrap="none" lIns="0" tIns="0" rIns="0" bIns="0" rtlCol="0" anchor="t">
            <a:spAutoFit/>
          </a:bodyPr>
          <a:lstStyle/>
          <a:p>
            <a:pPr marL="0" indent="0" algn="l">
              <a:lnSpc>
                <a:spcPts val="600"/>
              </a:lnSpc>
              <a:buNone/>
            </a:pPr>
            <a:r>
              <a:rPr lang="en-US" sz="1000" b="1" kern="0" spc="1" dirty="0">
                <a:solidFill>
                  <a:srgbClr val="FF3333"/>
                </a:solidFill>
              </a:rPr>
              <a:t>Implementation:</a:t>
            </a:r>
            <a:endParaRPr lang="en-US" sz="1000" dirty="0"/>
          </a:p>
        </p:txBody>
      </p:sp>
      <p:sp>
        <p:nvSpPr>
          <p:cNvPr id="11" name="Text 8"/>
          <p:cNvSpPr/>
          <p:nvPr/>
        </p:nvSpPr>
        <p:spPr>
          <a:xfrm>
            <a:off x="457200" y="1888768"/>
            <a:ext cx="2198807" cy="94449"/>
          </a:xfrm>
          <a:prstGeom prst="rect">
            <a:avLst/>
          </a:prstGeom>
          <a:noFill/>
          <a:ln/>
        </p:spPr>
        <p:txBody>
          <a:bodyPr wrap="none" lIns="136017" tIns="0" rIns="0" bIns="0" rtlCol="0" anchor="t">
            <a:spAutoFit/>
          </a:bodyPr>
          <a:lstStyle/>
          <a:p>
            <a:pPr marL="0" indent="0" algn="l">
              <a:lnSpc>
                <a:spcPts val="700"/>
              </a:lnSpc>
              <a:buNone/>
            </a:pPr>
            <a:r>
              <a:rPr lang="en-US" sz="800" dirty="0">
                <a:solidFill>
                  <a:srgbClr val="E0E0E0"/>
                </a:solidFill>
              </a:rPr>
              <a:t>Use prepared statements for all database queries</a:t>
            </a:r>
            <a:endParaRPr lang="en-US" sz="800" dirty="0"/>
          </a:p>
        </p:txBody>
      </p:sp>
      <p:sp>
        <p:nvSpPr>
          <p:cNvPr id="12" name="Text 9"/>
          <p:cNvSpPr/>
          <p:nvPr/>
        </p:nvSpPr>
        <p:spPr>
          <a:xfrm>
            <a:off x="457200" y="2017356"/>
            <a:ext cx="2195601" cy="94449"/>
          </a:xfrm>
          <a:prstGeom prst="rect">
            <a:avLst/>
          </a:prstGeom>
          <a:noFill/>
          <a:ln/>
        </p:spPr>
        <p:txBody>
          <a:bodyPr wrap="none" lIns="136017" tIns="0" rIns="0" bIns="0" rtlCol="0" anchor="t">
            <a:spAutoFit/>
          </a:bodyPr>
          <a:lstStyle/>
          <a:p>
            <a:pPr marL="0" indent="0" algn="l">
              <a:lnSpc>
                <a:spcPts val="700"/>
              </a:lnSpc>
              <a:buNone/>
            </a:pPr>
            <a:r>
              <a:rPr lang="en-US" sz="800" dirty="0">
                <a:solidFill>
                  <a:srgbClr val="E0E0E0"/>
                </a:solidFill>
              </a:rPr>
              <a:t>Implement strict input validation and sanitization</a:t>
            </a:r>
            <a:endParaRPr lang="en-US" sz="800" dirty="0"/>
          </a:p>
        </p:txBody>
      </p:sp>
      <p:sp>
        <p:nvSpPr>
          <p:cNvPr id="13" name="Text 10"/>
          <p:cNvSpPr/>
          <p:nvPr/>
        </p:nvSpPr>
        <p:spPr>
          <a:xfrm>
            <a:off x="457200" y="2145943"/>
            <a:ext cx="2227661" cy="94449"/>
          </a:xfrm>
          <a:prstGeom prst="rect">
            <a:avLst/>
          </a:prstGeom>
          <a:noFill/>
          <a:ln/>
        </p:spPr>
        <p:txBody>
          <a:bodyPr wrap="none" lIns="136017" tIns="0" rIns="0" bIns="0" rtlCol="0" anchor="t">
            <a:spAutoFit/>
          </a:bodyPr>
          <a:lstStyle/>
          <a:p>
            <a:pPr marL="0" indent="0" algn="l">
              <a:lnSpc>
                <a:spcPts val="700"/>
              </a:lnSpc>
              <a:buNone/>
            </a:pPr>
            <a:r>
              <a:rPr lang="en-US" sz="800" dirty="0">
                <a:solidFill>
                  <a:srgbClr val="E0E0E0"/>
                </a:solidFill>
              </a:rPr>
              <a:t>Deploy WAF rules to block common SQLi payloads</a:t>
            </a:r>
            <a:endParaRPr lang="en-US" sz="800" dirty="0"/>
          </a:p>
        </p:txBody>
      </p:sp>
      <p:sp>
        <p:nvSpPr>
          <p:cNvPr id="14" name="Text 11"/>
          <p:cNvSpPr/>
          <p:nvPr/>
        </p:nvSpPr>
        <p:spPr>
          <a:xfrm>
            <a:off x="457200" y="2274531"/>
            <a:ext cx="2182777" cy="94449"/>
          </a:xfrm>
          <a:prstGeom prst="rect">
            <a:avLst/>
          </a:prstGeom>
          <a:noFill/>
          <a:ln/>
        </p:spPr>
        <p:txBody>
          <a:bodyPr wrap="none" lIns="136017" tIns="0" rIns="0" bIns="0" rtlCol="0" anchor="t">
            <a:spAutoFit/>
          </a:bodyPr>
          <a:lstStyle/>
          <a:p>
            <a:pPr marL="0" indent="0" algn="l">
              <a:lnSpc>
                <a:spcPts val="700"/>
              </a:lnSpc>
              <a:buNone/>
            </a:pPr>
            <a:r>
              <a:rPr lang="en-US" sz="800" dirty="0">
                <a:solidFill>
                  <a:srgbClr val="E0E0E0"/>
                </a:solidFill>
              </a:rPr>
              <a:t>Enable monitoring and alerting for SQLi attempts</a:t>
            </a:r>
            <a:endParaRPr lang="en-US" sz="800" dirty="0"/>
          </a:p>
        </p:txBody>
      </p:sp>
      <p:sp>
        <p:nvSpPr>
          <p:cNvPr id="15" name="Shape 12"/>
          <p:cNvSpPr/>
          <p:nvPr/>
        </p:nvSpPr>
        <p:spPr>
          <a:xfrm>
            <a:off x="457200" y="2481700"/>
            <a:ext cx="3971925" cy="197876"/>
          </a:xfrm>
          <a:prstGeom prst="rect">
            <a:avLst/>
          </a:prstGeom>
          <a:solidFill>
            <a:srgbClr val="00FF41">
              <a:alpha val="8000"/>
            </a:srgbClr>
          </a:solidFill>
          <a:ln/>
        </p:spPr>
        <p:txBody>
          <a:bodyPr/>
          <a:lstStyle/>
          <a:p>
            <a:endParaRPr lang="en-US"/>
          </a:p>
        </p:txBody>
      </p:sp>
      <p:sp>
        <p:nvSpPr>
          <p:cNvPr id="16" name="Shape 13"/>
          <p:cNvSpPr/>
          <p:nvPr/>
        </p:nvSpPr>
        <p:spPr>
          <a:xfrm>
            <a:off x="457200" y="2481700"/>
            <a:ext cx="14288" cy="197876"/>
          </a:xfrm>
          <a:prstGeom prst="rect">
            <a:avLst/>
          </a:prstGeom>
          <a:solidFill>
            <a:srgbClr val="00FF41"/>
          </a:solidFill>
          <a:ln/>
        </p:spPr>
        <p:txBody>
          <a:bodyPr/>
          <a:lstStyle/>
          <a:p>
            <a:endParaRPr lang="en-US"/>
          </a:p>
        </p:txBody>
      </p:sp>
      <p:sp>
        <p:nvSpPr>
          <p:cNvPr id="17" name="Text 14"/>
          <p:cNvSpPr/>
          <p:nvPr/>
        </p:nvSpPr>
        <p:spPr>
          <a:xfrm>
            <a:off x="457200" y="2481700"/>
            <a:ext cx="3971925" cy="238655"/>
          </a:xfrm>
          <a:prstGeom prst="rect">
            <a:avLst/>
          </a:prstGeom>
          <a:noFill/>
          <a:ln/>
        </p:spPr>
        <p:txBody>
          <a:bodyPr wrap="square" lIns="85090" tIns="68072" rIns="85090" bIns="68072" rtlCol="0" anchor="t">
            <a:spAutoFit/>
          </a:bodyPr>
          <a:lstStyle/>
          <a:p>
            <a:pPr marL="0" indent="0" algn="l">
              <a:lnSpc>
                <a:spcPts val="700"/>
              </a:lnSpc>
              <a:buNone/>
            </a:pPr>
            <a:r>
              <a:rPr lang="en-US" sz="1000" dirty="0">
                <a:solidFill>
                  <a:srgbClr val="E0E0E0"/>
                </a:solidFill>
              </a:rPr>
              <a:t>Priority: CRITICAL | Timeline: Immediate (24-48 hours)</a:t>
            </a:r>
            <a:endParaRPr lang="en-US" sz="1000" dirty="0"/>
          </a:p>
        </p:txBody>
      </p:sp>
      <p:sp>
        <p:nvSpPr>
          <p:cNvPr id="18" name="Shape 15"/>
          <p:cNvSpPr/>
          <p:nvPr/>
        </p:nvSpPr>
        <p:spPr>
          <a:xfrm>
            <a:off x="4614863" y="900113"/>
            <a:ext cx="4171950" cy="1957388"/>
          </a:xfrm>
          <a:prstGeom prst="rect">
            <a:avLst/>
          </a:prstGeom>
          <a:solidFill>
            <a:srgbClr val="FF3333">
              <a:alpha val="5000"/>
            </a:srgbClr>
          </a:solidFill>
          <a:ln w="18288">
            <a:solidFill>
              <a:srgbClr val="FF3333"/>
            </a:solidFill>
            <a:prstDash val="solid"/>
          </a:ln>
        </p:spPr>
        <p:txBody>
          <a:bodyPr/>
          <a:lstStyle/>
          <a:p>
            <a:endParaRPr lang="en-US"/>
          </a:p>
        </p:txBody>
      </p:sp>
      <p:sp>
        <p:nvSpPr>
          <p:cNvPr id="19" name="Text 16"/>
          <p:cNvSpPr/>
          <p:nvPr/>
        </p:nvSpPr>
        <p:spPr>
          <a:xfrm>
            <a:off x="457200" y="1888768"/>
            <a:ext cx="92974" cy="94449"/>
          </a:xfrm>
          <a:prstGeom prst="rect">
            <a:avLst/>
          </a:prstGeom>
          <a:noFill/>
          <a:ln/>
        </p:spPr>
        <p:txBody>
          <a:bodyPr wrap="none" lIns="0" tIns="0" rIns="0" bIns="0" rtlCol="0" anchor="t">
            <a:spAutoFit/>
          </a:bodyPr>
          <a:lstStyle/>
          <a:p>
            <a:pPr marL="0" indent="0" algn="l">
              <a:lnSpc>
                <a:spcPts val="700"/>
              </a:lnSpc>
              <a:buNone/>
            </a:pPr>
            <a:r>
              <a:rPr lang="en-US" sz="800" b="1" dirty="0">
                <a:solidFill>
                  <a:srgbClr val="FF3333"/>
                </a:solidFill>
              </a:rPr>
              <a:t>→</a:t>
            </a:r>
            <a:endParaRPr lang="en-US" sz="800" dirty="0"/>
          </a:p>
        </p:txBody>
      </p:sp>
      <p:sp>
        <p:nvSpPr>
          <p:cNvPr id="20" name="Text 17"/>
          <p:cNvSpPr/>
          <p:nvPr/>
        </p:nvSpPr>
        <p:spPr>
          <a:xfrm>
            <a:off x="457200" y="2017356"/>
            <a:ext cx="92974" cy="94449"/>
          </a:xfrm>
          <a:prstGeom prst="rect">
            <a:avLst/>
          </a:prstGeom>
          <a:noFill/>
          <a:ln/>
        </p:spPr>
        <p:txBody>
          <a:bodyPr wrap="none" lIns="0" tIns="0" rIns="0" bIns="0" rtlCol="0" anchor="t">
            <a:spAutoFit/>
          </a:bodyPr>
          <a:lstStyle/>
          <a:p>
            <a:pPr marL="0" indent="0" algn="l">
              <a:lnSpc>
                <a:spcPts val="700"/>
              </a:lnSpc>
              <a:buNone/>
            </a:pPr>
            <a:r>
              <a:rPr lang="en-US" sz="800" b="1" dirty="0">
                <a:solidFill>
                  <a:srgbClr val="FF3333"/>
                </a:solidFill>
              </a:rPr>
              <a:t>→</a:t>
            </a:r>
            <a:endParaRPr lang="en-US" sz="800" dirty="0"/>
          </a:p>
        </p:txBody>
      </p:sp>
      <p:sp>
        <p:nvSpPr>
          <p:cNvPr id="21" name="Text 18"/>
          <p:cNvSpPr/>
          <p:nvPr/>
        </p:nvSpPr>
        <p:spPr>
          <a:xfrm>
            <a:off x="457200" y="2145943"/>
            <a:ext cx="92974" cy="94449"/>
          </a:xfrm>
          <a:prstGeom prst="rect">
            <a:avLst/>
          </a:prstGeom>
          <a:noFill/>
          <a:ln/>
        </p:spPr>
        <p:txBody>
          <a:bodyPr wrap="none" lIns="0" tIns="0" rIns="0" bIns="0" rtlCol="0" anchor="t">
            <a:spAutoFit/>
          </a:bodyPr>
          <a:lstStyle/>
          <a:p>
            <a:pPr marL="0" indent="0" algn="l">
              <a:lnSpc>
                <a:spcPts val="700"/>
              </a:lnSpc>
              <a:buNone/>
            </a:pPr>
            <a:r>
              <a:rPr lang="en-US" sz="800" b="1" dirty="0">
                <a:solidFill>
                  <a:srgbClr val="FF3333"/>
                </a:solidFill>
              </a:rPr>
              <a:t>→</a:t>
            </a:r>
            <a:endParaRPr lang="en-US" sz="800" dirty="0"/>
          </a:p>
        </p:txBody>
      </p:sp>
      <p:sp>
        <p:nvSpPr>
          <p:cNvPr id="22" name="Text 19"/>
          <p:cNvSpPr/>
          <p:nvPr/>
        </p:nvSpPr>
        <p:spPr>
          <a:xfrm>
            <a:off x="457200" y="2274531"/>
            <a:ext cx="92974" cy="94449"/>
          </a:xfrm>
          <a:prstGeom prst="rect">
            <a:avLst/>
          </a:prstGeom>
          <a:noFill/>
          <a:ln/>
        </p:spPr>
        <p:txBody>
          <a:bodyPr wrap="none" lIns="0" tIns="0" rIns="0" bIns="0" rtlCol="0" anchor="t">
            <a:spAutoFit/>
          </a:bodyPr>
          <a:lstStyle/>
          <a:p>
            <a:pPr marL="0" indent="0" algn="l">
              <a:lnSpc>
                <a:spcPts val="700"/>
              </a:lnSpc>
              <a:buNone/>
            </a:pPr>
            <a:r>
              <a:rPr lang="en-US" sz="800" b="1" dirty="0">
                <a:solidFill>
                  <a:srgbClr val="FF3333"/>
                </a:solidFill>
              </a:rPr>
              <a:t>→</a:t>
            </a:r>
            <a:endParaRPr lang="en-US" sz="800" dirty="0"/>
          </a:p>
        </p:txBody>
      </p:sp>
      <p:sp>
        <p:nvSpPr>
          <p:cNvPr id="23" name="Text 20"/>
          <p:cNvSpPr/>
          <p:nvPr/>
        </p:nvSpPr>
        <p:spPr>
          <a:xfrm>
            <a:off x="4714875" y="1000125"/>
            <a:ext cx="1057341" cy="94449"/>
          </a:xfrm>
          <a:prstGeom prst="rect">
            <a:avLst/>
          </a:prstGeom>
          <a:noFill/>
          <a:ln/>
        </p:spPr>
        <p:txBody>
          <a:bodyPr wrap="none" lIns="0" tIns="0" rIns="0" bIns="0" rtlCol="0" anchor="t">
            <a:spAutoFit/>
          </a:bodyPr>
          <a:lstStyle/>
          <a:p>
            <a:pPr marL="0" indent="0" algn="l">
              <a:lnSpc>
                <a:spcPts val="700"/>
              </a:lnSpc>
              <a:buNone/>
            </a:pPr>
            <a:r>
              <a:rPr lang="en-US" sz="800" b="1" kern="0" spc="1" dirty="0">
                <a:solidFill>
                  <a:srgbClr val="FF3333"/>
                </a:solidFill>
              </a:rPr>
              <a:t>[ RECOMMENDATION 2 ]</a:t>
            </a:r>
            <a:endParaRPr lang="en-US" sz="800" dirty="0"/>
          </a:p>
        </p:txBody>
      </p:sp>
      <p:sp>
        <p:nvSpPr>
          <p:cNvPr id="24" name="Text 21"/>
          <p:cNvSpPr/>
          <p:nvPr/>
        </p:nvSpPr>
        <p:spPr>
          <a:xfrm>
            <a:off x="4714875" y="1155502"/>
            <a:ext cx="1577355" cy="120418"/>
          </a:xfrm>
          <a:prstGeom prst="rect">
            <a:avLst/>
          </a:prstGeom>
          <a:noFill/>
          <a:ln/>
        </p:spPr>
        <p:txBody>
          <a:bodyPr wrap="none" lIns="0" tIns="0" rIns="0" bIns="0" rtlCol="0" anchor="t">
            <a:spAutoFit/>
          </a:bodyPr>
          <a:lstStyle/>
          <a:p>
            <a:pPr marL="0" indent="0" algn="l">
              <a:lnSpc>
                <a:spcPts val="900"/>
              </a:lnSpc>
              <a:buNone/>
            </a:pPr>
            <a:r>
              <a:rPr lang="en-US" sz="1000" b="1" dirty="0">
                <a:solidFill>
                  <a:srgbClr val="FF3333"/>
                </a:solidFill>
              </a:rPr>
              <a:t>Patch Local File Inclusion (LFI)</a:t>
            </a:r>
            <a:endParaRPr lang="en-US" sz="1000" dirty="0"/>
          </a:p>
        </p:txBody>
      </p:sp>
      <p:sp>
        <p:nvSpPr>
          <p:cNvPr id="25" name="Text 22"/>
          <p:cNvSpPr/>
          <p:nvPr/>
        </p:nvSpPr>
        <p:spPr>
          <a:xfrm>
            <a:off x="4714875" y="1324077"/>
            <a:ext cx="3792705" cy="166969"/>
          </a:xfrm>
          <a:prstGeom prst="rect">
            <a:avLst/>
          </a:prstGeom>
          <a:noFill/>
          <a:ln/>
        </p:spPr>
        <p:txBody>
          <a:bodyPr wrap="none" lIns="0" tIns="51054" rIns="0" bIns="0" rtlCol="0" anchor="t">
            <a:spAutoFit/>
          </a:bodyPr>
          <a:lstStyle/>
          <a:p>
            <a:pPr marL="0" indent="0" algn="l">
              <a:lnSpc>
                <a:spcPts val="900"/>
              </a:lnSpc>
              <a:buNone/>
            </a:pPr>
            <a:r>
              <a:rPr lang="en-US" sz="800" dirty="0">
                <a:solidFill>
                  <a:srgbClr val="E0E0E0"/>
                </a:solidFill>
              </a:rPr>
              <a:t>Remove direct file-include functionality and implement secure file handling with allowlists.</a:t>
            </a:r>
            <a:endParaRPr lang="en-US" sz="800" dirty="0"/>
          </a:p>
        </p:txBody>
      </p:sp>
      <p:sp>
        <p:nvSpPr>
          <p:cNvPr id="26" name="Text 23"/>
          <p:cNvSpPr/>
          <p:nvPr/>
        </p:nvSpPr>
        <p:spPr>
          <a:xfrm>
            <a:off x="4714875" y="1626961"/>
            <a:ext cx="899605" cy="91564"/>
          </a:xfrm>
          <a:prstGeom prst="rect">
            <a:avLst/>
          </a:prstGeom>
          <a:noFill/>
          <a:ln/>
        </p:spPr>
        <p:txBody>
          <a:bodyPr wrap="none" lIns="0" tIns="0" rIns="0" bIns="0" rtlCol="0" anchor="t">
            <a:spAutoFit/>
          </a:bodyPr>
          <a:lstStyle/>
          <a:p>
            <a:pPr marL="0" indent="0" algn="l">
              <a:lnSpc>
                <a:spcPts val="600"/>
              </a:lnSpc>
              <a:buNone/>
            </a:pPr>
            <a:r>
              <a:rPr lang="en-US" sz="1000" b="1" kern="0" spc="1" dirty="0">
                <a:solidFill>
                  <a:srgbClr val="FF3333"/>
                </a:solidFill>
              </a:rPr>
              <a:t>Implementation:</a:t>
            </a:r>
            <a:endParaRPr lang="en-US" sz="1000" dirty="0"/>
          </a:p>
        </p:txBody>
      </p:sp>
      <p:sp>
        <p:nvSpPr>
          <p:cNvPr id="27" name="Text 24"/>
          <p:cNvSpPr/>
          <p:nvPr/>
        </p:nvSpPr>
        <p:spPr>
          <a:xfrm>
            <a:off x="4714875" y="1778766"/>
            <a:ext cx="2771080" cy="94449"/>
          </a:xfrm>
          <a:prstGeom prst="rect">
            <a:avLst/>
          </a:prstGeom>
          <a:noFill/>
          <a:ln/>
        </p:spPr>
        <p:txBody>
          <a:bodyPr wrap="none" lIns="136017" tIns="0" rIns="0" bIns="0" rtlCol="0" anchor="t">
            <a:spAutoFit/>
          </a:bodyPr>
          <a:lstStyle/>
          <a:p>
            <a:pPr marL="0" indent="0" algn="l">
              <a:lnSpc>
                <a:spcPts val="700"/>
              </a:lnSpc>
              <a:buNone/>
            </a:pPr>
            <a:r>
              <a:rPr lang="en-US" sz="800" dirty="0">
                <a:solidFill>
                  <a:srgbClr val="E0E0E0"/>
                </a:solidFill>
              </a:rPr>
              <a:t>Replace dynamic includes with allowlist of permitted resources</a:t>
            </a:r>
            <a:endParaRPr lang="en-US" sz="800" dirty="0"/>
          </a:p>
        </p:txBody>
      </p:sp>
      <p:sp>
        <p:nvSpPr>
          <p:cNvPr id="28" name="Text 25"/>
          <p:cNvSpPr/>
          <p:nvPr/>
        </p:nvSpPr>
        <p:spPr>
          <a:xfrm>
            <a:off x="4714875" y="1907353"/>
            <a:ext cx="1979196" cy="94449"/>
          </a:xfrm>
          <a:prstGeom prst="rect">
            <a:avLst/>
          </a:prstGeom>
          <a:noFill/>
          <a:ln/>
        </p:spPr>
        <p:txBody>
          <a:bodyPr wrap="none" lIns="136017" tIns="0" rIns="0" bIns="0" rtlCol="0" anchor="t">
            <a:spAutoFit/>
          </a:bodyPr>
          <a:lstStyle/>
          <a:p>
            <a:pPr marL="0" indent="0" algn="l">
              <a:lnSpc>
                <a:spcPts val="700"/>
              </a:lnSpc>
              <a:buNone/>
            </a:pPr>
            <a:r>
              <a:rPr lang="en-US" sz="800" dirty="0">
                <a:solidFill>
                  <a:srgbClr val="E0E0E0"/>
                </a:solidFill>
              </a:rPr>
              <a:t>Use realpath() to prevent directory traversal</a:t>
            </a:r>
            <a:endParaRPr lang="en-US" sz="800" dirty="0"/>
          </a:p>
        </p:txBody>
      </p:sp>
      <p:sp>
        <p:nvSpPr>
          <p:cNvPr id="29" name="Text 26"/>
          <p:cNvSpPr/>
          <p:nvPr/>
        </p:nvSpPr>
        <p:spPr>
          <a:xfrm>
            <a:off x="4714875" y="2035941"/>
            <a:ext cx="2246897" cy="94449"/>
          </a:xfrm>
          <a:prstGeom prst="rect">
            <a:avLst/>
          </a:prstGeom>
          <a:noFill/>
          <a:ln/>
        </p:spPr>
        <p:txBody>
          <a:bodyPr wrap="none" lIns="136017" tIns="0" rIns="0" bIns="0" rtlCol="0" anchor="t">
            <a:spAutoFit/>
          </a:bodyPr>
          <a:lstStyle/>
          <a:p>
            <a:pPr marL="0" indent="0" algn="l">
              <a:lnSpc>
                <a:spcPts val="700"/>
              </a:lnSpc>
              <a:buNone/>
            </a:pPr>
            <a:r>
              <a:rPr lang="en-US" sz="800" dirty="0">
                <a:solidFill>
                  <a:srgbClr val="E0E0E0"/>
                </a:solidFill>
              </a:rPr>
              <a:t>Restrict web server process file access permissions</a:t>
            </a:r>
            <a:endParaRPr lang="en-US" sz="800" dirty="0"/>
          </a:p>
        </p:txBody>
      </p:sp>
      <p:sp>
        <p:nvSpPr>
          <p:cNvPr id="30" name="Text 27"/>
          <p:cNvSpPr/>
          <p:nvPr/>
        </p:nvSpPr>
        <p:spPr>
          <a:xfrm>
            <a:off x="4714875" y="2164528"/>
            <a:ext cx="2258119" cy="94449"/>
          </a:xfrm>
          <a:prstGeom prst="rect">
            <a:avLst/>
          </a:prstGeom>
          <a:noFill/>
          <a:ln/>
        </p:spPr>
        <p:txBody>
          <a:bodyPr wrap="none" lIns="136017" tIns="0" rIns="0" bIns="0" rtlCol="0" anchor="t">
            <a:spAutoFit/>
          </a:bodyPr>
          <a:lstStyle/>
          <a:p>
            <a:pPr marL="0" indent="0" algn="l">
              <a:lnSpc>
                <a:spcPts val="700"/>
              </a:lnSpc>
              <a:buNone/>
            </a:pPr>
            <a:r>
              <a:rPr lang="en-US" sz="800" dirty="0">
                <a:solidFill>
                  <a:srgbClr val="E0E0E0"/>
                </a:solidFill>
              </a:rPr>
              <a:t>Disable dangerous PHP functions (include, require)</a:t>
            </a:r>
            <a:endParaRPr lang="en-US" sz="800" dirty="0"/>
          </a:p>
        </p:txBody>
      </p:sp>
      <p:sp>
        <p:nvSpPr>
          <p:cNvPr id="31" name="Shape 28"/>
          <p:cNvSpPr/>
          <p:nvPr/>
        </p:nvSpPr>
        <p:spPr>
          <a:xfrm>
            <a:off x="4714875" y="2371697"/>
            <a:ext cx="3971925" cy="197876"/>
          </a:xfrm>
          <a:prstGeom prst="rect">
            <a:avLst/>
          </a:prstGeom>
          <a:solidFill>
            <a:srgbClr val="00FF41">
              <a:alpha val="8000"/>
            </a:srgbClr>
          </a:solidFill>
          <a:ln/>
        </p:spPr>
        <p:txBody>
          <a:bodyPr/>
          <a:lstStyle/>
          <a:p>
            <a:endParaRPr lang="en-US"/>
          </a:p>
        </p:txBody>
      </p:sp>
      <p:sp>
        <p:nvSpPr>
          <p:cNvPr id="32" name="Shape 29"/>
          <p:cNvSpPr/>
          <p:nvPr/>
        </p:nvSpPr>
        <p:spPr>
          <a:xfrm>
            <a:off x="4714875" y="2371697"/>
            <a:ext cx="14288" cy="197876"/>
          </a:xfrm>
          <a:prstGeom prst="rect">
            <a:avLst/>
          </a:prstGeom>
          <a:solidFill>
            <a:srgbClr val="00FF41"/>
          </a:solidFill>
          <a:ln/>
        </p:spPr>
        <p:txBody>
          <a:bodyPr/>
          <a:lstStyle/>
          <a:p>
            <a:endParaRPr lang="en-US"/>
          </a:p>
        </p:txBody>
      </p:sp>
      <p:sp>
        <p:nvSpPr>
          <p:cNvPr id="33" name="Text 30"/>
          <p:cNvSpPr/>
          <p:nvPr/>
        </p:nvSpPr>
        <p:spPr>
          <a:xfrm>
            <a:off x="4714875" y="2371697"/>
            <a:ext cx="3971925" cy="238655"/>
          </a:xfrm>
          <a:prstGeom prst="rect">
            <a:avLst/>
          </a:prstGeom>
          <a:noFill/>
          <a:ln/>
        </p:spPr>
        <p:txBody>
          <a:bodyPr wrap="square" lIns="85090" tIns="68072" rIns="85090" bIns="68072" rtlCol="0" anchor="t">
            <a:spAutoFit/>
          </a:bodyPr>
          <a:lstStyle/>
          <a:p>
            <a:pPr marL="0" indent="0" algn="l">
              <a:lnSpc>
                <a:spcPts val="700"/>
              </a:lnSpc>
              <a:buNone/>
            </a:pPr>
            <a:r>
              <a:rPr lang="en-US" sz="1000" dirty="0">
                <a:solidFill>
                  <a:srgbClr val="E0E0E0"/>
                </a:solidFill>
              </a:rPr>
              <a:t>Priority: CRITICAL | Timeline: Immediate (24-48 hours)</a:t>
            </a:r>
            <a:endParaRPr lang="en-US" sz="1000" dirty="0"/>
          </a:p>
        </p:txBody>
      </p:sp>
      <p:sp>
        <p:nvSpPr>
          <p:cNvPr id="34" name="Shape 31"/>
          <p:cNvSpPr/>
          <p:nvPr/>
        </p:nvSpPr>
        <p:spPr>
          <a:xfrm>
            <a:off x="357188" y="2943225"/>
            <a:ext cx="4171950" cy="1985963"/>
          </a:xfrm>
          <a:prstGeom prst="rect">
            <a:avLst/>
          </a:prstGeom>
          <a:solidFill>
            <a:srgbClr val="FF3333">
              <a:alpha val="5000"/>
            </a:srgbClr>
          </a:solidFill>
          <a:ln w="18288">
            <a:solidFill>
              <a:srgbClr val="FF3333"/>
            </a:solidFill>
            <a:prstDash val="solid"/>
          </a:ln>
        </p:spPr>
        <p:txBody>
          <a:bodyPr/>
          <a:lstStyle/>
          <a:p>
            <a:endParaRPr lang="en-US" sz="800"/>
          </a:p>
        </p:txBody>
      </p:sp>
      <p:sp>
        <p:nvSpPr>
          <p:cNvPr id="35" name="Text 32"/>
          <p:cNvSpPr/>
          <p:nvPr/>
        </p:nvSpPr>
        <p:spPr>
          <a:xfrm>
            <a:off x="4714875" y="1778766"/>
            <a:ext cx="92974" cy="94449"/>
          </a:xfrm>
          <a:prstGeom prst="rect">
            <a:avLst/>
          </a:prstGeom>
          <a:noFill/>
          <a:ln/>
        </p:spPr>
        <p:txBody>
          <a:bodyPr wrap="none" lIns="0" tIns="0" rIns="0" bIns="0" rtlCol="0" anchor="t">
            <a:spAutoFit/>
          </a:bodyPr>
          <a:lstStyle/>
          <a:p>
            <a:pPr marL="0" indent="0" algn="l">
              <a:lnSpc>
                <a:spcPts val="700"/>
              </a:lnSpc>
              <a:buNone/>
            </a:pPr>
            <a:r>
              <a:rPr lang="en-US" sz="800" b="1" dirty="0">
                <a:solidFill>
                  <a:srgbClr val="FF3333"/>
                </a:solidFill>
              </a:rPr>
              <a:t>→</a:t>
            </a:r>
            <a:endParaRPr lang="en-US" sz="800" dirty="0"/>
          </a:p>
        </p:txBody>
      </p:sp>
      <p:sp>
        <p:nvSpPr>
          <p:cNvPr id="36" name="Text 33"/>
          <p:cNvSpPr/>
          <p:nvPr/>
        </p:nvSpPr>
        <p:spPr>
          <a:xfrm>
            <a:off x="4714875" y="1907353"/>
            <a:ext cx="92974" cy="94449"/>
          </a:xfrm>
          <a:prstGeom prst="rect">
            <a:avLst/>
          </a:prstGeom>
          <a:noFill/>
          <a:ln/>
        </p:spPr>
        <p:txBody>
          <a:bodyPr wrap="none" lIns="0" tIns="0" rIns="0" bIns="0" rtlCol="0" anchor="t">
            <a:spAutoFit/>
          </a:bodyPr>
          <a:lstStyle/>
          <a:p>
            <a:pPr marL="0" indent="0" algn="l">
              <a:lnSpc>
                <a:spcPts val="700"/>
              </a:lnSpc>
              <a:buNone/>
            </a:pPr>
            <a:r>
              <a:rPr lang="en-US" sz="800" b="1" dirty="0">
                <a:solidFill>
                  <a:srgbClr val="FF3333"/>
                </a:solidFill>
              </a:rPr>
              <a:t>→</a:t>
            </a:r>
            <a:endParaRPr lang="en-US" sz="800" dirty="0"/>
          </a:p>
        </p:txBody>
      </p:sp>
      <p:sp>
        <p:nvSpPr>
          <p:cNvPr id="37" name="Text 34"/>
          <p:cNvSpPr/>
          <p:nvPr/>
        </p:nvSpPr>
        <p:spPr>
          <a:xfrm>
            <a:off x="4714875" y="2035941"/>
            <a:ext cx="92974" cy="94449"/>
          </a:xfrm>
          <a:prstGeom prst="rect">
            <a:avLst/>
          </a:prstGeom>
          <a:noFill/>
          <a:ln/>
        </p:spPr>
        <p:txBody>
          <a:bodyPr wrap="none" lIns="0" tIns="0" rIns="0" bIns="0" rtlCol="0" anchor="t">
            <a:spAutoFit/>
          </a:bodyPr>
          <a:lstStyle/>
          <a:p>
            <a:pPr marL="0" indent="0" algn="l">
              <a:lnSpc>
                <a:spcPts val="700"/>
              </a:lnSpc>
              <a:buNone/>
            </a:pPr>
            <a:r>
              <a:rPr lang="en-US" sz="800" b="1" dirty="0">
                <a:solidFill>
                  <a:srgbClr val="FF3333"/>
                </a:solidFill>
              </a:rPr>
              <a:t>→</a:t>
            </a:r>
            <a:endParaRPr lang="en-US" sz="800" dirty="0"/>
          </a:p>
        </p:txBody>
      </p:sp>
      <p:sp>
        <p:nvSpPr>
          <p:cNvPr id="38" name="Text 35"/>
          <p:cNvSpPr/>
          <p:nvPr/>
        </p:nvSpPr>
        <p:spPr>
          <a:xfrm>
            <a:off x="4714875" y="2164528"/>
            <a:ext cx="92974" cy="94449"/>
          </a:xfrm>
          <a:prstGeom prst="rect">
            <a:avLst/>
          </a:prstGeom>
          <a:noFill/>
          <a:ln/>
        </p:spPr>
        <p:txBody>
          <a:bodyPr wrap="none" lIns="0" tIns="0" rIns="0" bIns="0" rtlCol="0" anchor="t">
            <a:spAutoFit/>
          </a:bodyPr>
          <a:lstStyle/>
          <a:p>
            <a:pPr marL="0" indent="0" algn="l">
              <a:lnSpc>
                <a:spcPts val="700"/>
              </a:lnSpc>
              <a:buNone/>
            </a:pPr>
            <a:r>
              <a:rPr lang="en-US" sz="800" b="1" dirty="0">
                <a:solidFill>
                  <a:srgbClr val="FF3333"/>
                </a:solidFill>
              </a:rPr>
              <a:t>→</a:t>
            </a:r>
            <a:endParaRPr lang="en-US" sz="800" dirty="0"/>
          </a:p>
        </p:txBody>
      </p:sp>
      <p:sp>
        <p:nvSpPr>
          <p:cNvPr id="39" name="Text 36"/>
          <p:cNvSpPr/>
          <p:nvPr/>
        </p:nvSpPr>
        <p:spPr>
          <a:xfrm>
            <a:off x="457200" y="3043238"/>
            <a:ext cx="1057341" cy="94449"/>
          </a:xfrm>
          <a:prstGeom prst="rect">
            <a:avLst/>
          </a:prstGeom>
          <a:noFill/>
          <a:ln/>
        </p:spPr>
        <p:txBody>
          <a:bodyPr wrap="none" lIns="0" tIns="0" rIns="0" bIns="0" rtlCol="0" anchor="t">
            <a:spAutoFit/>
          </a:bodyPr>
          <a:lstStyle/>
          <a:p>
            <a:pPr marL="0" indent="0" algn="l">
              <a:lnSpc>
                <a:spcPts val="700"/>
              </a:lnSpc>
              <a:buNone/>
            </a:pPr>
            <a:r>
              <a:rPr lang="en-US" sz="800" b="1" kern="0" spc="1" dirty="0">
                <a:solidFill>
                  <a:srgbClr val="FF3333"/>
                </a:solidFill>
              </a:rPr>
              <a:t>[ RECOMMENDATION 3 ]</a:t>
            </a:r>
            <a:endParaRPr lang="en-US" sz="800" dirty="0"/>
          </a:p>
        </p:txBody>
      </p:sp>
      <p:sp>
        <p:nvSpPr>
          <p:cNvPr id="40" name="Text 37"/>
          <p:cNvSpPr/>
          <p:nvPr/>
        </p:nvSpPr>
        <p:spPr>
          <a:xfrm>
            <a:off x="457200" y="3198614"/>
            <a:ext cx="2327560" cy="120418"/>
          </a:xfrm>
          <a:prstGeom prst="rect">
            <a:avLst/>
          </a:prstGeom>
          <a:noFill/>
          <a:ln/>
        </p:spPr>
        <p:txBody>
          <a:bodyPr wrap="none" lIns="0" tIns="0" rIns="0" bIns="0" rtlCol="0" anchor="t">
            <a:spAutoFit/>
          </a:bodyPr>
          <a:lstStyle/>
          <a:p>
            <a:pPr marL="0" indent="0" algn="l">
              <a:lnSpc>
                <a:spcPts val="900"/>
              </a:lnSpc>
              <a:buNone/>
            </a:pPr>
            <a:r>
              <a:rPr lang="en-US" sz="1000" b="1" dirty="0">
                <a:solidFill>
                  <a:srgbClr val="FF3333"/>
                </a:solidFill>
              </a:rPr>
              <a:t>Address Sudo NOPASSWD Misconfiguration</a:t>
            </a:r>
            <a:endParaRPr lang="en-US" sz="1000" dirty="0"/>
          </a:p>
        </p:txBody>
      </p:sp>
      <p:sp>
        <p:nvSpPr>
          <p:cNvPr id="41" name="Text 38"/>
          <p:cNvSpPr/>
          <p:nvPr/>
        </p:nvSpPr>
        <p:spPr>
          <a:xfrm>
            <a:off x="457200" y="3367190"/>
            <a:ext cx="3971925" cy="270011"/>
          </a:xfrm>
          <a:prstGeom prst="rect">
            <a:avLst/>
          </a:prstGeom>
          <a:noFill/>
          <a:ln/>
        </p:spPr>
        <p:txBody>
          <a:bodyPr wrap="square" lIns="0" tIns="51054" rIns="0" bIns="0" rtlCol="0" anchor="t">
            <a:spAutoFit/>
          </a:bodyPr>
          <a:lstStyle/>
          <a:p>
            <a:pPr marL="0" indent="0" algn="l">
              <a:lnSpc>
                <a:spcPts val="900"/>
              </a:lnSpc>
              <a:buNone/>
            </a:pPr>
            <a:r>
              <a:rPr lang="en-US" sz="568" dirty="0">
                <a:solidFill>
                  <a:srgbClr val="E0E0E0"/>
                </a:solidFill>
              </a:rPr>
              <a:t>Remove unnecessary NOPASSWD entries from sudoers configuration immediately to eliminate privilege escalation vector.</a:t>
            </a:r>
            <a:endParaRPr lang="en-US" sz="568" dirty="0"/>
          </a:p>
        </p:txBody>
      </p:sp>
      <p:sp>
        <p:nvSpPr>
          <p:cNvPr id="42" name="Text 39"/>
          <p:cNvSpPr/>
          <p:nvPr/>
        </p:nvSpPr>
        <p:spPr>
          <a:xfrm>
            <a:off x="457200" y="3780076"/>
            <a:ext cx="899605" cy="91564"/>
          </a:xfrm>
          <a:prstGeom prst="rect">
            <a:avLst/>
          </a:prstGeom>
          <a:noFill/>
          <a:ln/>
        </p:spPr>
        <p:txBody>
          <a:bodyPr wrap="none" lIns="0" tIns="0" rIns="0" bIns="0" rtlCol="0" anchor="t">
            <a:spAutoFit/>
          </a:bodyPr>
          <a:lstStyle/>
          <a:p>
            <a:pPr marL="0" indent="0" algn="l">
              <a:lnSpc>
                <a:spcPts val="600"/>
              </a:lnSpc>
              <a:buNone/>
            </a:pPr>
            <a:r>
              <a:rPr lang="en-US" sz="1000" b="1" kern="0" spc="1" dirty="0">
                <a:solidFill>
                  <a:srgbClr val="FF3333"/>
                </a:solidFill>
              </a:rPr>
              <a:t>Implementation:</a:t>
            </a:r>
            <a:endParaRPr lang="en-US" sz="1000" dirty="0"/>
          </a:p>
        </p:txBody>
      </p:sp>
      <p:sp>
        <p:nvSpPr>
          <p:cNvPr id="43" name="Text 40"/>
          <p:cNvSpPr/>
          <p:nvPr/>
        </p:nvSpPr>
        <p:spPr>
          <a:xfrm>
            <a:off x="457200" y="3931881"/>
            <a:ext cx="2432845" cy="94449"/>
          </a:xfrm>
          <a:prstGeom prst="rect">
            <a:avLst/>
          </a:prstGeom>
          <a:noFill/>
          <a:ln/>
        </p:spPr>
        <p:txBody>
          <a:bodyPr wrap="none" lIns="136017" tIns="0" rIns="0" bIns="0" rtlCol="0" anchor="t">
            <a:spAutoFit/>
          </a:bodyPr>
          <a:lstStyle/>
          <a:p>
            <a:pPr marL="0" indent="0" algn="l">
              <a:lnSpc>
                <a:spcPts val="700"/>
              </a:lnSpc>
              <a:buNone/>
            </a:pPr>
            <a:r>
              <a:rPr lang="en-US" sz="800" dirty="0">
                <a:solidFill>
                  <a:srgbClr val="E0E0E0"/>
                </a:solidFill>
              </a:rPr>
              <a:t>Audit all sudoers entries for NOPASSWD configurations</a:t>
            </a:r>
            <a:endParaRPr lang="en-US" sz="800" dirty="0"/>
          </a:p>
        </p:txBody>
      </p:sp>
      <p:sp>
        <p:nvSpPr>
          <p:cNvPr id="44" name="Text 41"/>
          <p:cNvSpPr/>
          <p:nvPr/>
        </p:nvSpPr>
        <p:spPr>
          <a:xfrm>
            <a:off x="457200" y="4060468"/>
            <a:ext cx="1969578" cy="94449"/>
          </a:xfrm>
          <a:prstGeom prst="rect">
            <a:avLst/>
          </a:prstGeom>
          <a:noFill/>
          <a:ln/>
        </p:spPr>
        <p:txBody>
          <a:bodyPr wrap="none" lIns="136017" tIns="0" rIns="0" bIns="0" rtlCol="0" anchor="t">
            <a:spAutoFit/>
          </a:bodyPr>
          <a:lstStyle/>
          <a:p>
            <a:pPr marL="0" indent="0" algn="l">
              <a:lnSpc>
                <a:spcPts val="700"/>
              </a:lnSpc>
              <a:buNone/>
            </a:pPr>
            <a:r>
              <a:rPr lang="en-US" sz="800" dirty="0">
                <a:solidFill>
                  <a:srgbClr val="E0E0E0"/>
                </a:solidFill>
              </a:rPr>
              <a:t>Remove all unnecessary NOPASSWD entries</a:t>
            </a:r>
            <a:endParaRPr lang="en-US" sz="800" dirty="0"/>
          </a:p>
        </p:txBody>
      </p:sp>
      <p:sp>
        <p:nvSpPr>
          <p:cNvPr id="45" name="Text 42"/>
          <p:cNvSpPr/>
          <p:nvPr/>
        </p:nvSpPr>
        <p:spPr>
          <a:xfrm>
            <a:off x="457200" y="4189056"/>
            <a:ext cx="2578719" cy="94449"/>
          </a:xfrm>
          <a:prstGeom prst="rect">
            <a:avLst/>
          </a:prstGeom>
          <a:noFill/>
          <a:ln/>
        </p:spPr>
        <p:txBody>
          <a:bodyPr wrap="none" lIns="136017" tIns="0" rIns="0" bIns="0" rtlCol="0" anchor="t">
            <a:spAutoFit/>
          </a:bodyPr>
          <a:lstStyle/>
          <a:p>
            <a:pPr marL="0" indent="0" algn="l">
              <a:lnSpc>
                <a:spcPts val="700"/>
              </a:lnSpc>
              <a:buNone/>
            </a:pPr>
            <a:r>
              <a:rPr lang="en-US" sz="800" dirty="0">
                <a:solidFill>
                  <a:srgbClr val="E0E0E0"/>
                </a:solidFill>
              </a:rPr>
              <a:t>Restrict commands allowed via sudo to minimum required</a:t>
            </a:r>
            <a:endParaRPr lang="en-US" sz="800" dirty="0"/>
          </a:p>
        </p:txBody>
      </p:sp>
      <p:sp>
        <p:nvSpPr>
          <p:cNvPr id="46" name="Text 43"/>
          <p:cNvSpPr/>
          <p:nvPr/>
        </p:nvSpPr>
        <p:spPr>
          <a:xfrm>
            <a:off x="457200" y="4317643"/>
            <a:ext cx="1639360" cy="94449"/>
          </a:xfrm>
          <a:prstGeom prst="rect">
            <a:avLst/>
          </a:prstGeom>
          <a:noFill/>
          <a:ln/>
        </p:spPr>
        <p:txBody>
          <a:bodyPr wrap="none" lIns="136017" tIns="0" rIns="0" bIns="0" rtlCol="0" anchor="t">
            <a:spAutoFit/>
          </a:bodyPr>
          <a:lstStyle/>
          <a:p>
            <a:pPr marL="0" indent="0" algn="l">
              <a:lnSpc>
                <a:spcPts val="700"/>
              </a:lnSpc>
              <a:buNone/>
            </a:pPr>
            <a:r>
              <a:rPr lang="en-US" sz="800" dirty="0">
                <a:solidFill>
                  <a:srgbClr val="E0E0E0"/>
                </a:solidFill>
              </a:rPr>
              <a:t>Enable sudo logging and monitoring</a:t>
            </a:r>
            <a:endParaRPr lang="en-US" sz="800" dirty="0"/>
          </a:p>
        </p:txBody>
      </p:sp>
      <p:sp>
        <p:nvSpPr>
          <p:cNvPr id="47" name="Shape 44"/>
          <p:cNvSpPr/>
          <p:nvPr/>
        </p:nvSpPr>
        <p:spPr>
          <a:xfrm>
            <a:off x="457200" y="4524812"/>
            <a:ext cx="3971925" cy="197876"/>
          </a:xfrm>
          <a:prstGeom prst="rect">
            <a:avLst/>
          </a:prstGeom>
          <a:solidFill>
            <a:srgbClr val="00FF41">
              <a:alpha val="8000"/>
            </a:srgbClr>
          </a:solidFill>
          <a:ln/>
        </p:spPr>
        <p:txBody>
          <a:bodyPr/>
          <a:lstStyle/>
          <a:p>
            <a:endParaRPr lang="en-US"/>
          </a:p>
        </p:txBody>
      </p:sp>
      <p:sp>
        <p:nvSpPr>
          <p:cNvPr id="48" name="Shape 45"/>
          <p:cNvSpPr/>
          <p:nvPr/>
        </p:nvSpPr>
        <p:spPr>
          <a:xfrm>
            <a:off x="457200" y="4524812"/>
            <a:ext cx="14288" cy="197876"/>
          </a:xfrm>
          <a:prstGeom prst="rect">
            <a:avLst/>
          </a:prstGeom>
          <a:solidFill>
            <a:srgbClr val="00FF41"/>
          </a:solidFill>
          <a:ln/>
        </p:spPr>
        <p:txBody>
          <a:bodyPr/>
          <a:lstStyle/>
          <a:p>
            <a:endParaRPr lang="en-US"/>
          </a:p>
        </p:txBody>
      </p:sp>
      <p:sp>
        <p:nvSpPr>
          <p:cNvPr id="49" name="Text 46"/>
          <p:cNvSpPr/>
          <p:nvPr/>
        </p:nvSpPr>
        <p:spPr>
          <a:xfrm>
            <a:off x="457200" y="4524812"/>
            <a:ext cx="3971925" cy="238655"/>
          </a:xfrm>
          <a:prstGeom prst="rect">
            <a:avLst/>
          </a:prstGeom>
          <a:noFill/>
          <a:ln/>
        </p:spPr>
        <p:txBody>
          <a:bodyPr wrap="square" lIns="85090" tIns="68072" rIns="85090" bIns="68072" rtlCol="0" anchor="t">
            <a:spAutoFit/>
          </a:bodyPr>
          <a:lstStyle/>
          <a:p>
            <a:pPr marL="0" indent="0" algn="l">
              <a:lnSpc>
                <a:spcPts val="700"/>
              </a:lnSpc>
              <a:buNone/>
            </a:pPr>
            <a:r>
              <a:rPr lang="en-US" sz="1000" dirty="0">
                <a:solidFill>
                  <a:srgbClr val="E0E0E0"/>
                </a:solidFill>
              </a:rPr>
              <a:t>Priority: CRITICAL | Timeline: Immediate (within hours)</a:t>
            </a:r>
            <a:endParaRPr lang="en-US" sz="1000" dirty="0"/>
          </a:p>
        </p:txBody>
      </p:sp>
      <p:sp>
        <p:nvSpPr>
          <p:cNvPr id="50" name="Shape 47"/>
          <p:cNvSpPr/>
          <p:nvPr/>
        </p:nvSpPr>
        <p:spPr>
          <a:xfrm>
            <a:off x="4614863" y="2943225"/>
            <a:ext cx="4171950" cy="1985963"/>
          </a:xfrm>
          <a:prstGeom prst="rect">
            <a:avLst/>
          </a:prstGeom>
          <a:solidFill>
            <a:srgbClr val="FF3333">
              <a:alpha val="5000"/>
            </a:srgbClr>
          </a:solidFill>
          <a:ln w="18288">
            <a:solidFill>
              <a:srgbClr val="FF3333"/>
            </a:solidFill>
            <a:prstDash val="solid"/>
          </a:ln>
        </p:spPr>
        <p:txBody>
          <a:bodyPr/>
          <a:lstStyle/>
          <a:p>
            <a:endParaRPr lang="en-US"/>
          </a:p>
        </p:txBody>
      </p:sp>
      <p:sp>
        <p:nvSpPr>
          <p:cNvPr id="51" name="Text 48"/>
          <p:cNvSpPr/>
          <p:nvPr/>
        </p:nvSpPr>
        <p:spPr>
          <a:xfrm>
            <a:off x="457200" y="3931881"/>
            <a:ext cx="92974" cy="94449"/>
          </a:xfrm>
          <a:prstGeom prst="rect">
            <a:avLst/>
          </a:prstGeom>
          <a:noFill/>
          <a:ln/>
        </p:spPr>
        <p:txBody>
          <a:bodyPr wrap="none" lIns="0" tIns="0" rIns="0" bIns="0" rtlCol="0" anchor="t">
            <a:spAutoFit/>
          </a:bodyPr>
          <a:lstStyle/>
          <a:p>
            <a:pPr marL="0" indent="0" algn="l">
              <a:lnSpc>
                <a:spcPts val="700"/>
              </a:lnSpc>
              <a:buNone/>
            </a:pPr>
            <a:r>
              <a:rPr lang="en-US" sz="800" b="1" dirty="0">
                <a:solidFill>
                  <a:srgbClr val="FF3333"/>
                </a:solidFill>
              </a:rPr>
              <a:t>→</a:t>
            </a:r>
            <a:endParaRPr lang="en-US" sz="800" dirty="0"/>
          </a:p>
        </p:txBody>
      </p:sp>
      <p:sp>
        <p:nvSpPr>
          <p:cNvPr id="52" name="Text 49"/>
          <p:cNvSpPr/>
          <p:nvPr/>
        </p:nvSpPr>
        <p:spPr>
          <a:xfrm>
            <a:off x="457200" y="4060468"/>
            <a:ext cx="92974" cy="94449"/>
          </a:xfrm>
          <a:prstGeom prst="rect">
            <a:avLst/>
          </a:prstGeom>
          <a:noFill/>
          <a:ln/>
        </p:spPr>
        <p:txBody>
          <a:bodyPr wrap="none" lIns="0" tIns="0" rIns="0" bIns="0" rtlCol="0" anchor="t">
            <a:spAutoFit/>
          </a:bodyPr>
          <a:lstStyle/>
          <a:p>
            <a:pPr marL="0" indent="0" algn="l">
              <a:lnSpc>
                <a:spcPts val="700"/>
              </a:lnSpc>
              <a:buNone/>
            </a:pPr>
            <a:r>
              <a:rPr lang="en-US" sz="800" b="1" dirty="0">
                <a:solidFill>
                  <a:srgbClr val="FF3333"/>
                </a:solidFill>
              </a:rPr>
              <a:t>→</a:t>
            </a:r>
            <a:endParaRPr lang="en-US" sz="800" dirty="0"/>
          </a:p>
        </p:txBody>
      </p:sp>
      <p:sp>
        <p:nvSpPr>
          <p:cNvPr id="53" name="Text 50"/>
          <p:cNvSpPr/>
          <p:nvPr/>
        </p:nvSpPr>
        <p:spPr>
          <a:xfrm>
            <a:off x="457200" y="4189056"/>
            <a:ext cx="92974" cy="94449"/>
          </a:xfrm>
          <a:prstGeom prst="rect">
            <a:avLst/>
          </a:prstGeom>
          <a:noFill/>
          <a:ln/>
        </p:spPr>
        <p:txBody>
          <a:bodyPr wrap="none" lIns="0" tIns="0" rIns="0" bIns="0" rtlCol="0" anchor="t">
            <a:spAutoFit/>
          </a:bodyPr>
          <a:lstStyle/>
          <a:p>
            <a:pPr marL="0" indent="0" algn="l">
              <a:lnSpc>
                <a:spcPts val="700"/>
              </a:lnSpc>
              <a:buNone/>
            </a:pPr>
            <a:r>
              <a:rPr lang="en-US" sz="800" b="1" dirty="0">
                <a:solidFill>
                  <a:srgbClr val="FF3333"/>
                </a:solidFill>
              </a:rPr>
              <a:t>→</a:t>
            </a:r>
            <a:endParaRPr lang="en-US" sz="800" dirty="0"/>
          </a:p>
        </p:txBody>
      </p:sp>
      <p:sp>
        <p:nvSpPr>
          <p:cNvPr id="54" name="Text 51"/>
          <p:cNvSpPr/>
          <p:nvPr/>
        </p:nvSpPr>
        <p:spPr>
          <a:xfrm>
            <a:off x="457200" y="4317643"/>
            <a:ext cx="92974" cy="94449"/>
          </a:xfrm>
          <a:prstGeom prst="rect">
            <a:avLst/>
          </a:prstGeom>
          <a:noFill/>
          <a:ln/>
        </p:spPr>
        <p:txBody>
          <a:bodyPr wrap="none" lIns="0" tIns="0" rIns="0" bIns="0" rtlCol="0" anchor="t">
            <a:spAutoFit/>
          </a:bodyPr>
          <a:lstStyle/>
          <a:p>
            <a:pPr marL="0" indent="0" algn="l">
              <a:lnSpc>
                <a:spcPts val="700"/>
              </a:lnSpc>
              <a:buNone/>
            </a:pPr>
            <a:r>
              <a:rPr lang="en-US" sz="800" b="1" dirty="0">
                <a:solidFill>
                  <a:srgbClr val="FF3333"/>
                </a:solidFill>
              </a:rPr>
              <a:t>→</a:t>
            </a:r>
            <a:endParaRPr lang="en-US" sz="800" dirty="0"/>
          </a:p>
        </p:txBody>
      </p:sp>
      <p:sp>
        <p:nvSpPr>
          <p:cNvPr id="55" name="Text 52"/>
          <p:cNvSpPr/>
          <p:nvPr/>
        </p:nvSpPr>
        <p:spPr>
          <a:xfrm>
            <a:off x="4714875" y="3057525"/>
            <a:ext cx="1057341" cy="94449"/>
          </a:xfrm>
          <a:prstGeom prst="rect">
            <a:avLst/>
          </a:prstGeom>
          <a:noFill/>
          <a:ln/>
        </p:spPr>
        <p:txBody>
          <a:bodyPr wrap="none" lIns="0" tIns="0" rIns="0" bIns="0" rtlCol="0" anchor="t">
            <a:spAutoFit/>
          </a:bodyPr>
          <a:lstStyle/>
          <a:p>
            <a:pPr marL="0" indent="0" algn="l">
              <a:lnSpc>
                <a:spcPts val="700"/>
              </a:lnSpc>
              <a:buNone/>
            </a:pPr>
            <a:r>
              <a:rPr lang="en-US" sz="800" b="1" kern="0" spc="1" dirty="0">
                <a:solidFill>
                  <a:srgbClr val="FF3333"/>
                </a:solidFill>
              </a:rPr>
              <a:t>[ RECOMMENDATION 4 ]</a:t>
            </a:r>
            <a:endParaRPr lang="en-US" sz="800" dirty="0"/>
          </a:p>
        </p:txBody>
      </p:sp>
      <p:sp>
        <p:nvSpPr>
          <p:cNvPr id="56" name="Text 53"/>
          <p:cNvSpPr/>
          <p:nvPr/>
        </p:nvSpPr>
        <p:spPr>
          <a:xfrm>
            <a:off x="4714875" y="3212902"/>
            <a:ext cx="1381789" cy="120418"/>
          </a:xfrm>
          <a:prstGeom prst="rect">
            <a:avLst/>
          </a:prstGeom>
          <a:noFill/>
          <a:ln/>
        </p:spPr>
        <p:txBody>
          <a:bodyPr wrap="none" lIns="0" tIns="0" rIns="0" bIns="0" rtlCol="0" anchor="t">
            <a:spAutoFit/>
          </a:bodyPr>
          <a:lstStyle/>
          <a:p>
            <a:pPr marL="0" indent="0" algn="l">
              <a:lnSpc>
                <a:spcPts val="900"/>
              </a:lnSpc>
              <a:buNone/>
            </a:pPr>
            <a:r>
              <a:rPr lang="en-US" sz="1000" b="1" dirty="0">
                <a:solidFill>
                  <a:srgbClr val="FF3333"/>
                </a:solidFill>
              </a:rPr>
              <a:t>Secure Configuration Files</a:t>
            </a:r>
            <a:endParaRPr lang="en-US" sz="1000" dirty="0"/>
          </a:p>
        </p:txBody>
      </p:sp>
      <p:sp>
        <p:nvSpPr>
          <p:cNvPr id="57" name="Text 54"/>
          <p:cNvSpPr/>
          <p:nvPr/>
        </p:nvSpPr>
        <p:spPr>
          <a:xfrm>
            <a:off x="4714875" y="3381477"/>
            <a:ext cx="3971925" cy="282385"/>
          </a:xfrm>
          <a:prstGeom prst="rect">
            <a:avLst/>
          </a:prstGeom>
          <a:noFill/>
          <a:ln/>
        </p:spPr>
        <p:txBody>
          <a:bodyPr wrap="square" lIns="0" tIns="51054" rIns="0" bIns="0" rtlCol="0" anchor="t">
            <a:spAutoFit/>
          </a:bodyPr>
          <a:lstStyle/>
          <a:p>
            <a:pPr marL="0" indent="0" algn="l">
              <a:lnSpc>
                <a:spcPts val="900"/>
              </a:lnSpc>
              <a:buNone/>
            </a:pPr>
            <a:r>
              <a:rPr lang="en-US" sz="800" dirty="0">
                <a:solidFill>
                  <a:srgbClr val="E0E0E0"/>
                </a:solidFill>
              </a:rPr>
              <a:t>Move sensitive configuration files outside webroot and restrict filesystem permissions to prevent unauthorized access.</a:t>
            </a:r>
            <a:endParaRPr lang="en-US" sz="800" dirty="0"/>
          </a:p>
        </p:txBody>
      </p:sp>
      <p:sp>
        <p:nvSpPr>
          <p:cNvPr id="58" name="Text 55"/>
          <p:cNvSpPr/>
          <p:nvPr/>
        </p:nvSpPr>
        <p:spPr>
          <a:xfrm>
            <a:off x="4714875" y="3794364"/>
            <a:ext cx="899605" cy="91564"/>
          </a:xfrm>
          <a:prstGeom prst="rect">
            <a:avLst/>
          </a:prstGeom>
          <a:noFill/>
          <a:ln/>
        </p:spPr>
        <p:txBody>
          <a:bodyPr wrap="none" lIns="0" tIns="0" rIns="0" bIns="0" rtlCol="0" anchor="t">
            <a:spAutoFit/>
          </a:bodyPr>
          <a:lstStyle/>
          <a:p>
            <a:pPr marL="0" indent="0" algn="l">
              <a:lnSpc>
                <a:spcPts val="600"/>
              </a:lnSpc>
              <a:buNone/>
            </a:pPr>
            <a:r>
              <a:rPr lang="en-US" sz="1000" b="1" kern="0" spc="1" dirty="0">
                <a:solidFill>
                  <a:srgbClr val="FF3333"/>
                </a:solidFill>
              </a:rPr>
              <a:t>Implementation:</a:t>
            </a:r>
            <a:endParaRPr lang="en-US" sz="1000" dirty="0"/>
          </a:p>
        </p:txBody>
      </p:sp>
      <p:sp>
        <p:nvSpPr>
          <p:cNvPr id="59" name="Text 56"/>
          <p:cNvSpPr/>
          <p:nvPr/>
        </p:nvSpPr>
        <p:spPr>
          <a:xfrm>
            <a:off x="4714875" y="3946168"/>
            <a:ext cx="2025683" cy="94449"/>
          </a:xfrm>
          <a:prstGeom prst="rect">
            <a:avLst/>
          </a:prstGeom>
          <a:noFill/>
          <a:ln/>
        </p:spPr>
        <p:txBody>
          <a:bodyPr wrap="none" lIns="136017" tIns="0" rIns="0" bIns="0" rtlCol="0" anchor="t">
            <a:spAutoFit/>
          </a:bodyPr>
          <a:lstStyle/>
          <a:p>
            <a:pPr marL="0" indent="0" algn="l">
              <a:lnSpc>
                <a:spcPts val="700"/>
              </a:lnSpc>
              <a:buNone/>
            </a:pPr>
            <a:r>
              <a:rPr lang="en-US" sz="800" dirty="0">
                <a:solidFill>
                  <a:srgbClr val="E0E0E0"/>
                </a:solidFill>
              </a:rPr>
              <a:t>Move knockd.conf outside webroot directory</a:t>
            </a:r>
            <a:endParaRPr lang="en-US" sz="800" dirty="0"/>
          </a:p>
        </p:txBody>
      </p:sp>
      <p:sp>
        <p:nvSpPr>
          <p:cNvPr id="60" name="Text 57"/>
          <p:cNvSpPr/>
          <p:nvPr/>
        </p:nvSpPr>
        <p:spPr>
          <a:xfrm>
            <a:off x="4714875" y="4074756"/>
            <a:ext cx="1967975" cy="94449"/>
          </a:xfrm>
          <a:prstGeom prst="rect">
            <a:avLst/>
          </a:prstGeom>
          <a:noFill/>
          <a:ln/>
        </p:spPr>
        <p:txBody>
          <a:bodyPr wrap="none" lIns="136017" tIns="0" rIns="0" bIns="0" rtlCol="0" anchor="t">
            <a:spAutoFit/>
          </a:bodyPr>
          <a:lstStyle/>
          <a:p>
            <a:pPr marL="0" indent="0" algn="l">
              <a:lnSpc>
                <a:spcPts val="700"/>
              </a:lnSpc>
              <a:buNone/>
            </a:pPr>
            <a:r>
              <a:rPr lang="en-US" sz="800" dirty="0">
                <a:solidFill>
                  <a:srgbClr val="E0E0E0"/>
                </a:solidFill>
              </a:rPr>
              <a:t>Restrict file permissions (chmod 600 or 640)</a:t>
            </a:r>
            <a:endParaRPr lang="en-US" sz="800" dirty="0"/>
          </a:p>
        </p:txBody>
      </p:sp>
      <p:sp>
        <p:nvSpPr>
          <p:cNvPr id="61" name="Text 58"/>
          <p:cNvSpPr/>
          <p:nvPr/>
        </p:nvSpPr>
        <p:spPr>
          <a:xfrm>
            <a:off x="4714875" y="4203343"/>
            <a:ext cx="2213235" cy="94449"/>
          </a:xfrm>
          <a:prstGeom prst="rect">
            <a:avLst/>
          </a:prstGeom>
          <a:noFill/>
          <a:ln/>
        </p:spPr>
        <p:txBody>
          <a:bodyPr wrap="none" lIns="136017" tIns="0" rIns="0" bIns="0" rtlCol="0" anchor="t">
            <a:spAutoFit/>
          </a:bodyPr>
          <a:lstStyle/>
          <a:p>
            <a:pPr marL="0" indent="0" algn="l">
              <a:lnSpc>
                <a:spcPts val="700"/>
              </a:lnSpc>
              <a:buNone/>
            </a:pPr>
            <a:r>
              <a:rPr lang="en-US" sz="800" dirty="0">
                <a:solidFill>
                  <a:srgbClr val="E0E0E0"/>
                </a:solidFill>
              </a:rPr>
              <a:t>Store secrets in secure vault or protected location</a:t>
            </a:r>
            <a:endParaRPr lang="en-US" sz="800" dirty="0"/>
          </a:p>
        </p:txBody>
      </p:sp>
      <p:sp>
        <p:nvSpPr>
          <p:cNvPr id="62" name="Text 59"/>
          <p:cNvSpPr/>
          <p:nvPr/>
        </p:nvSpPr>
        <p:spPr>
          <a:xfrm>
            <a:off x="4714875" y="4331931"/>
            <a:ext cx="2412007" cy="94449"/>
          </a:xfrm>
          <a:prstGeom prst="rect">
            <a:avLst/>
          </a:prstGeom>
          <a:noFill/>
          <a:ln/>
        </p:spPr>
        <p:txBody>
          <a:bodyPr wrap="none" lIns="136017" tIns="0" rIns="0" bIns="0" rtlCol="0" anchor="t">
            <a:spAutoFit/>
          </a:bodyPr>
          <a:lstStyle/>
          <a:p>
            <a:pPr marL="0" indent="0" algn="l">
              <a:lnSpc>
                <a:spcPts val="700"/>
              </a:lnSpc>
              <a:buNone/>
            </a:pPr>
            <a:r>
              <a:rPr lang="en-US" sz="800" dirty="0">
                <a:solidFill>
                  <a:srgbClr val="E0E0E0"/>
                </a:solidFill>
              </a:rPr>
              <a:t>Remove web server read permissions on sensitive files</a:t>
            </a:r>
            <a:endParaRPr lang="en-US" sz="800" dirty="0"/>
          </a:p>
        </p:txBody>
      </p:sp>
      <p:sp>
        <p:nvSpPr>
          <p:cNvPr id="63" name="Shape 60"/>
          <p:cNvSpPr/>
          <p:nvPr/>
        </p:nvSpPr>
        <p:spPr>
          <a:xfrm>
            <a:off x="4714875" y="4539100"/>
            <a:ext cx="3971925" cy="197876"/>
          </a:xfrm>
          <a:prstGeom prst="rect">
            <a:avLst/>
          </a:prstGeom>
          <a:solidFill>
            <a:srgbClr val="00FF41">
              <a:alpha val="8000"/>
            </a:srgbClr>
          </a:solidFill>
          <a:ln/>
        </p:spPr>
        <p:txBody>
          <a:bodyPr/>
          <a:lstStyle/>
          <a:p>
            <a:endParaRPr lang="en-US"/>
          </a:p>
        </p:txBody>
      </p:sp>
      <p:sp>
        <p:nvSpPr>
          <p:cNvPr id="64" name="Shape 61"/>
          <p:cNvSpPr/>
          <p:nvPr/>
        </p:nvSpPr>
        <p:spPr>
          <a:xfrm>
            <a:off x="4714875" y="4539100"/>
            <a:ext cx="14288" cy="197876"/>
          </a:xfrm>
          <a:prstGeom prst="rect">
            <a:avLst/>
          </a:prstGeom>
          <a:solidFill>
            <a:srgbClr val="00FF41"/>
          </a:solidFill>
          <a:ln/>
        </p:spPr>
        <p:txBody>
          <a:bodyPr/>
          <a:lstStyle/>
          <a:p>
            <a:endParaRPr lang="en-US"/>
          </a:p>
        </p:txBody>
      </p:sp>
      <p:sp>
        <p:nvSpPr>
          <p:cNvPr id="65" name="Text 62"/>
          <p:cNvSpPr/>
          <p:nvPr/>
        </p:nvSpPr>
        <p:spPr>
          <a:xfrm>
            <a:off x="4714875" y="4539100"/>
            <a:ext cx="3971925" cy="238655"/>
          </a:xfrm>
          <a:prstGeom prst="rect">
            <a:avLst/>
          </a:prstGeom>
          <a:noFill/>
          <a:ln/>
        </p:spPr>
        <p:txBody>
          <a:bodyPr wrap="square" lIns="85090" tIns="68072" rIns="85090" bIns="68072" rtlCol="0" anchor="t">
            <a:spAutoFit/>
          </a:bodyPr>
          <a:lstStyle/>
          <a:p>
            <a:pPr marL="0" indent="0" algn="l">
              <a:lnSpc>
                <a:spcPts val="700"/>
              </a:lnSpc>
              <a:buNone/>
            </a:pPr>
            <a:r>
              <a:rPr lang="en-US" sz="1000" dirty="0">
                <a:solidFill>
                  <a:srgbClr val="E0E0E0"/>
                </a:solidFill>
              </a:rPr>
              <a:t>Priority: CRITICAL | Timeline: Immediate (24 hours)</a:t>
            </a:r>
            <a:endParaRPr lang="en-US" sz="1000" dirty="0"/>
          </a:p>
        </p:txBody>
      </p:sp>
      <p:sp>
        <p:nvSpPr>
          <p:cNvPr id="66" name="Text 63"/>
          <p:cNvSpPr/>
          <p:nvPr/>
        </p:nvSpPr>
        <p:spPr>
          <a:xfrm>
            <a:off x="4714875" y="3946168"/>
            <a:ext cx="92974" cy="94449"/>
          </a:xfrm>
          <a:prstGeom prst="rect">
            <a:avLst/>
          </a:prstGeom>
          <a:noFill/>
          <a:ln/>
        </p:spPr>
        <p:txBody>
          <a:bodyPr wrap="none" lIns="0" tIns="0" rIns="0" bIns="0" rtlCol="0" anchor="t">
            <a:spAutoFit/>
          </a:bodyPr>
          <a:lstStyle/>
          <a:p>
            <a:pPr marL="0" indent="0" algn="l">
              <a:lnSpc>
                <a:spcPts val="700"/>
              </a:lnSpc>
              <a:buNone/>
            </a:pPr>
            <a:r>
              <a:rPr lang="en-US" sz="800" b="1" dirty="0">
                <a:solidFill>
                  <a:srgbClr val="FF3333"/>
                </a:solidFill>
              </a:rPr>
              <a:t>→</a:t>
            </a:r>
            <a:endParaRPr lang="en-US" sz="800" dirty="0"/>
          </a:p>
        </p:txBody>
      </p:sp>
      <p:sp>
        <p:nvSpPr>
          <p:cNvPr id="67" name="Text 64"/>
          <p:cNvSpPr/>
          <p:nvPr/>
        </p:nvSpPr>
        <p:spPr>
          <a:xfrm>
            <a:off x="4714875" y="4074756"/>
            <a:ext cx="92974" cy="94449"/>
          </a:xfrm>
          <a:prstGeom prst="rect">
            <a:avLst/>
          </a:prstGeom>
          <a:noFill/>
          <a:ln/>
        </p:spPr>
        <p:txBody>
          <a:bodyPr wrap="none" lIns="0" tIns="0" rIns="0" bIns="0" rtlCol="0" anchor="t">
            <a:spAutoFit/>
          </a:bodyPr>
          <a:lstStyle/>
          <a:p>
            <a:pPr marL="0" indent="0" algn="l">
              <a:lnSpc>
                <a:spcPts val="700"/>
              </a:lnSpc>
              <a:buNone/>
            </a:pPr>
            <a:r>
              <a:rPr lang="en-US" sz="800" b="1" dirty="0">
                <a:solidFill>
                  <a:srgbClr val="FF3333"/>
                </a:solidFill>
              </a:rPr>
              <a:t>→</a:t>
            </a:r>
            <a:endParaRPr lang="en-US" sz="800" dirty="0"/>
          </a:p>
        </p:txBody>
      </p:sp>
      <p:sp>
        <p:nvSpPr>
          <p:cNvPr id="68" name="Text 65"/>
          <p:cNvSpPr/>
          <p:nvPr/>
        </p:nvSpPr>
        <p:spPr>
          <a:xfrm>
            <a:off x="4714875" y="4203343"/>
            <a:ext cx="92974" cy="94449"/>
          </a:xfrm>
          <a:prstGeom prst="rect">
            <a:avLst/>
          </a:prstGeom>
          <a:noFill/>
          <a:ln/>
        </p:spPr>
        <p:txBody>
          <a:bodyPr wrap="none" lIns="0" tIns="0" rIns="0" bIns="0" rtlCol="0" anchor="t">
            <a:spAutoFit/>
          </a:bodyPr>
          <a:lstStyle/>
          <a:p>
            <a:pPr marL="0" indent="0" algn="l">
              <a:lnSpc>
                <a:spcPts val="700"/>
              </a:lnSpc>
              <a:buNone/>
            </a:pPr>
            <a:r>
              <a:rPr lang="en-US" sz="800" b="1" dirty="0">
                <a:solidFill>
                  <a:srgbClr val="FF3333"/>
                </a:solidFill>
              </a:rPr>
              <a:t>→</a:t>
            </a:r>
            <a:endParaRPr lang="en-US" sz="800" dirty="0"/>
          </a:p>
        </p:txBody>
      </p:sp>
      <p:sp>
        <p:nvSpPr>
          <p:cNvPr id="69" name="Text 66"/>
          <p:cNvSpPr/>
          <p:nvPr/>
        </p:nvSpPr>
        <p:spPr>
          <a:xfrm>
            <a:off x="4714875" y="4331931"/>
            <a:ext cx="92974" cy="94449"/>
          </a:xfrm>
          <a:prstGeom prst="rect">
            <a:avLst/>
          </a:prstGeom>
          <a:noFill/>
          <a:ln/>
        </p:spPr>
        <p:txBody>
          <a:bodyPr wrap="none" lIns="0" tIns="0" rIns="0" bIns="0" rtlCol="0" anchor="t">
            <a:spAutoFit/>
          </a:bodyPr>
          <a:lstStyle/>
          <a:p>
            <a:pPr marL="0" indent="0" algn="l">
              <a:lnSpc>
                <a:spcPts val="700"/>
              </a:lnSpc>
              <a:buNone/>
            </a:pPr>
            <a:r>
              <a:rPr lang="en-US" sz="800" b="1" dirty="0">
                <a:solidFill>
                  <a:srgbClr val="FF3333"/>
                </a:solidFill>
              </a:rPr>
              <a:t>→</a:t>
            </a:r>
            <a:endParaRPr lang="en-US" sz="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57188" y="285750"/>
            <a:ext cx="8429625" cy="273248"/>
          </a:xfrm>
          <a:prstGeom prst="rect">
            <a:avLst/>
          </a:prstGeom>
          <a:noFill/>
          <a:ln/>
        </p:spPr>
        <p:txBody>
          <a:bodyPr wrap="none" lIns="0" tIns="0" rIns="0" bIns="0" rtlCol="0" anchor="t">
            <a:spAutoFit/>
          </a:bodyPr>
          <a:lstStyle/>
          <a:p>
            <a:pPr marL="0" indent="0" algn="l">
              <a:lnSpc>
                <a:spcPts val="1900"/>
              </a:lnSpc>
              <a:buNone/>
            </a:pPr>
            <a:r>
              <a:rPr lang="en-US" sz="1397" b="1" kern="0" spc="2" dirty="0">
                <a:solidFill>
                  <a:srgbClr val="00FF41"/>
                </a:solidFill>
              </a:rPr>
              <a:t>► HIGH/MEDIUM TERM: LONG-TERM SECURITY IMPROVEMENTS</a:t>
            </a:r>
            <a:endParaRPr lang="en-US" sz="1397" dirty="0"/>
          </a:p>
        </p:txBody>
      </p:sp>
      <p:sp>
        <p:nvSpPr>
          <p:cNvPr id="4" name="Shape 1"/>
          <p:cNvSpPr/>
          <p:nvPr/>
        </p:nvSpPr>
        <p:spPr>
          <a:xfrm>
            <a:off x="357188" y="737592"/>
            <a:ext cx="8429625" cy="273248"/>
          </a:xfrm>
          <a:prstGeom prst="rect">
            <a:avLst/>
          </a:prstGeom>
          <a:solidFill>
            <a:srgbClr val="00FF41">
              <a:alpha val="8000"/>
            </a:srgbClr>
          </a:solidFill>
          <a:ln w="9144">
            <a:solidFill>
              <a:srgbClr val="00FF41"/>
            </a:solidFill>
            <a:prstDash val="solid"/>
          </a:ln>
        </p:spPr>
        <p:txBody>
          <a:bodyPr/>
          <a:lstStyle/>
          <a:p>
            <a:endParaRPr lang="en-US"/>
          </a:p>
        </p:txBody>
      </p:sp>
      <p:sp>
        <p:nvSpPr>
          <p:cNvPr id="5" name="Text 2"/>
          <p:cNvSpPr/>
          <p:nvPr/>
        </p:nvSpPr>
        <p:spPr>
          <a:xfrm>
            <a:off x="357188" y="737592"/>
            <a:ext cx="8429625" cy="282641"/>
          </a:xfrm>
          <a:prstGeom prst="rect">
            <a:avLst/>
          </a:prstGeom>
          <a:noFill/>
          <a:ln/>
        </p:spPr>
        <p:txBody>
          <a:bodyPr wrap="square" lIns="127508" tIns="85090" rIns="127508" bIns="85090" rtlCol="0" anchor="t">
            <a:spAutoFit/>
          </a:bodyPr>
          <a:lstStyle/>
          <a:p>
            <a:pPr marL="0" indent="0" algn="l">
              <a:lnSpc>
                <a:spcPts val="800"/>
              </a:lnSpc>
              <a:buNone/>
            </a:pPr>
            <a:r>
              <a:rPr lang="en-US" sz="1000" kern="0" spc="1" dirty="0">
                <a:solidFill>
                  <a:srgbClr val="00FF41"/>
                </a:solidFill>
              </a:rPr>
              <a:t>[ STRATEGIC INITIATIVES ] Implementation over weeks to months for sustained security posture improvement</a:t>
            </a:r>
            <a:endParaRPr lang="en-US" sz="1000" dirty="0"/>
          </a:p>
        </p:txBody>
      </p:sp>
      <p:sp>
        <p:nvSpPr>
          <p:cNvPr id="6" name="Shape 3"/>
          <p:cNvSpPr/>
          <p:nvPr/>
        </p:nvSpPr>
        <p:spPr>
          <a:xfrm>
            <a:off x="357188" y="1139428"/>
            <a:ext cx="2714625" cy="3718322"/>
          </a:xfrm>
          <a:prstGeom prst="rect">
            <a:avLst/>
          </a:prstGeom>
          <a:solidFill>
            <a:srgbClr val="00FF41">
              <a:alpha val="5000"/>
            </a:srgbClr>
          </a:solidFill>
          <a:ln w="18288">
            <a:solidFill>
              <a:srgbClr val="00FF41"/>
            </a:solidFill>
            <a:prstDash val="solid"/>
          </a:ln>
        </p:spPr>
        <p:txBody>
          <a:bodyPr/>
          <a:lstStyle/>
          <a:p>
            <a:endParaRPr lang="en-US" sz="800"/>
          </a:p>
        </p:txBody>
      </p:sp>
      <p:sp>
        <p:nvSpPr>
          <p:cNvPr id="7" name="Text 4"/>
          <p:cNvSpPr/>
          <p:nvPr/>
        </p:nvSpPr>
        <p:spPr>
          <a:xfrm>
            <a:off x="500063" y="1282303"/>
            <a:ext cx="1325043" cy="101182"/>
          </a:xfrm>
          <a:prstGeom prst="rect">
            <a:avLst/>
          </a:prstGeom>
          <a:noFill/>
          <a:ln/>
        </p:spPr>
        <p:txBody>
          <a:bodyPr wrap="none" lIns="0" tIns="0" rIns="0" bIns="0" rtlCol="0" anchor="t">
            <a:spAutoFit/>
          </a:bodyPr>
          <a:lstStyle/>
          <a:p>
            <a:pPr marL="0" indent="0" algn="l">
              <a:lnSpc>
                <a:spcPts val="700"/>
              </a:lnSpc>
              <a:buNone/>
            </a:pPr>
            <a:r>
              <a:rPr lang="en-US" sz="1000" b="1" kern="0" spc="1" dirty="0">
                <a:solidFill>
                  <a:srgbClr val="FF3333"/>
                </a:solidFill>
              </a:rPr>
              <a:t>[ RECOMMENDATION 5 ]</a:t>
            </a:r>
            <a:endParaRPr lang="en-US" sz="1000" dirty="0"/>
          </a:p>
        </p:txBody>
      </p:sp>
      <p:sp>
        <p:nvSpPr>
          <p:cNvPr id="8" name="Text 5"/>
          <p:cNvSpPr/>
          <p:nvPr/>
        </p:nvSpPr>
        <p:spPr>
          <a:xfrm>
            <a:off x="500063" y="1475184"/>
            <a:ext cx="2677015" cy="130036"/>
          </a:xfrm>
          <a:prstGeom prst="rect">
            <a:avLst/>
          </a:prstGeom>
          <a:noFill/>
          <a:ln/>
        </p:spPr>
        <p:txBody>
          <a:bodyPr wrap="none" lIns="0" tIns="0" rIns="0" bIns="0" rtlCol="0" anchor="t">
            <a:spAutoFit/>
          </a:bodyPr>
          <a:lstStyle/>
          <a:p>
            <a:pPr marL="0" indent="0" algn="l">
              <a:lnSpc>
                <a:spcPts val="1000"/>
              </a:lnSpc>
              <a:buNone/>
            </a:pPr>
            <a:r>
              <a:rPr lang="en-US" sz="1000" b="1" dirty="0">
                <a:solidFill>
                  <a:srgbClr val="00FF41"/>
                </a:solidFill>
              </a:rPr>
              <a:t>Improve Password Management &amp; Authentication</a:t>
            </a:r>
            <a:endParaRPr lang="en-US" sz="1000" dirty="0"/>
          </a:p>
        </p:txBody>
      </p:sp>
      <p:sp>
        <p:nvSpPr>
          <p:cNvPr id="9" name="Text 6"/>
          <p:cNvSpPr/>
          <p:nvPr/>
        </p:nvSpPr>
        <p:spPr>
          <a:xfrm>
            <a:off x="500063" y="1681628"/>
            <a:ext cx="2428875" cy="417909"/>
          </a:xfrm>
          <a:prstGeom prst="rect">
            <a:avLst/>
          </a:prstGeom>
          <a:noFill/>
          <a:ln/>
        </p:spPr>
        <p:txBody>
          <a:bodyPr wrap="square" lIns="0" tIns="68072" rIns="0" bIns="0" rtlCol="0" anchor="t">
            <a:spAutoFit/>
          </a:bodyPr>
          <a:lstStyle/>
          <a:p>
            <a:pPr marL="0" indent="0" algn="l">
              <a:lnSpc>
                <a:spcPts val="900"/>
              </a:lnSpc>
              <a:buNone/>
            </a:pPr>
            <a:r>
              <a:rPr lang="en-US" sz="800" dirty="0">
                <a:solidFill>
                  <a:srgbClr val="E0E0E0"/>
                </a:solidFill>
              </a:rPr>
              <a:t>Migrate from weak password storage formats to modern, cryptographically secure hashing algorithms with enforcement of strong authentication policies.</a:t>
            </a:r>
            <a:endParaRPr lang="en-US" sz="800" dirty="0"/>
          </a:p>
        </p:txBody>
      </p:sp>
      <p:sp>
        <p:nvSpPr>
          <p:cNvPr id="10" name="Text 7"/>
          <p:cNvSpPr/>
          <p:nvPr/>
        </p:nvSpPr>
        <p:spPr>
          <a:xfrm>
            <a:off x="500063" y="2242412"/>
            <a:ext cx="1325427" cy="101182"/>
          </a:xfrm>
          <a:prstGeom prst="rect">
            <a:avLst/>
          </a:prstGeom>
          <a:noFill/>
          <a:ln/>
        </p:spPr>
        <p:txBody>
          <a:bodyPr wrap="none" lIns="0" tIns="0" rIns="0" bIns="0" rtlCol="0" anchor="t">
            <a:spAutoFit/>
          </a:bodyPr>
          <a:lstStyle/>
          <a:p>
            <a:pPr marL="0" indent="0" algn="l">
              <a:lnSpc>
                <a:spcPts val="700"/>
              </a:lnSpc>
              <a:buNone/>
            </a:pPr>
            <a:r>
              <a:rPr lang="en-US" sz="1000" b="1" kern="0" spc="1" dirty="0">
                <a:solidFill>
                  <a:srgbClr val="FF3333"/>
                </a:solidFill>
              </a:rPr>
              <a:t>Implementation Actions:</a:t>
            </a:r>
            <a:endParaRPr lang="en-US" sz="1000" dirty="0"/>
          </a:p>
        </p:txBody>
      </p:sp>
      <p:sp>
        <p:nvSpPr>
          <p:cNvPr id="11" name="Text 8"/>
          <p:cNvSpPr/>
          <p:nvPr/>
        </p:nvSpPr>
        <p:spPr>
          <a:xfrm>
            <a:off x="500063" y="2397789"/>
            <a:ext cx="1756378" cy="104067"/>
          </a:xfrm>
          <a:prstGeom prst="rect">
            <a:avLst/>
          </a:prstGeom>
          <a:noFill/>
          <a:ln/>
        </p:spPr>
        <p:txBody>
          <a:bodyPr wrap="none" lIns="136017" tIns="0" rIns="0" bIns="0" rtlCol="0" anchor="t">
            <a:spAutoFit/>
          </a:bodyPr>
          <a:lstStyle/>
          <a:p>
            <a:pPr marL="0" indent="0" algn="l">
              <a:lnSpc>
                <a:spcPts val="800"/>
              </a:lnSpc>
              <a:buNone/>
            </a:pPr>
            <a:r>
              <a:rPr lang="en-US" sz="800" dirty="0">
                <a:solidFill>
                  <a:srgbClr val="E0E0E0"/>
                </a:solidFill>
              </a:rPr>
              <a:t>Migrate from MD5 to Argon2 or bcrypt</a:t>
            </a:r>
            <a:endParaRPr lang="en-US" sz="800" dirty="0"/>
          </a:p>
        </p:txBody>
      </p:sp>
      <p:sp>
        <p:nvSpPr>
          <p:cNvPr id="12" name="Text 9"/>
          <p:cNvSpPr/>
          <p:nvPr/>
        </p:nvSpPr>
        <p:spPr>
          <a:xfrm>
            <a:off x="500063" y="2540664"/>
            <a:ext cx="1831720" cy="104067"/>
          </a:xfrm>
          <a:prstGeom prst="rect">
            <a:avLst/>
          </a:prstGeom>
          <a:noFill/>
          <a:ln/>
        </p:spPr>
        <p:txBody>
          <a:bodyPr wrap="none" lIns="136017" tIns="0" rIns="0" bIns="0" rtlCol="0" anchor="t">
            <a:spAutoFit/>
          </a:bodyPr>
          <a:lstStyle/>
          <a:p>
            <a:pPr marL="0" indent="0" algn="l">
              <a:lnSpc>
                <a:spcPts val="800"/>
              </a:lnSpc>
              <a:buNone/>
            </a:pPr>
            <a:r>
              <a:rPr lang="en-US" sz="800" dirty="0">
                <a:solidFill>
                  <a:srgbClr val="E0E0E0"/>
                </a:solidFill>
              </a:rPr>
              <a:t>Use unique salts for each password hash</a:t>
            </a:r>
            <a:endParaRPr lang="en-US" sz="800" dirty="0"/>
          </a:p>
        </p:txBody>
      </p:sp>
      <p:sp>
        <p:nvSpPr>
          <p:cNvPr id="13" name="Text 10"/>
          <p:cNvSpPr/>
          <p:nvPr/>
        </p:nvSpPr>
        <p:spPr>
          <a:xfrm>
            <a:off x="500063" y="2683539"/>
            <a:ext cx="1879810" cy="104067"/>
          </a:xfrm>
          <a:prstGeom prst="rect">
            <a:avLst/>
          </a:prstGeom>
          <a:noFill/>
          <a:ln/>
        </p:spPr>
        <p:txBody>
          <a:bodyPr wrap="none" lIns="136017" tIns="0" rIns="0" bIns="0" rtlCol="0" anchor="t">
            <a:spAutoFit/>
          </a:bodyPr>
          <a:lstStyle/>
          <a:p>
            <a:pPr marL="0" indent="0" algn="l">
              <a:lnSpc>
                <a:spcPts val="800"/>
              </a:lnSpc>
              <a:buNone/>
            </a:pPr>
            <a:r>
              <a:rPr lang="en-US" sz="800" dirty="0">
                <a:solidFill>
                  <a:srgbClr val="E0E0E0"/>
                </a:solidFill>
              </a:rPr>
              <a:t>Enforce strong password complexity rules</a:t>
            </a:r>
            <a:endParaRPr lang="en-US" sz="800" dirty="0"/>
          </a:p>
        </p:txBody>
      </p:sp>
      <p:sp>
        <p:nvSpPr>
          <p:cNvPr id="14" name="Text 11"/>
          <p:cNvSpPr/>
          <p:nvPr/>
        </p:nvSpPr>
        <p:spPr>
          <a:xfrm>
            <a:off x="500063" y="2826414"/>
            <a:ext cx="2168351" cy="104067"/>
          </a:xfrm>
          <a:prstGeom prst="rect">
            <a:avLst/>
          </a:prstGeom>
          <a:noFill/>
          <a:ln/>
        </p:spPr>
        <p:txBody>
          <a:bodyPr wrap="none" lIns="136017" tIns="0" rIns="0" bIns="0" rtlCol="0" anchor="t">
            <a:spAutoFit/>
          </a:bodyPr>
          <a:lstStyle/>
          <a:p>
            <a:pPr marL="0" indent="0" algn="l">
              <a:lnSpc>
                <a:spcPts val="800"/>
              </a:lnSpc>
              <a:buNone/>
            </a:pPr>
            <a:r>
              <a:rPr lang="en-US" sz="800" dirty="0">
                <a:solidFill>
                  <a:srgbClr val="E0E0E0"/>
                </a:solidFill>
              </a:rPr>
              <a:t>Implement account lockout after failed attempts</a:t>
            </a:r>
            <a:endParaRPr lang="en-US" sz="800" dirty="0"/>
          </a:p>
        </p:txBody>
      </p:sp>
      <p:sp>
        <p:nvSpPr>
          <p:cNvPr id="15" name="Text 12"/>
          <p:cNvSpPr/>
          <p:nvPr/>
        </p:nvSpPr>
        <p:spPr>
          <a:xfrm>
            <a:off x="500063" y="2969289"/>
            <a:ext cx="1887824" cy="104067"/>
          </a:xfrm>
          <a:prstGeom prst="rect">
            <a:avLst/>
          </a:prstGeom>
          <a:noFill/>
          <a:ln/>
        </p:spPr>
        <p:txBody>
          <a:bodyPr wrap="none" lIns="136017" tIns="0" rIns="0" bIns="0" rtlCol="0" anchor="t">
            <a:spAutoFit/>
          </a:bodyPr>
          <a:lstStyle/>
          <a:p>
            <a:pPr marL="0" indent="0" algn="l">
              <a:lnSpc>
                <a:spcPts val="800"/>
              </a:lnSpc>
              <a:buNone/>
            </a:pPr>
            <a:r>
              <a:rPr lang="en-US" sz="800" dirty="0">
                <a:solidFill>
                  <a:srgbClr val="E0E0E0"/>
                </a:solidFill>
              </a:rPr>
              <a:t>Enable Multi-Factor Authentication (MFA)</a:t>
            </a:r>
            <a:endParaRPr lang="en-US" sz="800" dirty="0"/>
          </a:p>
        </p:txBody>
      </p:sp>
      <p:sp>
        <p:nvSpPr>
          <p:cNvPr id="16" name="Text 13"/>
          <p:cNvSpPr/>
          <p:nvPr/>
        </p:nvSpPr>
        <p:spPr>
          <a:xfrm>
            <a:off x="500063" y="3112164"/>
            <a:ext cx="1855764" cy="104067"/>
          </a:xfrm>
          <a:prstGeom prst="rect">
            <a:avLst/>
          </a:prstGeom>
          <a:noFill/>
          <a:ln/>
        </p:spPr>
        <p:txBody>
          <a:bodyPr wrap="none" lIns="136017" tIns="0" rIns="0" bIns="0" rtlCol="0" anchor="t">
            <a:spAutoFit/>
          </a:bodyPr>
          <a:lstStyle/>
          <a:p>
            <a:pPr marL="0" indent="0" algn="l">
              <a:lnSpc>
                <a:spcPts val="800"/>
              </a:lnSpc>
              <a:buNone/>
            </a:pPr>
            <a:r>
              <a:rPr lang="en-US" sz="800" dirty="0">
                <a:solidFill>
                  <a:srgbClr val="E0E0E0"/>
                </a:solidFill>
              </a:rPr>
              <a:t>Conduct user security awareness training</a:t>
            </a:r>
            <a:endParaRPr lang="en-US" sz="800" dirty="0"/>
          </a:p>
        </p:txBody>
      </p:sp>
      <p:sp>
        <p:nvSpPr>
          <p:cNvPr id="17" name="Shape 14"/>
          <p:cNvSpPr/>
          <p:nvPr/>
        </p:nvSpPr>
        <p:spPr>
          <a:xfrm>
            <a:off x="500063" y="3633657"/>
            <a:ext cx="2428875" cy="350044"/>
          </a:xfrm>
          <a:prstGeom prst="rect">
            <a:avLst/>
          </a:prstGeom>
          <a:solidFill>
            <a:srgbClr val="00FF41">
              <a:alpha val="8000"/>
            </a:srgbClr>
          </a:solidFill>
          <a:ln/>
        </p:spPr>
        <p:txBody>
          <a:bodyPr/>
          <a:lstStyle/>
          <a:p>
            <a:endParaRPr lang="en-US"/>
          </a:p>
        </p:txBody>
      </p:sp>
      <p:sp>
        <p:nvSpPr>
          <p:cNvPr id="18" name="Shape 15"/>
          <p:cNvSpPr/>
          <p:nvPr/>
        </p:nvSpPr>
        <p:spPr>
          <a:xfrm>
            <a:off x="500063" y="3633657"/>
            <a:ext cx="14288" cy="350044"/>
          </a:xfrm>
          <a:prstGeom prst="rect">
            <a:avLst/>
          </a:prstGeom>
          <a:solidFill>
            <a:srgbClr val="00FF41"/>
          </a:solidFill>
          <a:ln/>
        </p:spPr>
        <p:txBody>
          <a:bodyPr/>
          <a:lstStyle/>
          <a:p>
            <a:endParaRPr lang="en-US"/>
          </a:p>
        </p:txBody>
      </p:sp>
      <p:sp>
        <p:nvSpPr>
          <p:cNvPr id="19" name="Text 16"/>
          <p:cNvSpPr/>
          <p:nvPr/>
        </p:nvSpPr>
        <p:spPr>
          <a:xfrm>
            <a:off x="500063" y="2397789"/>
            <a:ext cx="92974" cy="104067"/>
          </a:xfrm>
          <a:prstGeom prst="rect">
            <a:avLst/>
          </a:prstGeom>
          <a:noFill/>
          <a:ln/>
        </p:spPr>
        <p:txBody>
          <a:bodyPr wrap="none" lIns="0" tIns="0" rIns="0" bIns="0" rtlCol="0" anchor="t">
            <a:spAutoFit/>
          </a:bodyPr>
          <a:lstStyle/>
          <a:p>
            <a:pPr marL="0" indent="0" algn="l">
              <a:lnSpc>
                <a:spcPts val="800"/>
              </a:lnSpc>
              <a:buNone/>
            </a:pPr>
            <a:r>
              <a:rPr lang="en-US" sz="800" b="1" dirty="0">
                <a:solidFill>
                  <a:srgbClr val="00FF41"/>
                </a:solidFill>
              </a:rPr>
              <a:t>→</a:t>
            </a:r>
            <a:endParaRPr lang="en-US" sz="800" dirty="0"/>
          </a:p>
        </p:txBody>
      </p:sp>
      <p:sp>
        <p:nvSpPr>
          <p:cNvPr id="20" name="Text 17"/>
          <p:cNvSpPr/>
          <p:nvPr/>
        </p:nvSpPr>
        <p:spPr>
          <a:xfrm>
            <a:off x="500063" y="2540664"/>
            <a:ext cx="92974" cy="104067"/>
          </a:xfrm>
          <a:prstGeom prst="rect">
            <a:avLst/>
          </a:prstGeom>
          <a:noFill/>
          <a:ln/>
        </p:spPr>
        <p:txBody>
          <a:bodyPr wrap="none" lIns="0" tIns="0" rIns="0" bIns="0" rtlCol="0" anchor="t">
            <a:spAutoFit/>
          </a:bodyPr>
          <a:lstStyle/>
          <a:p>
            <a:pPr marL="0" indent="0" algn="l">
              <a:lnSpc>
                <a:spcPts val="800"/>
              </a:lnSpc>
              <a:buNone/>
            </a:pPr>
            <a:r>
              <a:rPr lang="en-US" sz="800" b="1" dirty="0">
                <a:solidFill>
                  <a:srgbClr val="00FF41"/>
                </a:solidFill>
              </a:rPr>
              <a:t>→</a:t>
            </a:r>
            <a:endParaRPr lang="en-US" sz="800" dirty="0"/>
          </a:p>
        </p:txBody>
      </p:sp>
      <p:sp>
        <p:nvSpPr>
          <p:cNvPr id="21" name="Text 18"/>
          <p:cNvSpPr/>
          <p:nvPr/>
        </p:nvSpPr>
        <p:spPr>
          <a:xfrm>
            <a:off x="500063" y="2683539"/>
            <a:ext cx="92974" cy="104067"/>
          </a:xfrm>
          <a:prstGeom prst="rect">
            <a:avLst/>
          </a:prstGeom>
          <a:noFill/>
          <a:ln/>
        </p:spPr>
        <p:txBody>
          <a:bodyPr wrap="none" lIns="0" tIns="0" rIns="0" bIns="0" rtlCol="0" anchor="t">
            <a:spAutoFit/>
          </a:bodyPr>
          <a:lstStyle/>
          <a:p>
            <a:pPr marL="0" indent="0" algn="l">
              <a:lnSpc>
                <a:spcPts val="800"/>
              </a:lnSpc>
              <a:buNone/>
            </a:pPr>
            <a:r>
              <a:rPr lang="en-US" sz="800" b="1" dirty="0">
                <a:solidFill>
                  <a:srgbClr val="00FF41"/>
                </a:solidFill>
              </a:rPr>
              <a:t>→</a:t>
            </a:r>
            <a:endParaRPr lang="en-US" sz="800" dirty="0"/>
          </a:p>
        </p:txBody>
      </p:sp>
      <p:sp>
        <p:nvSpPr>
          <p:cNvPr id="22" name="Text 19"/>
          <p:cNvSpPr/>
          <p:nvPr/>
        </p:nvSpPr>
        <p:spPr>
          <a:xfrm>
            <a:off x="500063" y="2826414"/>
            <a:ext cx="92974" cy="104067"/>
          </a:xfrm>
          <a:prstGeom prst="rect">
            <a:avLst/>
          </a:prstGeom>
          <a:noFill/>
          <a:ln/>
        </p:spPr>
        <p:txBody>
          <a:bodyPr wrap="none" lIns="0" tIns="0" rIns="0" bIns="0" rtlCol="0" anchor="t">
            <a:spAutoFit/>
          </a:bodyPr>
          <a:lstStyle/>
          <a:p>
            <a:pPr marL="0" indent="0" algn="l">
              <a:lnSpc>
                <a:spcPts val="800"/>
              </a:lnSpc>
              <a:buNone/>
            </a:pPr>
            <a:r>
              <a:rPr lang="en-US" sz="800" b="1" dirty="0">
                <a:solidFill>
                  <a:srgbClr val="00FF41"/>
                </a:solidFill>
              </a:rPr>
              <a:t>→</a:t>
            </a:r>
            <a:endParaRPr lang="en-US" sz="800" dirty="0"/>
          </a:p>
        </p:txBody>
      </p:sp>
      <p:sp>
        <p:nvSpPr>
          <p:cNvPr id="23" name="Text 20"/>
          <p:cNvSpPr/>
          <p:nvPr/>
        </p:nvSpPr>
        <p:spPr>
          <a:xfrm>
            <a:off x="500063" y="2969289"/>
            <a:ext cx="92974" cy="104067"/>
          </a:xfrm>
          <a:prstGeom prst="rect">
            <a:avLst/>
          </a:prstGeom>
          <a:noFill/>
          <a:ln/>
        </p:spPr>
        <p:txBody>
          <a:bodyPr wrap="none" lIns="0" tIns="0" rIns="0" bIns="0" rtlCol="0" anchor="t">
            <a:spAutoFit/>
          </a:bodyPr>
          <a:lstStyle/>
          <a:p>
            <a:pPr marL="0" indent="0" algn="l">
              <a:lnSpc>
                <a:spcPts val="800"/>
              </a:lnSpc>
              <a:buNone/>
            </a:pPr>
            <a:r>
              <a:rPr lang="en-US" sz="800" b="1" dirty="0">
                <a:solidFill>
                  <a:srgbClr val="00FF41"/>
                </a:solidFill>
              </a:rPr>
              <a:t>→</a:t>
            </a:r>
            <a:endParaRPr lang="en-US" sz="800" dirty="0"/>
          </a:p>
        </p:txBody>
      </p:sp>
      <p:sp>
        <p:nvSpPr>
          <p:cNvPr id="24" name="Text 21"/>
          <p:cNvSpPr/>
          <p:nvPr/>
        </p:nvSpPr>
        <p:spPr>
          <a:xfrm>
            <a:off x="500063" y="3112164"/>
            <a:ext cx="92974" cy="104067"/>
          </a:xfrm>
          <a:prstGeom prst="rect">
            <a:avLst/>
          </a:prstGeom>
          <a:noFill/>
          <a:ln/>
        </p:spPr>
        <p:txBody>
          <a:bodyPr wrap="none" lIns="0" tIns="0" rIns="0" bIns="0" rtlCol="0" anchor="t">
            <a:spAutoFit/>
          </a:bodyPr>
          <a:lstStyle/>
          <a:p>
            <a:pPr marL="0" indent="0" algn="l">
              <a:lnSpc>
                <a:spcPts val="800"/>
              </a:lnSpc>
              <a:buNone/>
            </a:pPr>
            <a:r>
              <a:rPr lang="en-US" sz="800" b="1" dirty="0">
                <a:solidFill>
                  <a:srgbClr val="00FF41"/>
                </a:solidFill>
              </a:rPr>
              <a:t>→</a:t>
            </a:r>
            <a:endParaRPr lang="en-US" sz="800" dirty="0"/>
          </a:p>
        </p:txBody>
      </p:sp>
      <p:sp>
        <p:nvSpPr>
          <p:cNvPr id="25" name="Text 22"/>
          <p:cNvSpPr/>
          <p:nvPr/>
        </p:nvSpPr>
        <p:spPr>
          <a:xfrm>
            <a:off x="585788" y="3705095"/>
            <a:ext cx="496931" cy="91564"/>
          </a:xfrm>
          <a:prstGeom prst="rect">
            <a:avLst/>
          </a:prstGeom>
          <a:noFill/>
          <a:ln/>
        </p:spPr>
        <p:txBody>
          <a:bodyPr wrap="none" lIns="0" tIns="0" rIns="0" bIns="0" rtlCol="0" anchor="t">
            <a:spAutoFit/>
          </a:bodyPr>
          <a:lstStyle/>
          <a:p>
            <a:pPr marL="0" indent="0" algn="l">
              <a:lnSpc>
                <a:spcPts val="600"/>
              </a:lnSpc>
              <a:buNone/>
            </a:pPr>
            <a:r>
              <a:rPr lang="en-US" sz="1000" b="1" dirty="0">
                <a:solidFill>
                  <a:srgbClr val="00FF41"/>
                </a:solidFill>
              </a:rPr>
              <a:t>Timeline:</a:t>
            </a:r>
            <a:endParaRPr lang="en-US" sz="1000" dirty="0"/>
          </a:p>
        </p:txBody>
      </p:sp>
      <p:sp>
        <p:nvSpPr>
          <p:cNvPr id="26" name="Text 23"/>
          <p:cNvSpPr/>
          <p:nvPr/>
        </p:nvSpPr>
        <p:spPr>
          <a:xfrm>
            <a:off x="585788" y="3814037"/>
            <a:ext cx="2072683" cy="94449"/>
          </a:xfrm>
          <a:prstGeom prst="rect">
            <a:avLst/>
          </a:prstGeom>
          <a:noFill/>
          <a:ln/>
        </p:spPr>
        <p:txBody>
          <a:bodyPr wrap="none" lIns="0" tIns="0" rIns="0" bIns="0" rtlCol="0" anchor="t">
            <a:spAutoFit/>
          </a:bodyPr>
          <a:lstStyle/>
          <a:p>
            <a:pPr marL="0" indent="0" algn="l">
              <a:lnSpc>
                <a:spcPts val="700"/>
              </a:lnSpc>
              <a:buNone/>
            </a:pPr>
            <a:r>
              <a:rPr lang="en-US" sz="800" dirty="0">
                <a:solidFill>
                  <a:srgbClr val="E0E0E0"/>
                </a:solidFill>
              </a:rPr>
              <a:t>4-8 weeks for implementation and user migration</a:t>
            </a:r>
            <a:endParaRPr lang="en-US" sz="800" dirty="0"/>
          </a:p>
        </p:txBody>
      </p:sp>
      <p:sp>
        <p:nvSpPr>
          <p:cNvPr id="27" name="Shape 24"/>
          <p:cNvSpPr/>
          <p:nvPr/>
        </p:nvSpPr>
        <p:spPr>
          <a:xfrm>
            <a:off x="500063" y="4126576"/>
            <a:ext cx="2428875" cy="350044"/>
          </a:xfrm>
          <a:prstGeom prst="rect">
            <a:avLst/>
          </a:prstGeom>
          <a:solidFill>
            <a:srgbClr val="FF3333">
              <a:alpha val="8000"/>
            </a:srgbClr>
          </a:solidFill>
          <a:ln/>
        </p:spPr>
        <p:txBody>
          <a:bodyPr/>
          <a:lstStyle/>
          <a:p>
            <a:endParaRPr lang="en-US"/>
          </a:p>
        </p:txBody>
      </p:sp>
      <p:sp>
        <p:nvSpPr>
          <p:cNvPr id="28" name="Shape 25"/>
          <p:cNvSpPr/>
          <p:nvPr/>
        </p:nvSpPr>
        <p:spPr>
          <a:xfrm>
            <a:off x="500063" y="4126576"/>
            <a:ext cx="14288" cy="350044"/>
          </a:xfrm>
          <a:prstGeom prst="rect">
            <a:avLst/>
          </a:prstGeom>
          <a:solidFill>
            <a:srgbClr val="FF3333"/>
          </a:solidFill>
          <a:ln/>
        </p:spPr>
        <p:txBody>
          <a:bodyPr/>
          <a:lstStyle/>
          <a:p>
            <a:endParaRPr lang="en-US"/>
          </a:p>
        </p:txBody>
      </p:sp>
      <p:sp>
        <p:nvSpPr>
          <p:cNvPr id="29" name="Text 26"/>
          <p:cNvSpPr/>
          <p:nvPr/>
        </p:nvSpPr>
        <p:spPr>
          <a:xfrm>
            <a:off x="585788" y="4198014"/>
            <a:ext cx="432811" cy="91564"/>
          </a:xfrm>
          <a:prstGeom prst="rect">
            <a:avLst/>
          </a:prstGeom>
          <a:noFill/>
          <a:ln/>
        </p:spPr>
        <p:txBody>
          <a:bodyPr wrap="none" lIns="0" tIns="0" rIns="0" bIns="0" rtlCol="0" anchor="t">
            <a:spAutoFit/>
          </a:bodyPr>
          <a:lstStyle/>
          <a:p>
            <a:pPr marL="0" indent="0" algn="l">
              <a:lnSpc>
                <a:spcPts val="600"/>
              </a:lnSpc>
              <a:buNone/>
            </a:pPr>
            <a:r>
              <a:rPr lang="en-US" sz="1000" b="1" dirty="0">
                <a:solidFill>
                  <a:srgbClr val="FF3333"/>
                </a:solidFill>
              </a:rPr>
              <a:t>Priority:</a:t>
            </a:r>
            <a:endParaRPr lang="en-US" sz="1000" dirty="0"/>
          </a:p>
        </p:txBody>
      </p:sp>
      <p:sp>
        <p:nvSpPr>
          <p:cNvPr id="30" name="Text 27"/>
          <p:cNvSpPr/>
          <p:nvPr/>
        </p:nvSpPr>
        <p:spPr>
          <a:xfrm>
            <a:off x="585788" y="4306956"/>
            <a:ext cx="1593385" cy="94449"/>
          </a:xfrm>
          <a:prstGeom prst="rect">
            <a:avLst/>
          </a:prstGeom>
          <a:noFill/>
          <a:ln/>
        </p:spPr>
        <p:txBody>
          <a:bodyPr wrap="none" lIns="0" tIns="0" rIns="0" bIns="0" rtlCol="0" anchor="t">
            <a:spAutoFit/>
          </a:bodyPr>
          <a:lstStyle/>
          <a:p>
            <a:pPr marL="0" indent="0" algn="l">
              <a:lnSpc>
                <a:spcPts val="700"/>
              </a:lnSpc>
              <a:buNone/>
            </a:pPr>
            <a:r>
              <a:rPr lang="en-US" sz="800" dirty="0">
                <a:solidFill>
                  <a:srgbClr val="E0E0E0"/>
                </a:solidFill>
              </a:rPr>
              <a:t>High | Foundational for access control</a:t>
            </a:r>
            <a:endParaRPr lang="en-US" sz="800" dirty="0"/>
          </a:p>
        </p:txBody>
      </p:sp>
      <p:sp>
        <p:nvSpPr>
          <p:cNvPr id="31" name="Shape 28"/>
          <p:cNvSpPr/>
          <p:nvPr/>
        </p:nvSpPr>
        <p:spPr>
          <a:xfrm>
            <a:off x="3214688" y="1139428"/>
            <a:ext cx="2714625" cy="3718322"/>
          </a:xfrm>
          <a:prstGeom prst="rect">
            <a:avLst/>
          </a:prstGeom>
          <a:solidFill>
            <a:srgbClr val="00FF41">
              <a:alpha val="5000"/>
            </a:srgbClr>
          </a:solidFill>
          <a:ln w="18288">
            <a:solidFill>
              <a:srgbClr val="00FF41"/>
            </a:solidFill>
            <a:prstDash val="solid"/>
          </a:ln>
        </p:spPr>
        <p:txBody>
          <a:bodyPr/>
          <a:lstStyle/>
          <a:p>
            <a:endParaRPr lang="en-US" sz="800"/>
          </a:p>
        </p:txBody>
      </p:sp>
      <p:sp>
        <p:nvSpPr>
          <p:cNvPr id="32" name="Text 29"/>
          <p:cNvSpPr/>
          <p:nvPr/>
        </p:nvSpPr>
        <p:spPr>
          <a:xfrm>
            <a:off x="3357563" y="1282303"/>
            <a:ext cx="1325043" cy="101182"/>
          </a:xfrm>
          <a:prstGeom prst="rect">
            <a:avLst/>
          </a:prstGeom>
          <a:noFill/>
          <a:ln/>
        </p:spPr>
        <p:txBody>
          <a:bodyPr wrap="none" lIns="0" tIns="0" rIns="0" bIns="0" rtlCol="0" anchor="t">
            <a:spAutoFit/>
          </a:bodyPr>
          <a:lstStyle/>
          <a:p>
            <a:pPr marL="0" indent="0" algn="l">
              <a:lnSpc>
                <a:spcPts val="700"/>
              </a:lnSpc>
              <a:buNone/>
            </a:pPr>
            <a:r>
              <a:rPr lang="en-US" sz="1000" b="1" kern="0" spc="1" dirty="0">
                <a:solidFill>
                  <a:srgbClr val="FF3333"/>
                </a:solidFill>
              </a:rPr>
              <a:t>[ RECOMMENDATION 6 ]</a:t>
            </a:r>
            <a:endParaRPr lang="en-US" sz="1000" dirty="0"/>
          </a:p>
        </p:txBody>
      </p:sp>
      <p:sp>
        <p:nvSpPr>
          <p:cNvPr id="33" name="Text 30"/>
          <p:cNvSpPr/>
          <p:nvPr/>
        </p:nvSpPr>
        <p:spPr>
          <a:xfrm>
            <a:off x="3357563" y="1475184"/>
            <a:ext cx="1708801" cy="130036"/>
          </a:xfrm>
          <a:prstGeom prst="rect">
            <a:avLst/>
          </a:prstGeom>
          <a:noFill/>
          <a:ln/>
        </p:spPr>
        <p:txBody>
          <a:bodyPr wrap="none" lIns="0" tIns="0" rIns="0" bIns="0" rtlCol="0" anchor="t">
            <a:spAutoFit/>
          </a:bodyPr>
          <a:lstStyle/>
          <a:p>
            <a:pPr marL="0" indent="0" algn="l">
              <a:lnSpc>
                <a:spcPts val="1000"/>
              </a:lnSpc>
              <a:buNone/>
            </a:pPr>
            <a:r>
              <a:rPr lang="en-US" sz="1000" b="1" dirty="0">
                <a:solidFill>
                  <a:srgbClr val="00FF41"/>
                </a:solidFill>
              </a:rPr>
              <a:t>Reconsider Port Knocking Usage</a:t>
            </a:r>
            <a:endParaRPr lang="en-US" sz="1000" dirty="0"/>
          </a:p>
        </p:txBody>
      </p:sp>
      <p:sp>
        <p:nvSpPr>
          <p:cNvPr id="34" name="Text 31"/>
          <p:cNvSpPr/>
          <p:nvPr/>
        </p:nvSpPr>
        <p:spPr>
          <a:xfrm>
            <a:off x="3357563" y="1681628"/>
            <a:ext cx="2428875" cy="417909"/>
          </a:xfrm>
          <a:prstGeom prst="rect">
            <a:avLst/>
          </a:prstGeom>
          <a:noFill/>
          <a:ln/>
        </p:spPr>
        <p:txBody>
          <a:bodyPr wrap="square" lIns="0" tIns="68072" rIns="0" bIns="0" rtlCol="0" anchor="t">
            <a:spAutoFit/>
          </a:bodyPr>
          <a:lstStyle/>
          <a:p>
            <a:pPr marL="0" indent="0" algn="l">
              <a:lnSpc>
                <a:spcPts val="900"/>
              </a:lnSpc>
              <a:buNone/>
            </a:pPr>
            <a:r>
              <a:rPr lang="en-US" sz="800" dirty="0">
                <a:solidFill>
                  <a:srgbClr val="E0E0E0"/>
                </a:solidFill>
              </a:rPr>
              <a:t>Evaluate the necessity of port knocking and migrate to stronger, industry-standard access control mechanisms that provide better security and auditability.</a:t>
            </a:r>
            <a:endParaRPr lang="en-US" sz="800" dirty="0"/>
          </a:p>
        </p:txBody>
      </p:sp>
      <p:sp>
        <p:nvSpPr>
          <p:cNvPr id="35" name="Text 32"/>
          <p:cNvSpPr/>
          <p:nvPr/>
        </p:nvSpPr>
        <p:spPr>
          <a:xfrm>
            <a:off x="3357563" y="2242412"/>
            <a:ext cx="1325427" cy="101182"/>
          </a:xfrm>
          <a:prstGeom prst="rect">
            <a:avLst/>
          </a:prstGeom>
          <a:noFill/>
          <a:ln/>
        </p:spPr>
        <p:txBody>
          <a:bodyPr wrap="none" lIns="0" tIns="0" rIns="0" bIns="0" rtlCol="0" anchor="t">
            <a:spAutoFit/>
          </a:bodyPr>
          <a:lstStyle/>
          <a:p>
            <a:pPr marL="0" indent="0" algn="l">
              <a:lnSpc>
                <a:spcPts val="700"/>
              </a:lnSpc>
              <a:buNone/>
            </a:pPr>
            <a:r>
              <a:rPr lang="en-US" sz="1000" b="1" kern="0" spc="1" dirty="0">
                <a:solidFill>
                  <a:srgbClr val="FF3333"/>
                </a:solidFill>
              </a:rPr>
              <a:t>Implementation Actions:</a:t>
            </a:r>
            <a:endParaRPr lang="en-US" sz="1000" dirty="0"/>
          </a:p>
        </p:txBody>
      </p:sp>
      <p:sp>
        <p:nvSpPr>
          <p:cNvPr id="36" name="Text 33"/>
          <p:cNvSpPr/>
          <p:nvPr/>
        </p:nvSpPr>
        <p:spPr>
          <a:xfrm>
            <a:off x="3357563" y="2397789"/>
            <a:ext cx="1817292" cy="104067"/>
          </a:xfrm>
          <a:prstGeom prst="rect">
            <a:avLst/>
          </a:prstGeom>
          <a:noFill/>
          <a:ln/>
        </p:spPr>
        <p:txBody>
          <a:bodyPr wrap="none" lIns="136017" tIns="0" rIns="0" bIns="0" rtlCol="0" anchor="t">
            <a:spAutoFit/>
          </a:bodyPr>
          <a:lstStyle/>
          <a:p>
            <a:pPr marL="0" indent="0" algn="l">
              <a:lnSpc>
                <a:spcPts val="800"/>
              </a:lnSpc>
              <a:buNone/>
            </a:pPr>
            <a:r>
              <a:rPr lang="en-US" sz="800" dirty="0">
                <a:solidFill>
                  <a:srgbClr val="E0E0E0"/>
                </a:solidFill>
              </a:rPr>
              <a:t>Audit current port knocking deployment</a:t>
            </a:r>
            <a:endParaRPr lang="en-US" sz="800" dirty="0"/>
          </a:p>
        </p:txBody>
      </p:sp>
      <p:sp>
        <p:nvSpPr>
          <p:cNvPr id="37" name="Text 34"/>
          <p:cNvSpPr/>
          <p:nvPr/>
        </p:nvSpPr>
        <p:spPr>
          <a:xfrm>
            <a:off x="3357563" y="2540664"/>
            <a:ext cx="1559209" cy="104067"/>
          </a:xfrm>
          <a:prstGeom prst="rect">
            <a:avLst/>
          </a:prstGeom>
          <a:noFill/>
          <a:ln/>
        </p:spPr>
        <p:txBody>
          <a:bodyPr wrap="none" lIns="136017" tIns="0" rIns="0" bIns="0" rtlCol="0" anchor="t">
            <a:spAutoFit/>
          </a:bodyPr>
          <a:lstStyle/>
          <a:p>
            <a:pPr marL="0" indent="0" algn="l">
              <a:lnSpc>
                <a:spcPts val="800"/>
              </a:lnSpc>
              <a:buNone/>
            </a:pPr>
            <a:r>
              <a:rPr lang="en-US" sz="800" dirty="0">
                <a:solidFill>
                  <a:srgbClr val="E0E0E0"/>
                </a:solidFill>
              </a:rPr>
              <a:t>Implement VPN for remote access</a:t>
            </a:r>
            <a:endParaRPr lang="en-US" sz="800" dirty="0"/>
          </a:p>
        </p:txBody>
      </p:sp>
      <p:sp>
        <p:nvSpPr>
          <p:cNvPr id="38" name="Text 35"/>
          <p:cNvSpPr/>
          <p:nvPr/>
        </p:nvSpPr>
        <p:spPr>
          <a:xfrm>
            <a:off x="3357563" y="2683539"/>
            <a:ext cx="1910267" cy="104067"/>
          </a:xfrm>
          <a:prstGeom prst="rect">
            <a:avLst/>
          </a:prstGeom>
          <a:noFill/>
          <a:ln/>
        </p:spPr>
        <p:txBody>
          <a:bodyPr wrap="none" lIns="136017" tIns="0" rIns="0" bIns="0" rtlCol="0" anchor="t">
            <a:spAutoFit/>
          </a:bodyPr>
          <a:lstStyle/>
          <a:p>
            <a:pPr marL="0" indent="0" algn="l">
              <a:lnSpc>
                <a:spcPts val="800"/>
              </a:lnSpc>
              <a:buNone/>
            </a:pPr>
            <a:r>
              <a:rPr lang="en-US" sz="800" dirty="0">
                <a:solidFill>
                  <a:srgbClr val="E0E0E0"/>
                </a:solidFill>
              </a:rPr>
              <a:t>Deploy IP allowlisting for trusted networks</a:t>
            </a:r>
            <a:endParaRPr lang="en-US" sz="800" dirty="0"/>
          </a:p>
        </p:txBody>
      </p:sp>
      <p:sp>
        <p:nvSpPr>
          <p:cNvPr id="39" name="Text 36"/>
          <p:cNvSpPr/>
          <p:nvPr/>
        </p:nvSpPr>
        <p:spPr>
          <a:xfrm>
            <a:off x="3357563" y="2826414"/>
            <a:ext cx="1674626" cy="104067"/>
          </a:xfrm>
          <a:prstGeom prst="rect">
            <a:avLst/>
          </a:prstGeom>
          <a:noFill/>
          <a:ln/>
        </p:spPr>
        <p:txBody>
          <a:bodyPr wrap="none" lIns="136017" tIns="0" rIns="0" bIns="0" rtlCol="0" anchor="t">
            <a:spAutoFit/>
          </a:bodyPr>
          <a:lstStyle/>
          <a:p>
            <a:pPr marL="0" indent="0" algn="l">
              <a:lnSpc>
                <a:spcPts val="800"/>
              </a:lnSpc>
              <a:buNone/>
            </a:pPr>
            <a:r>
              <a:rPr lang="en-US" sz="800" dirty="0">
                <a:solidFill>
                  <a:srgbClr val="E0E0E0"/>
                </a:solidFill>
              </a:rPr>
              <a:t>Use SSH jump hosts / bastion servers</a:t>
            </a:r>
            <a:endParaRPr lang="en-US" sz="800" dirty="0"/>
          </a:p>
        </p:txBody>
      </p:sp>
      <p:sp>
        <p:nvSpPr>
          <p:cNvPr id="40" name="Text 37"/>
          <p:cNvSpPr/>
          <p:nvPr/>
        </p:nvSpPr>
        <p:spPr>
          <a:xfrm>
            <a:off x="3357563" y="2969289"/>
            <a:ext cx="1823704" cy="104067"/>
          </a:xfrm>
          <a:prstGeom prst="rect">
            <a:avLst/>
          </a:prstGeom>
          <a:noFill/>
          <a:ln/>
        </p:spPr>
        <p:txBody>
          <a:bodyPr wrap="none" lIns="136017" tIns="0" rIns="0" bIns="0" rtlCol="0" anchor="t">
            <a:spAutoFit/>
          </a:bodyPr>
          <a:lstStyle/>
          <a:p>
            <a:pPr marL="0" indent="0" algn="l">
              <a:lnSpc>
                <a:spcPts val="800"/>
              </a:lnSpc>
              <a:buNone/>
            </a:pPr>
            <a:r>
              <a:rPr lang="en-US" sz="800" dirty="0">
                <a:solidFill>
                  <a:srgbClr val="E0E0E0"/>
                </a:solidFill>
              </a:rPr>
              <a:t>If retaining knockd, secure configuration</a:t>
            </a:r>
            <a:endParaRPr lang="en-US" sz="800" dirty="0"/>
          </a:p>
        </p:txBody>
      </p:sp>
      <p:sp>
        <p:nvSpPr>
          <p:cNvPr id="41" name="Text 38"/>
          <p:cNvSpPr/>
          <p:nvPr/>
        </p:nvSpPr>
        <p:spPr>
          <a:xfrm>
            <a:off x="3357563" y="3112164"/>
            <a:ext cx="1581651" cy="104067"/>
          </a:xfrm>
          <a:prstGeom prst="rect">
            <a:avLst/>
          </a:prstGeom>
          <a:noFill/>
          <a:ln/>
        </p:spPr>
        <p:txBody>
          <a:bodyPr wrap="none" lIns="136017" tIns="0" rIns="0" bIns="0" rtlCol="0" anchor="t">
            <a:spAutoFit/>
          </a:bodyPr>
          <a:lstStyle/>
          <a:p>
            <a:pPr marL="0" indent="0" algn="l">
              <a:lnSpc>
                <a:spcPts val="800"/>
              </a:lnSpc>
              <a:buNone/>
            </a:pPr>
            <a:r>
              <a:rPr lang="en-US" sz="800" dirty="0">
                <a:solidFill>
                  <a:srgbClr val="E0E0E0"/>
                </a:solidFill>
              </a:rPr>
              <a:t>Never store sequences in plaintext</a:t>
            </a:r>
            <a:endParaRPr lang="en-US" sz="800" dirty="0"/>
          </a:p>
        </p:txBody>
      </p:sp>
      <p:sp>
        <p:nvSpPr>
          <p:cNvPr id="42" name="Shape 39"/>
          <p:cNvSpPr/>
          <p:nvPr/>
        </p:nvSpPr>
        <p:spPr>
          <a:xfrm>
            <a:off x="3357563" y="3633657"/>
            <a:ext cx="2428875" cy="350044"/>
          </a:xfrm>
          <a:prstGeom prst="rect">
            <a:avLst/>
          </a:prstGeom>
          <a:solidFill>
            <a:srgbClr val="00FF41">
              <a:alpha val="8000"/>
            </a:srgbClr>
          </a:solidFill>
          <a:ln/>
        </p:spPr>
        <p:txBody>
          <a:bodyPr/>
          <a:lstStyle/>
          <a:p>
            <a:endParaRPr lang="en-US"/>
          </a:p>
        </p:txBody>
      </p:sp>
      <p:sp>
        <p:nvSpPr>
          <p:cNvPr id="43" name="Shape 40"/>
          <p:cNvSpPr/>
          <p:nvPr/>
        </p:nvSpPr>
        <p:spPr>
          <a:xfrm>
            <a:off x="3357563" y="3633657"/>
            <a:ext cx="14288" cy="350044"/>
          </a:xfrm>
          <a:prstGeom prst="rect">
            <a:avLst/>
          </a:prstGeom>
          <a:solidFill>
            <a:srgbClr val="00FF41"/>
          </a:solidFill>
          <a:ln/>
        </p:spPr>
        <p:txBody>
          <a:bodyPr/>
          <a:lstStyle/>
          <a:p>
            <a:endParaRPr lang="en-US"/>
          </a:p>
        </p:txBody>
      </p:sp>
      <p:sp>
        <p:nvSpPr>
          <p:cNvPr id="44" name="Text 41"/>
          <p:cNvSpPr/>
          <p:nvPr/>
        </p:nvSpPr>
        <p:spPr>
          <a:xfrm>
            <a:off x="3357563" y="2397789"/>
            <a:ext cx="92974" cy="104067"/>
          </a:xfrm>
          <a:prstGeom prst="rect">
            <a:avLst/>
          </a:prstGeom>
          <a:noFill/>
          <a:ln/>
        </p:spPr>
        <p:txBody>
          <a:bodyPr wrap="none" lIns="0" tIns="0" rIns="0" bIns="0" rtlCol="0" anchor="t">
            <a:spAutoFit/>
          </a:bodyPr>
          <a:lstStyle/>
          <a:p>
            <a:pPr marL="0" indent="0" algn="l">
              <a:lnSpc>
                <a:spcPts val="800"/>
              </a:lnSpc>
              <a:buNone/>
            </a:pPr>
            <a:r>
              <a:rPr lang="en-US" sz="800" b="1" dirty="0">
                <a:solidFill>
                  <a:srgbClr val="00FF41"/>
                </a:solidFill>
              </a:rPr>
              <a:t>→</a:t>
            </a:r>
            <a:endParaRPr lang="en-US" sz="800" dirty="0"/>
          </a:p>
        </p:txBody>
      </p:sp>
      <p:sp>
        <p:nvSpPr>
          <p:cNvPr id="45" name="Text 42"/>
          <p:cNvSpPr/>
          <p:nvPr/>
        </p:nvSpPr>
        <p:spPr>
          <a:xfrm>
            <a:off x="3357563" y="2540664"/>
            <a:ext cx="92974" cy="104067"/>
          </a:xfrm>
          <a:prstGeom prst="rect">
            <a:avLst/>
          </a:prstGeom>
          <a:noFill/>
          <a:ln/>
        </p:spPr>
        <p:txBody>
          <a:bodyPr wrap="none" lIns="0" tIns="0" rIns="0" bIns="0" rtlCol="0" anchor="t">
            <a:spAutoFit/>
          </a:bodyPr>
          <a:lstStyle/>
          <a:p>
            <a:pPr marL="0" indent="0" algn="l">
              <a:lnSpc>
                <a:spcPts val="800"/>
              </a:lnSpc>
              <a:buNone/>
            </a:pPr>
            <a:r>
              <a:rPr lang="en-US" sz="800" b="1" dirty="0">
                <a:solidFill>
                  <a:srgbClr val="00FF41"/>
                </a:solidFill>
              </a:rPr>
              <a:t>→</a:t>
            </a:r>
            <a:endParaRPr lang="en-US" sz="800" dirty="0"/>
          </a:p>
        </p:txBody>
      </p:sp>
      <p:sp>
        <p:nvSpPr>
          <p:cNvPr id="46" name="Text 43"/>
          <p:cNvSpPr/>
          <p:nvPr/>
        </p:nvSpPr>
        <p:spPr>
          <a:xfrm>
            <a:off x="3357563" y="2683539"/>
            <a:ext cx="92974" cy="104067"/>
          </a:xfrm>
          <a:prstGeom prst="rect">
            <a:avLst/>
          </a:prstGeom>
          <a:noFill/>
          <a:ln/>
        </p:spPr>
        <p:txBody>
          <a:bodyPr wrap="none" lIns="0" tIns="0" rIns="0" bIns="0" rtlCol="0" anchor="t">
            <a:spAutoFit/>
          </a:bodyPr>
          <a:lstStyle/>
          <a:p>
            <a:pPr marL="0" indent="0" algn="l">
              <a:lnSpc>
                <a:spcPts val="800"/>
              </a:lnSpc>
              <a:buNone/>
            </a:pPr>
            <a:r>
              <a:rPr lang="en-US" sz="800" b="1" dirty="0">
                <a:solidFill>
                  <a:srgbClr val="00FF41"/>
                </a:solidFill>
              </a:rPr>
              <a:t>→</a:t>
            </a:r>
            <a:endParaRPr lang="en-US" sz="800" dirty="0"/>
          </a:p>
        </p:txBody>
      </p:sp>
      <p:sp>
        <p:nvSpPr>
          <p:cNvPr id="47" name="Text 44"/>
          <p:cNvSpPr/>
          <p:nvPr/>
        </p:nvSpPr>
        <p:spPr>
          <a:xfrm>
            <a:off x="3357563" y="2826414"/>
            <a:ext cx="92974" cy="104067"/>
          </a:xfrm>
          <a:prstGeom prst="rect">
            <a:avLst/>
          </a:prstGeom>
          <a:noFill/>
          <a:ln/>
        </p:spPr>
        <p:txBody>
          <a:bodyPr wrap="none" lIns="0" tIns="0" rIns="0" bIns="0" rtlCol="0" anchor="t">
            <a:spAutoFit/>
          </a:bodyPr>
          <a:lstStyle/>
          <a:p>
            <a:pPr marL="0" indent="0" algn="l">
              <a:lnSpc>
                <a:spcPts val="800"/>
              </a:lnSpc>
              <a:buNone/>
            </a:pPr>
            <a:r>
              <a:rPr lang="en-US" sz="800" b="1" dirty="0">
                <a:solidFill>
                  <a:srgbClr val="00FF41"/>
                </a:solidFill>
              </a:rPr>
              <a:t>→</a:t>
            </a:r>
            <a:endParaRPr lang="en-US" sz="800" dirty="0"/>
          </a:p>
        </p:txBody>
      </p:sp>
      <p:sp>
        <p:nvSpPr>
          <p:cNvPr id="48" name="Text 45"/>
          <p:cNvSpPr/>
          <p:nvPr/>
        </p:nvSpPr>
        <p:spPr>
          <a:xfrm>
            <a:off x="3357563" y="2969289"/>
            <a:ext cx="92974" cy="104067"/>
          </a:xfrm>
          <a:prstGeom prst="rect">
            <a:avLst/>
          </a:prstGeom>
          <a:noFill/>
          <a:ln/>
        </p:spPr>
        <p:txBody>
          <a:bodyPr wrap="none" lIns="0" tIns="0" rIns="0" bIns="0" rtlCol="0" anchor="t">
            <a:spAutoFit/>
          </a:bodyPr>
          <a:lstStyle/>
          <a:p>
            <a:pPr marL="0" indent="0" algn="l">
              <a:lnSpc>
                <a:spcPts val="800"/>
              </a:lnSpc>
              <a:buNone/>
            </a:pPr>
            <a:r>
              <a:rPr lang="en-US" sz="800" b="1" dirty="0">
                <a:solidFill>
                  <a:srgbClr val="00FF41"/>
                </a:solidFill>
              </a:rPr>
              <a:t>→</a:t>
            </a:r>
            <a:endParaRPr lang="en-US" sz="800" dirty="0"/>
          </a:p>
        </p:txBody>
      </p:sp>
      <p:sp>
        <p:nvSpPr>
          <p:cNvPr id="49" name="Text 46"/>
          <p:cNvSpPr/>
          <p:nvPr/>
        </p:nvSpPr>
        <p:spPr>
          <a:xfrm>
            <a:off x="3357563" y="3112164"/>
            <a:ext cx="92974" cy="104067"/>
          </a:xfrm>
          <a:prstGeom prst="rect">
            <a:avLst/>
          </a:prstGeom>
          <a:noFill/>
          <a:ln/>
        </p:spPr>
        <p:txBody>
          <a:bodyPr wrap="none" lIns="0" tIns="0" rIns="0" bIns="0" rtlCol="0" anchor="t">
            <a:spAutoFit/>
          </a:bodyPr>
          <a:lstStyle/>
          <a:p>
            <a:pPr marL="0" indent="0" algn="l">
              <a:lnSpc>
                <a:spcPts val="800"/>
              </a:lnSpc>
              <a:buNone/>
            </a:pPr>
            <a:r>
              <a:rPr lang="en-US" sz="800" b="1" dirty="0">
                <a:solidFill>
                  <a:srgbClr val="00FF41"/>
                </a:solidFill>
              </a:rPr>
              <a:t>→</a:t>
            </a:r>
            <a:endParaRPr lang="en-US" sz="800" dirty="0"/>
          </a:p>
        </p:txBody>
      </p:sp>
      <p:sp>
        <p:nvSpPr>
          <p:cNvPr id="50" name="Text 47"/>
          <p:cNvSpPr/>
          <p:nvPr/>
        </p:nvSpPr>
        <p:spPr>
          <a:xfrm>
            <a:off x="3443288" y="3705095"/>
            <a:ext cx="496931" cy="91564"/>
          </a:xfrm>
          <a:prstGeom prst="rect">
            <a:avLst/>
          </a:prstGeom>
          <a:noFill/>
          <a:ln/>
        </p:spPr>
        <p:txBody>
          <a:bodyPr wrap="none" lIns="0" tIns="0" rIns="0" bIns="0" rtlCol="0" anchor="t">
            <a:spAutoFit/>
          </a:bodyPr>
          <a:lstStyle/>
          <a:p>
            <a:pPr marL="0" indent="0" algn="l">
              <a:lnSpc>
                <a:spcPts val="600"/>
              </a:lnSpc>
              <a:buNone/>
            </a:pPr>
            <a:r>
              <a:rPr lang="en-US" sz="1000" b="1" dirty="0">
                <a:solidFill>
                  <a:srgbClr val="00FF41"/>
                </a:solidFill>
              </a:rPr>
              <a:t>Timeline:</a:t>
            </a:r>
            <a:endParaRPr lang="en-US" sz="1000" dirty="0"/>
          </a:p>
        </p:txBody>
      </p:sp>
      <p:sp>
        <p:nvSpPr>
          <p:cNvPr id="51" name="Text 48"/>
          <p:cNvSpPr/>
          <p:nvPr/>
        </p:nvSpPr>
        <p:spPr>
          <a:xfrm>
            <a:off x="3443288" y="3814037"/>
            <a:ext cx="1712007" cy="94449"/>
          </a:xfrm>
          <a:prstGeom prst="rect">
            <a:avLst/>
          </a:prstGeom>
          <a:noFill/>
          <a:ln/>
        </p:spPr>
        <p:txBody>
          <a:bodyPr wrap="none" lIns="0" tIns="0" rIns="0" bIns="0" rtlCol="0" anchor="t">
            <a:spAutoFit/>
          </a:bodyPr>
          <a:lstStyle/>
          <a:p>
            <a:pPr marL="0" indent="0" algn="l">
              <a:lnSpc>
                <a:spcPts val="700"/>
              </a:lnSpc>
              <a:buNone/>
            </a:pPr>
            <a:r>
              <a:rPr lang="en-US" sz="800" dirty="0">
                <a:solidFill>
                  <a:srgbClr val="E0E0E0"/>
                </a:solidFill>
              </a:rPr>
              <a:t>6-12 weeks for planning and deployment</a:t>
            </a:r>
            <a:endParaRPr lang="en-US" sz="800" dirty="0"/>
          </a:p>
        </p:txBody>
      </p:sp>
      <p:sp>
        <p:nvSpPr>
          <p:cNvPr id="52" name="Shape 49"/>
          <p:cNvSpPr/>
          <p:nvPr/>
        </p:nvSpPr>
        <p:spPr>
          <a:xfrm>
            <a:off x="3357563" y="4126576"/>
            <a:ext cx="2428875" cy="350044"/>
          </a:xfrm>
          <a:prstGeom prst="rect">
            <a:avLst/>
          </a:prstGeom>
          <a:solidFill>
            <a:srgbClr val="FF3333">
              <a:alpha val="8000"/>
            </a:srgbClr>
          </a:solidFill>
          <a:ln/>
        </p:spPr>
        <p:txBody>
          <a:bodyPr/>
          <a:lstStyle/>
          <a:p>
            <a:endParaRPr lang="en-US"/>
          </a:p>
        </p:txBody>
      </p:sp>
      <p:sp>
        <p:nvSpPr>
          <p:cNvPr id="53" name="Shape 50"/>
          <p:cNvSpPr/>
          <p:nvPr/>
        </p:nvSpPr>
        <p:spPr>
          <a:xfrm>
            <a:off x="3357563" y="4126576"/>
            <a:ext cx="14288" cy="350044"/>
          </a:xfrm>
          <a:prstGeom prst="rect">
            <a:avLst/>
          </a:prstGeom>
          <a:solidFill>
            <a:srgbClr val="FF3333"/>
          </a:solidFill>
          <a:ln/>
        </p:spPr>
        <p:txBody>
          <a:bodyPr/>
          <a:lstStyle/>
          <a:p>
            <a:endParaRPr lang="en-US"/>
          </a:p>
        </p:txBody>
      </p:sp>
      <p:sp>
        <p:nvSpPr>
          <p:cNvPr id="54" name="Text 51"/>
          <p:cNvSpPr/>
          <p:nvPr/>
        </p:nvSpPr>
        <p:spPr>
          <a:xfrm>
            <a:off x="3443288" y="4198014"/>
            <a:ext cx="432811" cy="91564"/>
          </a:xfrm>
          <a:prstGeom prst="rect">
            <a:avLst/>
          </a:prstGeom>
          <a:noFill/>
          <a:ln/>
        </p:spPr>
        <p:txBody>
          <a:bodyPr wrap="none" lIns="0" tIns="0" rIns="0" bIns="0" rtlCol="0" anchor="t">
            <a:spAutoFit/>
          </a:bodyPr>
          <a:lstStyle/>
          <a:p>
            <a:pPr marL="0" indent="0" algn="l">
              <a:lnSpc>
                <a:spcPts val="600"/>
              </a:lnSpc>
              <a:buNone/>
            </a:pPr>
            <a:r>
              <a:rPr lang="en-US" sz="1000" b="1" dirty="0">
                <a:solidFill>
                  <a:srgbClr val="FF3333"/>
                </a:solidFill>
              </a:rPr>
              <a:t>Priority:</a:t>
            </a:r>
            <a:endParaRPr lang="en-US" sz="1000" dirty="0"/>
          </a:p>
        </p:txBody>
      </p:sp>
      <p:sp>
        <p:nvSpPr>
          <p:cNvPr id="55" name="Text 52"/>
          <p:cNvSpPr/>
          <p:nvPr/>
        </p:nvSpPr>
        <p:spPr>
          <a:xfrm>
            <a:off x="3443288" y="4306956"/>
            <a:ext cx="1816203" cy="94449"/>
          </a:xfrm>
          <a:prstGeom prst="rect">
            <a:avLst/>
          </a:prstGeom>
          <a:noFill/>
          <a:ln/>
        </p:spPr>
        <p:txBody>
          <a:bodyPr wrap="none" lIns="0" tIns="0" rIns="0" bIns="0" rtlCol="0" anchor="t">
            <a:spAutoFit/>
          </a:bodyPr>
          <a:lstStyle/>
          <a:p>
            <a:pPr marL="0" indent="0" algn="l">
              <a:lnSpc>
                <a:spcPts val="700"/>
              </a:lnSpc>
              <a:buNone/>
            </a:pPr>
            <a:r>
              <a:rPr lang="en-US" sz="800" dirty="0">
                <a:solidFill>
                  <a:srgbClr val="E0E0E0"/>
                </a:solidFill>
              </a:rPr>
              <a:t>High | Improves access control architecture</a:t>
            </a:r>
            <a:endParaRPr lang="en-US" sz="800" dirty="0"/>
          </a:p>
        </p:txBody>
      </p:sp>
      <p:sp>
        <p:nvSpPr>
          <p:cNvPr id="56" name="Shape 53"/>
          <p:cNvSpPr/>
          <p:nvPr/>
        </p:nvSpPr>
        <p:spPr>
          <a:xfrm>
            <a:off x="6072188" y="1139428"/>
            <a:ext cx="2714625" cy="3718322"/>
          </a:xfrm>
          <a:prstGeom prst="rect">
            <a:avLst/>
          </a:prstGeom>
          <a:solidFill>
            <a:srgbClr val="00FF41">
              <a:alpha val="5000"/>
            </a:srgbClr>
          </a:solidFill>
          <a:ln w="18288">
            <a:solidFill>
              <a:srgbClr val="00FF41"/>
            </a:solidFill>
            <a:prstDash val="solid"/>
          </a:ln>
        </p:spPr>
        <p:txBody>
          <a:bodyPr/>
          <a:lstStyle/>
          <a:p>
            <a:endParaRPr lang="en-US"/>
          </a:p>
        </p:txBody>
      </p:sp>
      <p:sp>
        <p:nvSpPr>
          <p:cNvPr id="57" name="Text 54"/>
          <p:cNvSpPr/>
          <p:nvPr/>
        </p:nvSpPr>
        <p:spPr>
          <a:xfrm>
            <a:off x="6215063" y="1282303"/>
            <a:ext cx="1325043" cy="101182"/>
          </a:xfrm>
          <a:prstGeom prst="rect">
            <a:avLst/>
          </a:prstGeom>
          <a:noFill/>
          <a:ln/>
        </p:spPr>
        <p:txBody>
          <a:bodyPr wrap="none" lIns="0" tIns="0" rIns="0" bIns="0" rtlCol="0" anchor="t">
            <a:spAutoFit/>
          </a:bodyPr>
          <a:lstStyle/>
          <a:p>
            <a:pPr marL="0" indent="0" algn="l">
              <a:lnSpc>
                <a:spcPts val="700"/>
              </a:lnSpc>
              <a:buNone/>
            </a:pPr>
            <a:r>
              <a:rPr lang="en-US" sz="1000" b="1" kern="0" spc="1" dirty="0">
                <a:solidFill>
                  <a:srgbClr val="FF3333"/>
                </a:solidFill>
              </a:rPr>
              <a:t>[ RECOMMENDATION 7 ]</a:t>
            </a:r>
            <a:endParaRPr lang="en-US" sz="1000" dirty="0"/>
          </a:p>
        </p:txBody>
      </p:sp>
      <p:sp>
        <p:nvSpPr>
          <p:cNvPr id="58" name="Text 55"/>
          <p:cNvSpPr/>
          <p:nvPr/>
        </p:nvSpPr>
        <p:spPr>
          <a:xfrm>
            <a:off x="6215063" y="1475184"/>
            <a:ext cx="1474763" cy="130036"/>
          </a:xfrm>
          <a:prstGeom prst="rect">
            <a:avLst/>
          </a:prstGeom>
          <a:noFill/>
          <a:ln/>
        </p:spPr>
        <p:txBody>
          <a:bodyPr wrap="none" lIns="0" tIns="0" rIns="0" bIns="0" rtlCol="0" anchor="t">
            <a:spAutoFit/>
          </a:bodyPr>
          <a:lstStyle/>
          <a:p>
            <a:pPr marL="0" indent="0" algn="l">
              <a:lnSpc>
                <a:spcPts val="1000"/>
              </a:lnSpc>
              <a:buNone/>
            </a:pPr>
            <a:r>
              <a:rPr lang="en-US" sz="1000" b="1" dirty="0">
                <a:solidFill>
                  <a:srgbClr val="00FF41"/>
                </a:solidFill>
              </a:rPr>
              <a:t>Update &amp; Patch All Systems</a:t>
            </a:r>
            <a:endParaRPr lang="en-US" sz="1000" dirty="0"/>
          </a:p>
        </p:txBody>
      </p:sp>
      <p:sp>
        <p:nvSpPr>
          <p:cNvPr id="59" name="Text 56"/>
          <p:cNvSpPr/>
          <p:nvPr/>
        </p:nvSpPr>
        <p:spPr>
          <a:xfrm>
            <a:off x="6215063" y="1681628"/>
            <a:ext cx="2428875" cy="417909"/>
          </a:xfrm>
          <a:prstGeom prst="rect">
            <a:avLst/>
          </a:prstGeom>
          <a:noFill/>
          <a:ln/>
        </p:spPr>
        <p:txBody>
          <a:bodyPr wrap="square" lIns="0" tIns="68072" rIns="0" bIns="0" rtlCol="0" anchor="t">
            <a:spAutoFit/>
          </a:bodyPr>
          <a:lstStyle/>
          <a:p>
            <a:pPr marL="0" indent="0" algn="l">
              <a:lnSpc>
                <a:spcPts val="900"/>
              </a:lnSpc>
              <a:buNone/>
            </a:pPr>
            <a:r>
              <a:rPr lang="en-US" sz="800" dirty="0">
                <a:solidFill>
                  <a:srgbClr val="E0E0E0"/>
                </a:solidFill>
              </a:rPr>
              <a:t>Establish a comprehensive patch management program to keep all operating systems, server software, databases, and libraries current with security updates.</a:t>
            </a:r>
            <a:endParaRPr lang="en-US" sz="800" dirty="0"/>
          </a:p>
        </p:txBody>
      </p:sp>
      <p:sp>
        <p:nvSpPr>
          <p:cNvPr id="60" name="Text 57"/>
          <p:cNvSpPr/>
          <p:nvPr/>
        </p:nvSpPr>
        <p:spPr>
          <a:xfrm>
            <a:off x="6215063" y="2242412"/>
            <a:ext cx="1325427" cy="101182"/>
          </a:xfrm>
          <a:prstGeom prst="rect">
            <a:avLst/>
          </a:prstGeom>
          <a:noFill/>
          <a:ln/>
        </p:spPr>
        <p:txBody>
          <a:bodyPr wrap="none" lIns="0" tIns="0" rIns="0" bIns="0" rtlCol="0" anchor="t">
            <a:spAutoFit/>
          </a:bodyPr>
          <a:lstStyle/>
          <a:p>
            <a:pPr marL="0" indent="0" algn="l">
              <a:lnSpc>
                <a:spcPts val="700"/>
              </a:lnSpc>
              <a:buNone/>
            </a:pPr>
            <a:r>
              <a:rPr lang="en-US" sz="1000" b="1" kern="0" spc="1" dirty="0">
                <a:solidFill>
                  <a:srgbClr val="FF3333"/>
                </a:solidFill>
              </a:rPr>
              <a:t>Implementation Actions:</a:t>
            </a:r>
            <a:endParaRPr lang="en-US" sz="1000" dirty="0"/>
          </a:p>
        </p:txBody>
      </p:sp>
      <p:sp>
        <p:nvSpPr>
          <p:cNvPr id="61" name="Text 58"/>
          <p:cNvSpPr/>
          <p:nvPr/>
        </p:nvSpPr>
        <p:spPr>
          <a:xfrm>
            <a:off x="6215063" y="2397789"/>
            <a:ext cx="2016065" cy="104067"/>
          </a:xfrm>
          <a:prstGeom prst="rect">
            <a:avLst/>
          </a:prstGeom>
          <a:noFill/>
          <a:ln/>
        </p:spPr>
        <p:txBody>
          <a:bodyPr wrap="none" lIns="136017" tIns="0" rIns="0" bIns="0" rtlCol="0" anchor="t">
            <a:spAutoFit/>
          </a:bodyPr>
          <a:lstStyle/>
          <a:p>
            <a:pPr marL="0" indent="0" algn="l">
              <a:lnSpc>
                <a:spcPts val="800"/>
              </a:lnSpc>
              <a:buNone/>
            </a:pPr>
            <a:r>
              <a:rPr lang="en-US" sz="800" dirty="0">
                <a:solidFill>
                  <a:srgbClr val="E0E0E0"/>
                </a:solidFill>
              </a:rPr>
              <a:t>Audit current system versions and EOL status</a:t>
            </a:r>
            <a:endParaRPr lang="en-US" sz="800" dirty="0"/>
          </a:p>
        </p:txBody>
      </p:sp>
      <p:sp>
        <p:nvSpPr>
          <p:cNvPr id="62" name="Text 59"/>
          <p:cNvSpPr/>
          <p:nvPr/>
        </p:nvSpPr>
        <p:spPr>
          <a:xfrm>
            <a:off x="6215063" y="2540664"/>
            <a:ext cx="1613711" cy="104067"/>
          </a:xfrm>
          <a:prstGeom prst="rect">
            <a:avLst/>
          </a:prstGeom>
          <a:noFill/>
          <a:ln/>
        </p:spPr>
        <p:txBody>
          <a:bodyPr wrap="none" lIns="136017" tIns="0" rIns="0" bIns="0" rtlCol="0" anchor="t">
            <a:spAutoFit/>
          </a:bodyPr>
          <a:lstStyle/>
          <a:p>
            <a:pPr marL="0" indent="0" algn="l">
              <a:lnSpc>
                <a:spcPts val="800"/>
              </a:lnSpc>
              <a:buNone/>
            </a:pPr>
            <a:r>
              <a:rPr lang="en-US" sz="800" dirty="0">
                <a:solidFill>
                  <a:srgbClr val="E0E0E0"/>
                </a:solidFill>
              </a:rPr>
              <a:t>Establish patch management policy</a:t>
            </a:r>
            <a:endParaRPr lang="en-US" sz="800" dirty="0"/>
          </a:p>
        </p:txBody>
      </p:sp>
      <p:sp>
        <p:nvSpPr>
          <p:cNvPr id="63" name="Text 60"/>
          <p:cNvSpPr/>
          <p:nvPr/>
        </p:nvSpPr>
        <p:spPr>
          <a:xfrm>
            <a:off x="6215063" y="2683539"/>
            <a:ext cx="1608902" cy="104067"/>
          </a:xfrm>
          <a:prstGeom prst="rect">
            <a:avLst/>
          </a:prstGeom>
          <a:noFill/>
          <a:ln/>
        </p:spPr>
        <p:txBody>
          <a:bodyPr wrap="none" lIns="136017" tIns="0" rIns="0" bIns="0" rtlCol="0" anchor="t">
            <a:spAutoFit/>
          </a:bodyPr>
          <a:lstStyle/>
          <a:p>
            <a:pPr marL="0" indent="0" algn="l">
              <a:lnSpc>
                <a:spcPts val="800"/>
              </a:lnSpc>
              <a:buNone/>
            </a:pPr>
            <a:r>
              <a:rPr lang="en-US" sz="800" dirty="0">
                <a:solidFill>
                  <a:srgbClr val="E0E0E0"/>
                </a:solidFill>
              </a:rPr>
              <a:t>Update Debian and all OS packages</a:t>
            </a:r>
            <a:endParaRPr lang="en-US" sz="800" dirty="0"/>
          </a:p>
        </p:txBody>
      </p:sp>
      <p:sp>
        <p:nvSpPr>
          <p:cNvPr id="64" name="Text 61"/>
          <p:cNvSpPr/>
          <p:nvPr/>
        </p:nvSpPr>
        <p:spPr>
          <a:xfrm>
            <a:off x="6215063" y="2826414"/>
            <a:ext cx="1897443" cy="104067"/>
          </a:xfrm>
          <a:prstGeom prst="rect">
            <a:avLst/>
          </a:prstGeom>
          <a:noFill/>
          <a:ln/>
        </p:spPr>
        <p:txBody>
          <a:bodyPr wrap="none" lIns="136017" tIns="0" rIns="0" bIns="0" rtlCol="0" anchor="t">
            <a:spAutoFit/>
          </a:bodyPr>
          <a:lstStyle/>
          <a:p>
            <a:pPr marL="0" indent="0" algn="l">
              <a:lnSpc>
                <a:spcPts val="800"/>
              </a:lnSpc>
              <a:buNone/>
            </a:pPr>
            <a:r>
              <a:rPr lang="en-US" sz="800" dirty="0">
                <a:solidFill>
                  <a:srgbClr val="E0E0E0"/>
                </a:solidFill>
              </a:rPr>
              <a:t>Update Apache, DBMS, and dependencies</a:t>
            </a:r>
            <a:endParaRPr lang="en-US" sz="800" dirty="0"/>
          </a:p>
        </p:txBody>
      </p:sp>
      <p:sp>
        <p:nvSpPr>
          <p:cNvPr id="65" name="Text 62"/>
          <p:cNvSpPr/>
          <p:nvPr/>
        </p:nvSpPr>
        <p:spPr>
          <a:xfrm>
            <a:off x="6215063" y="2969289"/>
            <a:ext cx="1868588" cy="104067"/>
          </a:xfrm>
          <a:prstGeom prst="rect">
            <a:avLst/>
          </a:prstGeom>
          <a:noFill/>
          <a:ln/>
        </p:spPr>
        <p:txBody>
          <a:bodyPr wrap="none" lIns="136017" tIns="0" rIns="0" bIns="0" rtlCol="0" anchor="t">
            <a:spAutoFit/>
          </a:bodyPr>
          <a:lstStyle/>
          <a:p>
            <a:pPr marL="0" indent="0" algn="l">
              <a:lnSpc>
                <a:spcPts val="800"/>
              </a:lnSpc>
              <a:buNone/>
            </a:pPr>
            <a:r>
              <a:rPr lang="en-US" sz="800" dirty="0">
                <a:solidFill>
                  <a:srgbClr val="E0E0E0"/>
                </a:solidFill>
              </a:rPr>
              <a:t>Implement automated patch deployment</a:t>
            </a:r>
            <a:endParaRPr lang="en-US" sz="800" dirty="0"/>
          </a:p>
        </p:txBody>
      </p:sp>
      <p:sp>
        <p:nvSpPr>
          <p:cNvPr id="66" name="Text 63"/>
          <p:cNvSpPr/>
          <p:nvPr/>
        </p:nvSpPr>
        <p:spPr>
          <a:xfrm>
            <a:off x="6215063" y="3112164"/>
            <a:ext cx="1806072" cy="104067"/>
          </a:xfrm>
          <a:prstGeom prst="rect">
            <a:avLst/>
          </a:prstGeom>
          <a:noFill/>
          <a:ln/>
        </p:spPr>
        <p:txBody>
          <a:bodyPr wrap="none" lIns="136017" tIns="0" rIns="0" bIns="0" rtlCol="0" anchor="t">
            <a:spAutoFit/>
          </a:bodyPr>
          <a:lstStyle/>
          <a:p>
            <a:pPr marL="0" indent="0" algn="l">
              <a:lnSpc>
                <a:spcPts val="800"/>
              </a:lnSpc>
              <a:buNone/>
            </a:pPr>
            <a:r>
              <a:rPr lang="en-US" sz="800" dirty="0">
                <a:solidFill>
                  <a:srgbClr val="E0E0E0"/>
                </a:solidFill>
              </a:rPr>
              <a:t>Schedule regular maintenance windows</a:t>
            </a:r>
            <a:endParaRPr lang="en-US" sz="800" dirty="0"/>
          </a:p>
        </p:txBody>
      </p:sp>
      <p:sp>
        <p:nvSpPr>
          <p:cNvPr id="67" name="Shape 64"/>
          <p:cNvSpPr/>
          <p:nvPr/>
        </p:nvSpPr>
        <p:spPr>
          <a:xfrm>
            <a:off x="6215063" y="3633657"/>
            <a:ext cx="2428875" cy="350044"/>
          </a:xfrm>
          <a:prstGeom prst="rect">
            <a:avLst/>
          </a:prstGeom>
          <a:solidFill>
            <a:srgbClr val="00FF41">
              <a:alpha val="8000"/>
            </a:srgbClr>
          </a:solidFill>
          <a:ln/>
        </p:spPr>
        <p:txBody>
          <a:bodyPr/>
          <a:lstStyle/>
          <a:p>
            <a:endParaRPr lang="en-US"/>
          </a:p>
        </p:txBody>
      </p:sp>
      <p:sp>
        <p:nvSpPr>
          <p:cNvPr id="68" name="Shape 65"/>
          <p:cNvSpPr/>
          <p:nvPr/>
        </p:nvSpPr>
        <p:spPr>
          <a:xfrm>
            <a:off x="6215063" y="3633657"/>
            <a:ext cx="14288" cy="350044"/>
          </a:xfrm>
          <a:prstGeom prst="rect">
            <a:avLst/>
          </a:prstGeom>
          <a:solidFill>
            <a:srgbClr val="00FF41"/>
          </a:solidFill>
          <a:ln/>
        </p:spPr>
        <p:txBody>
          <a:bodyPr/>
          <a:lstStyle/>
          <a:p>
            <a:endParaRPr lang="en-US"/>
          </a:p>
        </p:txBody>
      </p:sp>
      <p:sp>
        <p:nvSpPr>
          <p:cNvPr id="69" name="Text 66"/>
          <p:cNvSpPr/>
          <p:nvPr/>
        </p:nvSpPr>
        <p:spPr>
          <a:xfrm>
            <a:off x="6215063" y="2397789"/>
            <a:ext cx="92974" cy="104067"/>
          </a:xfrm>
          <a:prstGeom prst="rect">
            <a:avLst/>
          </a:prstGeom>
          <a:noFill/>
          <a:ln/>
        </p:spPr>
        <p:txBody>
          <a:bodyPr wrap="none" lIns="0" tIns="0" rIns="0" bIns="0" rtlCol="0" anchor="t">
            <a:spAutoFit/>
          </a:bodyPr>
          <a:lstStyle/>
          <a:p>
            <a:pPr marL="0" indent="0" algn="l">
              <a:lnSpc>
                <a:spcPts val="800"/>
              </a:lnSpc>
              <a:buNone/>
            </a:pPr>
            <a:r>
              <a:rPr lang="en-US" sz="800" b="1" dirty="0">
                <a:solidFill>
                  <a:srgbClr val="00FF41"/>
                </a:solidFill>
              </a:rPr>
              <a:t>→</a:t>
            </a:r>
            <a:endParaRPr lang="en-US" sz="800" dirty="0"/>
          </a:p>
        </p:txBody>
      </p:sp>
      <p:sp>
        <p:nvSpPr>
          <p:cNvPr id="70" name="Text 67"/>
          <p:cNvSpPr/>
          <p:nvPr/>
        </p:nvSpPr>
        <p:spPr>
          <a:xfrm>
            <a:off x="6215063" y="2540664"/>
            <a:ext cx="92974" cy="104067"/>
          </a:xfrm>
          <a:prstGeom prst="rect">
            <a:avLst/>
          </a:prstGeom>
          <a:noFill/>
          <a:ln/>
        </p:spPr>
        <p:txBody>
          <a:bodyPr wrap="none" lIns="0" tIns="0" rIns="0" bIns="0" rtlCol="0" anchor="t">
            <a:spAutoFit/>
          </a:bodyPr>
          <a:lstStyle/>
          <a:p>
            <a:pPr marL="0" indent="0" algn="l">
              <a:lnSpc>
                <a:spcPts val="800"/>
              </a:lnSpc>
              <a:buNone/>
            </a:pPr>
            <a:r>
              <a:rPr lang="en-US" sz="800" b="1" dirty="0">
                <a:solidFill>
                  <a:srgbClr val="00FF41"/>
                </a:solidFill>
              </a:rPr>
              <a:t>→</a:t>
            </a:r>
            <a:endParaRPr lang="en-US" sz="800" dirty="0"/>
          </a:p>
        </p:txBody>
      </p:sp>
      <p:sp>
        <p:nvSpPr>
          <p:cNvPr id="71" name="Text 68"/>
          <p:cNvSpPr/>
          <p:nvPr/>
        </p:nvSpPr>
        <p:spPr>
          <a:xfrm>
            <a:off x="6215063" y="2683539"/>
            <a:ext cx="92974" cy="104067"/>
          </a:xfrm>
          <a:prstGeom prst="rect">
            <a:avLst/>
          </a:prstGeom>
          <a:noFill/>
          <a:ln/>
        </p:spPr>
        <p:txBody>
          <a:bodyPr wrap="none" lIns="0" tIns="0" rIns="0" bIns="0" rtlCol="0" anchor="t">
            <a:spAutoFit/>
          </a:bodyPr>
          <a:lstStyle/>
          <a:p>
            <a:pPr marL="0" indent="0" algn="l">
              <a:lnSpc>
                <a:spcPts val="800"/>
              </a:lnSpc>
              <a:buNone/>
            </a:pPr>
            <a:r>
              <a:rPr lang="en-US" sz="800" b="1" dirty="0">
                <a:solidFill>
                  <a:srgbClr val="00FF41"/>
                </a:solidFill>
              </a:rPr>
              <a:t>→</a:t>
            </a:r>
            <a:endParaRPr lang="en-US" sz="800" dirty="0"/>
          </a:p>
        </p:txBody>
      </p:sp>
      <p:sp>
        <p:nvSpPr>
          <p:cNvPr id="72" name="Text 69"/>
          <p:cNvSpPr/>
          <p:nvPr/>
        </p:nvSpPr>
        <p:spPr>
          <a:xfrm>
            <a:off x="6215063" y="2826414"/>
            <a:ext cx="92974" cy="104067"/>
          </a:xfrm>
          <a:prstGeom prst="rect">
            <a:avLst/>
          </a:prstGeom>
          <a:noFill/>
          <a:ln/>
        </p:spPr>
        <p:txBody>
          <a:bodyPr wrap="none" lIns="0" tIns="0" rIns="0" bIns="0" rtlCol="0" anchor="t">
            <a:spAutoFit/>
          </a:bodyPr>
          <a:lstStyle/>
          <a:p>
            <a:pPr marL="0" indent="0" algn="l">
              <a:lnSpc>
                <a:spcPts val="800"/>
              </a:lnSpc>
              <a:buNone/>
            </a:pPr>
            <a:r>
              <a:rPr lang="en-US" sz="800" b="1" dirty="0">
                <a:solidFill>
                  <a:srgbClr val="00FF41"/>
                </a:solidFill>
              </a:rPr>
              <a:t>→</a:t>
            </a:r>
            <a:endParaRPr lang="en-US" sz="800" dirty="0"/>
          </a:p>
        </p:txBody>
      </p:sp>
      <p:sp>
        <p:nvSpPr>
          <p:cNvPr id="73" name="Text 70"/>
          <p:cNvSpPr/>
          <p:nvPr/>
        </p:nvSpPr>
        <p:spPr>
          <a:xfrm>
            <a:off x="6215063" y="2969289"/>
            <a:ext cx="92974" cy="104067"/>
          </a:xfrm>
          <a:prstGeom prst="rect">
            <a:avLst/>
          </a:prstGeom>
          <a:noFill/>
          <a:ln/>
        </p:spPr>
        <p:txBody>
          <a:bodyPr wrap="none" lIns="0" tIns="0" rIns="0" bIns="0" rtlCol="0" anchor="t">
            <a:spAutoFit/>
          </a:bodyPr>
          <a:lstStyle/>
          <a:p>
            <a:pPr marL="0" indent="0" algn="l">
              <a:lnSpc>
                <a:spcPts val="800"/>
              </a:lnSpc>
              <a:buNone/>
            </a:pPr>
            <a:r>
              <a:rPr lang="en-US" sz="800" b="1" dirty="0">
                <a:solidFill>
                  <a:srgbClr val="00FF41"/>
                </a:solidFill>
              </a:rPr>
              <a:t>→</a:t>
            </a:r>
            <a:endParaRPr lang="en-US" sz="800" dirty="0"/>
          </a:p>
        </p:txBody>
      </p:sp>
      <p:sp>
        <p:nvSpPr>
          <p:cNvPr id="74" name="Text 71"/>
          <p:cNvSpPr/>
          <p:nvPr/>
        </p:nvSpPr>
        <p:spPr>
          <a:xfrm>
            <a:off x="6215063" y="3112164"/>
            <a:ext cx="92974" cy="104067"/>
          </a:xfrm>
          <a:prstGeom prst="rect">
            <a:avLst/>
          </a:prstGeom>
          <a:noFill/>
          <a:ln/>
        </p:spPr>
        <p:txBody>
          <a:bodyPr wrap="none" lIns="0" tIns="0" rIns="0" bIns="0" rtlCol="0" anchor="t">
            <a:spAutoFit/>
          </a:bodyPr>
          <a:lstStyle/>
          <a:p>
            <a:pPr marL="0" indent="0" algn="l">
              <a:lnSpc>
                <a:spcPts val="800"/>
              </a:lnSpc>
              <a:buNone/>
            </a:pPr>
            <a:r>
              <a:rPr lang="en-US" sz="800" b="1" dirty="0">
                <a:solidFill>
                  <a:srgbClr val="00FF41"/>
                </a:solidFill>
              </a:rPr>
              <a:t>→</a:t>
            </a:r>
            <a:endParaRPr lang="en-US" sz="800" dirty="0"/>
          </a:p>
        </p:txBody>
      </p:sp>
      <p:sp>
        <p:nvSpPr>
          <p:cNvPr id="75" name="Text 72"/>
          <p:cNvSpPr/>
          <p:nvPr/>
        </p:nvSpPr>
        <p:spPr>
          <a:xfrm>
            <a:off x="6300788" y="3705095"/>
            <a:ext cx="496931" cy="91564"/>
          </a:xfrm>
          <a:prstGeom prst="rect">
            <a:avLst/>
          </a:prstGeom>
          <a:noFill/>
          <a:ln/>
        </p:spPr>
        <p:txBody>
          <a:bodyPr wrap="none" lIns="0" tIns="0" rIns="0" bIns="0" rtlCol="0" anchor="t">
            <a:spAutoFit/>
          </a:bodyPr>
          <a:lstStyle/>
          <a:p>
            <a:pPr marL="0" indent="0" algn="l">
              <a:lnSpc>
                <a:spcPts val="600"/>
              </a:lnSpc>
              <a:buNone/>
            </a:pPr>
            <a:r>
              <a:rPr lang="en-US" sz="1000" b="1" dirty="0">
                <a:solidFill>
                  <a:srgbClr val="00FF41"/>
                </a:solidFill>
              </a:rPr>
              <a:t>Timeline:</a:t>
            </a:r>
            <a:endParaRPr lang="en-US" sz="1000" dirty="0"/>
          </a:p>
        </p:txBody>
      </p:sp>
      <p:sp>
        <p:nvSpPr>
          <p:cNvPr id="76" name="Text 73"/>
          <p:cNvSpPr/>
          <p:nvPr/>
        </p:nvSpPr>
        <p:spPr>
          <a:xfrm>
            <a:off x="6300788" y="3814037"/>
            <a:ext cx="1649491" cy="94449"/>
          </a:xfrm>
          <a:prstGeom prst="rect">
            <a:avLst/>
          </a:prstGeom>
          <a:noFill/>
          <a:ln/>
        </p:spPr>
        <p:txBody>
          <a:bodyPr wrap="none" lIns="0" tIns="0" rIns="0" bIns="0" rtlCol="0" anchor="t">
            <a:spAutoFit/>
          </a:bodyPr>
          <a:lstStyle/>
          <a:p>
            <a:pPr marL="0" indent="0" algn="l">
              <a:lnSpc>
                <a:spcPts val="700"/>
              </a:lnSpc>
              <a:buNone/>
            </a:pPr>
            <a:r>
              <a:rPr lang="en-US" sz="800" dirty="0">
                <a:solidFill>
                  <a:srgbClr val="E0E0E0"/>
                </a:solidFill>
              </a:rPr>
              <a:t>Ongoing | Initial deployment 2-4 weeks</a:t>
            </a:r>
            <a:endParaRPr lang="en-US" sz="800" dirty="0"/>
          </a:p>
        </p:txBody>
      </p:sp>
      <p:sp>
        <p:nvSpPr>
          <p:cNvPr id="77" name="Shape 74"/>
          <p:cNvSpPr/>
          <p:nvPr/>
        </p:nvSpPr>
        <p:spPr>
          <a:xfrm>
            <a:off x="6215063" y="4126576"/>
            <a:ext cx="2428875" cy="350044"/>
          </a:xfrm>
          <a:prstGeom prst="rect">
            <a:avLst/>
          </a:prstGeom>
          <a:solidFill>
            <a:srgbClr val="FF3333">
              <a:alpha val="8000"/>
            </a:srgbClr>
          </a:solidFill>
          <a:ln/>
        </p:spPr>
        <p:txBody>
          <a:bodyPr/>
          <a:lstStyle/>
          <a:p>
            <a:endParaRPr lang="en-US"/>
          </a:p>
        </p:txBody>
      </p:sp>
      <p:sp>
        <p:nvSpPr>
          <p:cNvPr id="78" name="Shape 75"/>
          <p:cNvSpPr/>
          <p:nvPr/>
        </p:nvSpPr>
        <p:spPr>
          <a:xfrm>
            <a:off x="6215063" y="4126576"/>
            <a:ext cx="14288" cy="350044"/>
          </a:xfrm>
          <a:prstGeom prst="rect">
            <a:avLst/>
          </a:prstGeom>
          <a:solidFill>
            <a:srgbClr val="FF3333"/>
          </a:solidFill>
          <a:ln/>
        </p:spPr>
        <p:txBody>
          <a:bodyPr/>
          <a:lstStyle/>
          <a:p>
            <a:endParaRPr lang="en-US"/>
          </a:p>
        </p:txBody>
      </p:sp>
      <p:sp>
        <p:nvSpPr>
          <p:cNvPr id="79" name="Text 76"/>
          <p:cNvSpPr/>
          <p:nvPr/>
        </p:nvSpPr>
        <p:spPr>
          <a:xfrm>
            <a:off x="6300788" y="4198014"/>
            <a:ext cx="432811" cy="91564"/>
          </a:xfrm>
          <a:prstGeom prst="rect">
            <a:avLst/>
          </a:prstGeom>
          <a:noFill/>
          <a:ln/>
        </p:spPr>
        <p:txBody>
          <a:bodyPr wrap="none" lIns="0" tIns="0" rIns="0" bIns="0" rtlCol="0" anchor="t">
            <a:spAutoFit/>
          </a:bodyPr>
          <a:lstStyle/>
          <a:p>
            <a:pPr marL="0" indent="0" algn="l">
              <a:lnSpc>
                <a:spcPts val="600"/>
              </a:lnSpc>
              <a:buNone/>
            </a:pPr>
            <a:r>
              <a:rPr lang="en-US" sz="1000" b="1" dirty="0">
                <a:solidFill>
                  <a:srgbClr val="FF3333"/>
                </a:solidFill>
              </a:rPr>
              <a:t>Priority:</a:t>
            </a:r>
            <a:endParaRPr lang="en-US" sz="1000" dirty="0"/>
          </a:p>
        </p:txBody>
      </p:sp>
      <p:sp>
        <p:nvSpPr>
          <p:cNvPr id="80" name="Text 77"/>
          <p:cNvSpPr/>
          <p:nvPr/>
        </p:nvSpPr>
        <p:spPr>
          <a:xfrm>
            <a:off x="6300788" y="4306956"/>
            <a:ext cx="1917192" cy="94449"/>
          </a:xfrm>
          <a:prstGeom prst="rect">
            <a:avLst/>
          </a:prstGeom>
          <a:noFill/>
          <a:ln/>
        </p:spPr>
        <p:txBody>
          <a:bodyPr wrap="none" lIns="0" tIns="0" rIns="0" bIns="0" rtlCol="0" anchor="t">
            <a:spAutoFit/>
          </a:bodyPr>
          <a:lstStyle/>
          <a:p>
            <a:pPr marL="0" indent="0" algn="l">
              <a:lnSpc>
                <a:spcPts val="700"/>
              </a:lnSpc>
              <a:buNone/>
            </a:pPr>
            <a:r>
              <a:rPr lang="en-US" sz="800" dirty="0">
                <a:solidFill>
                  <a:srgbClr val="E0E0E0"/>
                </a:solidFill>
              </a:rPr>
              <a:t>Critical | Continuous operational requirement</a:t>
            </a:r>
            <a:endParaRPr lang="en-US" sz="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57188" y="285750"/>
            <a:ext cx="8429625" cy="273248"/>
          </a:xfrm>
          <a:prstGeom prst="rect">
            <a:avLst/>
          </a:prstGeom>
          <a:noFill/>
          <a:ln/>
        </p:spPr>
        <p:txBody>
          <a:bodyPr wrap="none" lIns="0" tIns="0" rIns="0" bIns="0" rtlCol="0" anchor="t">
            <a:spAutoFit/>
          </a:bodyPr>
          <a:lstStyle/>
          <a:p>
            <a:pPr marL="0" indent="0" algn="l">
              <a:lnSpc>
                <a:spcPts val="1900"/>
              </a:lnSpc>
              <a:buNone/>
            </a:pPr>
            <a:r>
              <a:rPr lang="en-US" sz="1397" b="1" kern="0" spc="2" dirty="0">
                <a:solidFill>
                  <a:srgbClr val="00FF41"/>
                </a:solidFill>
              </a:rPr>
              <a:t>► CONCLUSION: CRITICAL RISK MITIGATION REQUIRED</a:t>
            </a:r>
            <a:endParaRPr lang="en-US" sz="1397" dirty="0"/>
          </a:p>
        </p:txBody>
      </p:sp>
      <p:sp>
        <p:nvSpPr>
          <p:cNvPr id="4" name="Shape 1"/>
          <p:cNvSpPr/>
          <p:nvPr/>
        </p:nvSpPr>
        <p:spPr>
          <a:xfrm>
            <a:off x="357188" y="544711"/>
            <a:ext cx="8429625" cy="505755"/>
          </a:xfrm>
          <a:prstGeom prst="rect">
            <a:avLst/>
          </a:prstGeom>
          <a:solidFill>
            <a:srgbClr val="00FF41">
              <a:alpha val="8000"/>
            </a:srgbClr>
          </a:solidFill>
          <a:ln/>
        </p:spPr>
        <p:txBody>
          <a:bodyPr/>
          <a:lstStyle/>
          <a:p>
            <a:endParaRPr lang="en-US"/>
          </a:p>
        </p:txBody>
      </p:sp>
      <p:sp>
        <p:nvSpPr>
          <p:cNvPr id="5" name="Shape 2"/>
          <p:cNvSpPr/>
          <p:nvPr/>
        </p:nvSpPr>
        <p:spPr>
          <a:xfrm>
            <a:off x="357188" y="538628"/>
            <a:ext cx="21431" cy="505755"/>
          </a:xfrm>
          <a:prstGeom prst="rect">
            <a:avLst/>
          </a:prstGeom>
          <a:solidFill>
            <a:srgbClr val="00FF41"/>
          </a:solidFill>
          <a:ln/>
        </p:spPr>
        <p:txBody>
          <a:bodyPr/>
          <a:lstStyle/>
          <a:p>
            <a:endParaRPr lang="en-US"/>
          </a:p>
        </p:txBody>
      </p:sp>
      <p:sp>
        <p:nvSpPr>
          <p:cNvPr id="6" name="Text 3"/>
          <p:cNvSpPr/>
          <p:nvPr/>
        </p:nvSpPr>
        <p:spPr>
          <a:xfrm>
            <a:off x="464344" y="651867"/>
            <a:ext cx="8215313" cy="273986"/>
          </a:xfrm>
          <a:prstGeom prst="rect">
            <a:avLst/>
          </a:prstGeom>
          <a:noFill/>
          <a:ln/>
        </p:spPr>
        <p:txBody>
          <a:bodyPr wrap="square" lIns="0" tIns="0" rIns="0" bIns="0" rtlCol="0" anchor="t">
            <a:spAutoFit/>
          </a:bodyPr>
          <a:lstStyle/>
          <a:p>
            <a:pPr marL="0" indent="0" algn="l">
              <a:lnSpc>
                <a:spcPts val="1100"/>
              </a:lnSpc>
              <a:buNone/>
            </a:pPr>
            <a:r>
              <a:rPr lang="en-US" sz="800" dirty="0">
                <a:solidFill>
                  <a:srgbClr val="E0E0E0"/>
                </a:solidFill>
              </a:rPr>
              <a:t>The Red Team simulation successfully identified a critical, multi-stage attack path that resulted in full system compromise. A chain of linked vulnerabilities—spanning SQL injection, local file inclusion, configuration disclosure, firewall bypass, credential harvesting, and privilege escalation—demonstrates the real-world risk to the organization if these issues remain unaddressed.</a:t>
            </a:r>
            <a:endParaRPr lang="en-US" sz="800" dirty="0"/>
          </a:p>
        </p:txBody>
      </p:sp>
      <p:sp>
        <p:nvSpPr>
          <p:cNvPr id="7" name="Text 4"/>
          <p:cNvSpPr/>
          <p:nvPr/>
        </p:nvSpPr>
        <p:spPr>
          <a:xfrm>
            <a:off x="357187" y="1174057"/>
            <a:ext cx="8429625" cy="191095"/>
          </a:xfrm>
          <a:prstGeom prst="rect">
            <a:avLst/>
          </a:prstGeom>
          <a:noFill/>
          <a:ln/>
        </p:spPr>
        <p:txBody>
          <a:bodyPr wrap="square" lIns="0" tIns="0" rIns="0" bIns="68072" rtlCol="0" anchor="t">
            <a:spAutoFit/>
          </a:bodyPr>
          <a:lstStyle/>
          <a:p>
            <a:pPr marL="0" indent="0" algn="l">
              <a:lnSpc>
                <a:spcPts val="900"/>
              </a:lnSpc>
              <a:buNone/>
            </a:pPr>
            <a:r>
              <a:rPr lang="en-US" sz="1000" b="1" kern="0" spc="1" dirty="0">
                <a:solidFill>
                  <a:srgbClr val="00FF41"/>
                </a:solidFill>
              </a:rPr>
              <a:t>[ KEY FINDINGS SUMMARY ]</a:t>
            </a:r>
            <a:endParaRPr lang="en-US" sz="1000" dirty="0"/>
          </a:p>
        </p:txBody>
      </p:sp>
      <p:sp>
        <p:nvSpPr>
          <p:cNvPr id="8" name="Shape 5"/>
          <p:cNvSpPr/>
          <p:nvPr/>
        </p:nvSpPr>
        <p:spPr>
          <a:xfrm>
            <a:off x="357187" y="1399254"/>
            <a:ext cx="4161234" cy="414338"/>
          </a:xfrm>
          <a:prstGeom prst="rect">
            <a:avLst/>
          </a:prstGeom>
          <a:solidFill>
            <a:srgbClr val="FF3333">
              <a:alpha val="8000"/>
            </a:srgbClr>
          </a:solidFill>
          <a:ln/>
        </p:spPr>
        <p:txBody>
          <a:bodyPr/>
          <a:lstStyle/>
          <a:p>
            <a:endParaRPr lang="en-US"/>
          </a:p>
        </p:txBody>
      </p:sp>
      <p:sp>
        <p:nvSpPr>
          <p:cNvPr id="9" name="Shape 6"/>
          <p:cNvSpPr/>
          <p:nvPr/>
        </p:nvSpPr>
        <p:spPr>
          <a:xfrm>
            <a:off x="357187" y="1399254"/>
            <a:ext cx="21431" cy="414338"/>
          </a:xfrm>
          <a:prstGeom prst="rect">
            <a:avLst/>
          </a:prstGeom>
          <a:solidFill>
            <a:srgbClr val="FF3333"/>
          </a:solidFill>
          <a:ln/>
        </p:spPr>
        <p:txBody>
          <a:bodyPr/>
          <a:lstStyle/>
          <a:p>
            <a:endParaRPr lang="en-US"/>
          </a:p>
        </p:txBody>
      </p:sp>
      <p:sp>
        <p:nvSpPr>
          <p:cNvPr id="10" name="Text 7"/>
          <p:cNvSpPr/>
          <p:nvPr/>
        </p:nvSpPr>
        <p:spPr>
          <a:xfrm>
            <a:off x="442912" y="1484979"/>
            <a:ext cx="564257" cy="101182"/>
          </a:xfrm>
          <a:prstGeom prst="rect">
            <a:avLst/>
          </a:prstGeom>
          <a:noFill/>
          <a:ln/>
        </p:spPr>
        <p:txBody>
          <a:bodyPr wrap="none" lIns="0" tIns="0" rIns="0" bIns="0" rtlCol="0" anchor="t">
            <a:spAutoFit/>
          </a:bodyPr>
          <a:lstStyle/>
          <a:p>
            <a:pPr marL="0" indent="0" algn="l">
              <a:lnSpc>
                <a:spcPts val="700"/>
              </a:lnSpc>
              <a:buNone/>
            </a:pPr>
            <a:r>
              <a:rPr lang="en-US" sz="1000" b="1" dirty="0">
                <a:solidFill>
                  <a:srgbClr val="FF3333"/>
                </a:solidFill>
              </a:rPr>
              <a:t>2 CRITICAL</a:t>
            </a:r>
            <a:endParaRPr lang="en-US" sz="1000" dirty="0"/>
          </a:p>
        </p:txBody>
      </p:sp>
      <p:sp>
        <p:nvSpPr>
          <p:cNvPr id="11" name="Text 8"/>
          <p:cNvSpPr/>
          <p:nvPr/>
        </p:nvSpPr>
        <p:spPr>
          <a:xfrm>
            <a:off x="442912" y="1620711"/>
            <a:ext cx="1542089" cy="94449"/>
          </a:xfrm>
          <a:prstGeom prst="rect">
            <a:avLst/>
          </a:prstGeom>
          <a:noFill/>
          <a:ln/>
        </p:spPr>
        <p:txBody>
          <a:bodyPr wrap="none" lIns="0" tIns="0" rIns="0" bIns="0" rtlCol="0" anchor="t">
            <a:spAutoFit/>
          </a:bodyPr>
          <a:lstStyle/>
          <a:p>
            <a:pPr marL="0" indent="0" algn="l">
              <a:lnSpc>
                <a:spcPts val="700"/>
              </a:lnSpc>
              <a:buNone/>
            </a:pPr>
            <a:r>
              <a:rPr lang="en-US" sz="800" dirty="0">
                <a:solidFill>
                  <a:srgbClr val="E0E0E0"/>
                </a:solidFill>
              </a:rPr>
              <a:t>SQL Injection, Sudo Misconfiguration</a:t>
            </a:r>
            <a:endParaRPr lang="en-US" sz="800" dirty="0"/>
          </a:p>
        </p:txBody>
      </p:sp>
      <p:sp>
        <p:nvSpPr>
          <p:cNvPr id="12" name="Shape 9"/>
          <p:cNvSpPr/>
          <p:nvPr/>
        </p:nvSpPr>
        <p:spPr>
          <a:xfrm>
            <a:off x="4625577" y="1399254"/>
            <a:ext cx="4161234" cy="414338"/>
          </a:xfrm>
          <a:prstGeom prst="rect">
            <a:avLst/>
          </a:prstGeom>
          <a:solidFill>
            <a:srgbClr val="FF3333">
              <a:alpha val="8000"/>
            </a:srgbClr>
          </a:solidFill>
          <a:ln/>
        </p:spPr>
        <p:txBody>
          <a:bodyPr/>
          <a:lstStyle/>
          <a:p>
            <a:endParaRPr lang="en-US"/>
          </a:p>
        </p:txBody>
      </p:sp>
      <p:sp>
        <p:nvSpPr>
          <p:cNvPr id="13" name="Shape 10"/>
          <p:cNvSpPr/>
          <p:nvPr/>
        </p:nvSpPr>
        <p:spPr>
          <a:xfrm>
            <a:off x="4625577" y="1399254"/>
            <a:ext cx="21431" cy="414338"/>
          </a:xfrm>
          <a:prstGeom prst="rect">
            <a:avLst/>
          </a:prstGeom>
          <a:solidFill>
            <a:srgbClr val="FF3333"/>
          </a:solidFill>
          <a:ln/>
        </p:spPr>
        <p:txBody>
          <a:bodyPr/>
          <a:lstStyle/>
          <a:p>
            <a:endParaRPr lang="en-US"/>
          </a:p>
        </p:txBody>
      </p:sp>
      <p:sp>
        <p:nvSpPr>
          <p:cNvPr id="14" name="Text 11"/>
          <p:cNvSpPr/>
          <p:nvPr/>
        </p:nvSpPr>
        <p:spPr>
          <a:xfrm>
            <a:off x="4711302" y="1484979"/>
            <a:ext cx="370294" cy="101182"/>
          </a:xfrm>
          <a:prstGeom prst="rect">
            <a:avLst/>
          </a:prstGeom>
          <a:noFill/>
          <a:ln/>
        </p:spPr>
        <p:txBody>
          <a:bodyPr wrap="none" lIns="0" tIns="0" rIns="0" bIns="0" rtlCol="0" anchor="t">
            <a:spAutoFit/>
          </a:bodyPr>
          <a:lstStyle/>
          <a:p>
            <a:pPr marL="0" indent="0" algn="l">
              <a:lnSpc>
                <a:spcPts val="700"/>
              </a:lnSpc>
              <a:buNone/>
            </a:pPr>
            <a:r>
              <a:rPr lang="en-US" sz="1000" b="1" dirty="0">
                <a:solidFill>
                  <a:srgbClr val="FF3333"/>
                </a:solidFill>
              </a:rPr>
              <a:t>4 HIGH</a:t>
            </a:r>
            <a:endParaRPr lang="en-US" sz="1000" dirty="0"/>
          </a:p>
        </p:txBody>
      </p:sp>
      <p:sp>
        <p:nvSpPr>
          <p:cNvPr id="15" name="Text 12"/>
          <p:cNvSpPr/>
          <p:nvPr/>
        </p:nvSpPr>
        <p:spPr>
          <a:xfrm>
            <a:off x="4711302" y="1620711"/>
            <a:ext cx="2537554" cy="94449"/>
          </a:xfrm>
          <a:prstGeom prst="rect">
            <a:avLst/>
          </a:prstGeom>
          <a:noFill/>
          <a:ln/>
        </p:spPr>
        <p:txBody>
          <a:bodyPr wrap="none" lIns="0" tIns="0" rIns="0" bIns="0" rtlCol="0" anchor="t">
            <a:spAutoFit/>
          </a:bodyPr>
          <a:lstStyle/>
          <a:p>
            <a:pPr marL="0" indent="0" algn="l">
              <a:lnSpc>
                <a:spcPts val="700"/>
              </a:lnSpc>
              <a:buNone/>
            </a:pPr>
            <a:r>
              <a:rPr lang="en-US" sz="800" dirty="0">
                <a:solidFill>
                  <a:srgbClr val="E0E0E0"/>
                </a:solidFill>
              </a:rPr>
              <a:t>LFI, Port Knocking Config, Weak Passwords, Credential Reuse</a:t>
            </a:r>
            <a:endParaRPr lang="en-US" sz="800" dirty="0"/>
          </a:p>
        </p:txBody>
      </p:sp>
      <p:sp>
        <p:nvSpPr>
          <p:cNvPr id="16" name="Text 13"/>
          <p:cNvSpPr/>
          <p:nvPr/>
        </p:nvSpPr>
        <p:spPr>
          <a:xfrm>
            <a:off x="357186" y="1987091"/>
            <a:ext cx="8429625" cy="191095"/>
          </a:xfrm>
          <a:prstGeom prst="rect">
            <a:avLst/>
          </a:prstGeom>
          <a:noFill/>
          <a:ln/>
        </p:spPr>
        <p:txBody>
          <a:bodyPr wrap="square" lIns="0" tIns="0" rIns="0" bIns="68072" rtlCol="0" anchor="t">
            <a:spAutoFit/>
          </a:bodyPr>
          <a:lstStyle/>
          <a:p>
            <a:pPr marL="0" indent="0" algn="l">
              <a:lnSpc>
                <a:spcPts val="900"/>
              </a:lnSpc>
              <a:buNone/>
            </a:pPr>
            <a:r>
              <a:rPr lang="en-US" sz="1000" b="1" kern="0" spc="1" dirty="0">
                <a:solidFill>
                  <a:srgbClr val="00FF41"/>
                </a:solidFill>
              </a:rPr>
              <a:t>[ IMMEDIATE NEXT STEPS ]</a:t>
            </a:r>
            <a:endParaRPr lang="en-US" sz="1000" dirty="0"/>
          </a:p>
        </p:txBody>
      </p:sp>
      <p:sp>
        <p:nvSpPr>
          <p:cNvPr id="17" name="Text 14"/>
          <p:cNvSpPr/>
          <p:nvPr/>
        </p:nvSpPr>
        <p:spPr>
          <a:xfrm>
            <a:off x="357188" y="2201672"/>
            <a:ext cx="3775264" cy="142540"/>
          </a:xfrm>
          <a:prstGeom prst="rect">
            <a:avLst/>
          </a:prstGeom>
          <a:noFill/>
          <a:ln/>
        </p:spPr>
        <p:txBody>
          <a:bodyPr wrap="none" lIns="170053" tIns="0" rIns="0" bIns="0" rtlCol="0" anchor="t">
            <a:spAutoFit/>
          </a:bodyPr>
          <a:lstStyle/>
          <a:p>
            <a:pPr marL="0" indent="0" algn="l">
              <a:lnSpc>
                <a:spcPts val="1200"/>
              </a:lnSpc>
              <a:buNone/>
            </a:pPr>
            <a:r>
              <a:rPr lang="en-US" sz="800" dirty="0">
                <a:solidFill>
                  <a:srgbClr val="E0E0E0"/>
                </a:solidFill>
              </a:rPr>
              <a:t>Implement prepared statements and parameterized queries to eliminate SQL injection</a:t>
            </a:r>
            <a:endParaRPr lang="en-US" sz="800" dirty="0"/>
          </a:p>
        </p:txBody>
      </p:sp>
      <p:sp>
        <p:nvSpPr>
          <p:cNvPr id="18" name="Text 15"/>
          <p:cNvSpPr/>
          <p:nvPr/>
        </p:nvSpPr>
        <p:spPr>
          <a:xfrm>
            <a:off x="357188" y="2413110"/>
            <a:ext cx="2928879" cy="142540"/>
          </a:xfrm>
          <a:prstGeom prst="rect">
            <a:avLst/>
          </a:prstGeom>
          <a:noFill/>
          <a:ln/>
        </p:spPr>
        <p:txBody>
          <a:bodyPr wrap="none" lIns="170053" tIns="0" rIns="0" bIns="0" rtlCol="0" anchor="t">
            <a:spAutoFit/>
          </a:bodyPr>
          <a:lstStyle/>
          <a:p>
            <a:pPr marL="0" indent="0" algn="l">
              <a:lnSpc>
                <a:spcPts val="1200"/>
              </a:lnSpc>
              <a:buNone/>
            </a:pPr>
            <a:r>
              <a:rPr lang="en-US" sz="800" dirty="0">
                <a:solidFill>
                  <a:srgbClr val="E0E0E0"/>
                </a:solidFill>
              </a:rPr>
              <a:t>Remove or restrict dynamic file inclusion functionality to patch LFI</a:t>
            </a:r>
            <a:endParaRPr lang="en-US" sz="800" dirty="0"/>
          </a:p>
        </p:txBody>
      </p:sp>
      <p:sp>
        <p:nvSpPr>
          <p:cNvPr id="19" name="Text 16"/>
          <p:cNvSpPr/>
          <p:nvPr/>
        </p:nvSpPr>
        <p:spPr>
          <a:xfrm>
            <a:off x="357188" y="2624549"/>
            <a:ext cx="3033074" cy="142540"/>
          </a:xfrm>
          <a:prstGeom prst="rect">
            <a:avLst/>
          </a:prstGeom>
          <a:noFill/>
          <a:ln/>
        </p:spPr>
        <p:txBody>
          <a:bodyPr wrap="none" lIns="170053" tIns="0" rIns="0" bIns="0" rtlCol="0" anchor="t">
            <a:spAutoFit/>
          </a:bodyPr>
          <a:lstStyle/>
          <a:p>
            <a:pPr marL="0" indent="0" algn="l">
              <a:lnSpc>
                <a:spcPts val="1200"/>
              </a:lnSpc>
              <a:buNone/>
            </a:pPr>
            <a:r>
              <a:rPr lang="en-US" sz="800" dirty="0">
                <a:solidFill>
                  <a:srgbClr val="E0E0E0"/>
                </a:solidFill>
              </a:rPr>
              <a:t>Audit and remove all NOPASSWD entries from sudoers configuration</a:t>
            </a:r>
            <a:endParaRPr lang="en-US" sz="800" dirty="0"/>
          </a:p>
        </p:txBody>
      </p:sp>
      <p:sp>
        <p:nvSpPr>
          <p:cNvPr id="20" name="Text 17"/>
          <p:cNvSpPr/>
          <p:nvPr/>
        </p:nvSpPr>
        <p:spPr>
          <a:xfrm>
            <a:off x="357188" y="2835987"/>
            <a:ext cx="3284745" cy="142540"/>
          </a:xfrm>
          <a:prstGeom prst="rect">
            <a:avLst/>
          </a:prstGeom>
          <a:noFill/>
          <a:ln/>
        </p:spPr>
        <p:txBody>
          <a:bodyPr wrap="none" lIns="170053" tIns="0" rIns="0" bIns="0" rtlCol="0" anchor="t">
            <a:spAutoFit/>
          </a:bodyPr>
          <a:lstStyle/>
          <a:p>
            <a:pPr marL="0" indent="0" algn="l">
              <a:lnSpc>
                <a:spcPts val="1200"/>
              </a:lnSpc>
              <a:buNone/>
            </a:pPr>
            <a:r>
              <a:rPr lang="en-US" sz="800" dirty="0">
                <a:solidFill>
                  <a:srgbClr val="E0E0E0"/>
                </a:solidFill>
              </a:rPr>
              <a:t>Migrate password storage from MD5 to Argon2 or bcrypt with unique salts</a:t>
            </a:r>
            <a:endParaRPr lang="en-US" sz="800" dirty="0"/>
          </a:p>
        </p:txBody>
      </p:sp>
      <p:sp>
        <p:nvSpPr>
          <p:cNvPr id="21" name="Text 18"/>
          <p:cNvSpPr/>
          <p:nvPr/>
        </p:nvSpPr>
        <p:spPr>
          <a:xfrm>
            <a:off x="357188" y="3047425"/>
            <a:ext cx="3465885" cy="142540"/>
          </a:xfrm>
          <a:prstGeom prst="rect">
            <a:avLst/>
          </a:prstGeom>
          <a:noFill/>
          <a:ln/>
        </p:spPr>
        <p:txBody>
          <a:bodyPr wrap="none" lIns="170053" tIns="0" rIns="0" bIns="0" rtlCol="0" anchor="t">
            <a:spAutoFit/>
          </a:bodyPr>
          <a:lstStyle/>
          <a:p>
            <a:pPr marL="0" indent="0" algn="l">
              <a:lnSpc>
                <a:spcPts val="1200"/>
              </a:lnSpc>
              <a:buNone/>
            </a:pPr>
            <a:r>
              <a:rPr lang="en-US" sz="800" dirty="0">
                <a:solidFill>
                  <a:srgbClr val="E0E0E0"/>
                </a:solidFill>
              </a:rPr>
              <a:t>Deploy Web Application Firewall (WAF) rules to block common attack payloads</a:t>
            </a:r>
            <a:endParaRPr lang="en-US" sz="800" dirty="0"/>
          </a:p>
        </p:txBody>
      </p:sp>
      <p:sp>
        <p:nvSpPr>
          <p:cNvPr id="22" name="Shape 19"/>
          <p:cNvSpPr/>
          <p:nvPr/>
        </p:nvSpPr>
        <p:spPr>
          <a:xfrm>
            <a:off x="378619" y="3357946"/>
            <a:ext cx="8429625" cy="686860"/>
          </a:xfrm>
          <a:prstGeom prst="rect">
            <a:avLst/>
          </a:prstGeom>
          <a:solidFill>
            <a:srgbClr val="FF3333">
              <a:alpha val="10000"/>
            </a:srgbClr>
          </a:solidFill>
          <a:ln w="9144">
            <a:solidFill>
              <a:srgbClr val="FF3333"/>
            </a:solidFill>
            <a:prstDash val="solid"/>
          </a:ln>
        </p:spPr>
        <p:txBody>
          <a:bodyPr/>
          <a:lstStyle/>
          <a:p>
            <a:endParaRPr lang="en-US"/>
          </a:p>
        </p:txBody>
      </p:sp>
      <p:sp>
        <p:nvSpPr>
          <p:cNvPr id="23" name="Text 20"/>
          <p:cNvSpPr/>
          <p:nvPr/>
        </p:nvSpPr>
        <p:spPr>
          <a:xfrm>
            <a:off x="357188" y="2201672"/>
            <a:ext cx="84960" cy="141705"/>
          </a:xfrm>
          <a:prstGeom prst="rect">
            <a:avLst/>
          </a:prstGeom>
          <a:noFill/>
          <a:ln/>
        </p:spPr>
        <p:txBody>
          <a:bodyPr wrap="none" lIns="0" tIns="0" rIns="0" bIns="0" rtlCol="0" anchor="t">
            <a:spAutoFit/>
          </a:bodyPr>
          <a:lstStyle/>
          <a:p>
            <a:pPr marL="0" indent="0" algn="l">
              <a:lnSpc>
                <a:spcPts val="1200"/>
              </a:lnSpc>
              <a:buNone/>
            </a:pPr>
            <a:r>
              <a:rPr lang="en-US" sz="800" dirty="0">
                <a:solidFill>
                  <a:srgbClr val="00FF41"/>
                </a:solidFill>
              </a:rPr>
              <a:t>▸</a:t>
            </a:r>
            <a:endParaRPr lang="en-US" sz="800" dirty="0"/>
          </a:p>
        </p:txBody>
      </p:sp>
      <p:sp>
        <p:nvSpPr>
          <p:cNvPr id="24" name="Text 21"/>
          <p:cNvSpPr/>
          <p:nvPr/>
        </p:nvSpPr>
        <p:spPr>
          <a:xfrm>
            <a:off x="357188" y="2413110"/>
            <a:ext cx="84960" cy="141705"/>
          </a:xfrm>
          <a:prstGeom prst="rect">
            <a:avLst/>
          </a:prstGeom>
          <a:noFill/>
          <a:ln/>
        </p:spPr>
        <p:txBody>
          <a:bodyPr wrap="none" lIns="0" tIns="0" rIns="0" bIns="0" rtlCol="0" anchor="t">
            <a:spAutoFit/>
          </a:bodyPr>
          <a:lstStyle/>
          <a:p>
            <a:pPr marL="0" indent="0" algn="l">
              <a:lnSpc>
                <a:spcPts val="1200"/>
              </a:lnSpc>
              <a:buNone/>
            </a:pPr>
            <a:r>
              <a:rPr lang="en-US" sz="800" dirty="0">
                <a:solidFill>
                  <a:srgbClr val="00FF41"/>
                </a:solidFill>
              </a:rPr>
              <a:t>▸</a:t>
            </a:r>
            <a:endParaRPr lang="en-US" sz="800" dirty="0"/>
          </a:p>
        </p:txBody>
      </p:sp>
      <p:sp>
        <p:nvSpPr>
          <p:cNvPr id="25" name="Text 22"/>
          <p:cNvSpPr/>
          <p:nvPr/>
        </p:nvSpPr>
        <p:spPr>
          <a:xfrm>
            <a:off x="369595" y="3067958"/>
            <a:ext cx="84960" cy="141705"/>
          </a:xfrm>
          <a:prstGeom prst="rect">
            <a:avLst/>
          </a:prstGeom>
          <a:noFill/>
          <a:ln/>
        </p:spPr>
        <p:txBody>
          <a:bodyPr wrap="none" lIns="0" tIns="0" rIns="0" bIns="0" rtlCol="0" anchor="t">
            <a:spAutoFit/>
          </a:bodyPr>
          <a:lstStyle/>
          <a:p>
            <a:pPr marL="0" indent="0" algn="l">
              <a:lnSpc>
                <a:spcPts val="1200"/>
              </a:lnSpc>
              <a:buNone/>
            </a:pPr>
            <a:r>
              <a:rPr lang="en-US" sz="800" dirty="0">
                <a:solidFill>
                  <a:srgbClr val="00FF41"/>
                </a:solidFill>
              </a:rPr>
              <a:t>▸</a:t>
            </a:r>
            <a:endParaRPr lang="en-US" sz="800" dirty="0"/>
          </a:p>
        </p:txBody>
      </p:sp>
      <p:sp>
        <p:nvSpPr>
          <p:cNvPr id="26" name="Text 23"/>
          <p:cNvSpPr/>
          <p:nvPr/>
        </p:nvSpPr>
        <p:spPr>
          <a:xfrm>
            <a:off x="369593" y="2618102"/>
            <a:ext cx="84960" cy="141705"/>
          </a:xfrm>
          <a:prstGeom prst="rect">
            <a:avLst/>
          </a:prstGeom>
          <a:noFill/>
          <a:ln/>
        </p:spPr>
        <p:txBody>
          <a:bodyPr wrap="none" lIns="0" tIns="0" rIns="0" bIns="0" rtlCol="0" anchor="t">
            <a:spAutoFit/>
          </a:bodyPr>
          <a:lstStyle/>
          <a:p>
            <a:pPr marL="0" indent="0" algn="l">
              <a:lnSpc>
                <a:spcPts val="1200"/>
              </a:lnSpc>
              <a:buNone/>
            </a:pPr>
            <a:r>
              <a:rPr lang="en-US" sz="800" dirty="0">
                <a:solidFill>
                  <a:srgbClr val="00FF41"/>
                </a:solidFill>
              </a:rPr>
              <a:t>▸</a:t>
            </a:r>
            <a:endParaRPr lang="en-US" sz="800" dirty="0"/>
          </a:p>
        </p:txBody>
      </p:sp>
      <p:sp>
        <p:nvSpPr>
          <p:cNvPr id="27" name="Text 24"/>
          <p:cNvSpPr/>
          <p:nvPr/>
        </p:nvSpPr>
        <p:spPr>
          <a:xfrm>
            <a:off x="369594" y="2842433"/>
            <a:ext cx="84960" cy="141705"/>
          </a:xfrm>
          <a:prstGeom prst="rect">
            <a:avLst/>
          </a:prstGeom>
          <a:noFill/>
          <a:ln/>
        </p:spPr>
        <p:txBody>
          <a:bodyPr wrap="none" lIns="0" tIns="0" rIns="0" bIns="0" rtlCol="0" anchor="t">
            <a:spAutoFit/>
          </a:bodyPr>
          <a:lstStyle/>
          <a:p>
            <a:pPr marL="0" indent="0" algn="l">
              <a:lnSpc>
                <a:spcPts val="1200"/>
              </a:lnSpc>
              <a:buNone/>
            </a:pPr>
            <a:r>
              <a:rPr lang="en-US" sz="800" dirty="0">
                <a:solidFill>
                  <a:srgbClr val="00FF41"/>
                </a:solidFill>
              </a:rPr>
              <a:t>▸</a:t>
            </a:r>
            <a:endParaRPr lang="en-US" sz="800" dirty="0"/>
          </a:p>
        </p:txBody>
      </p:sp>
      <p:sp>
        <p:nvSpPr>
          <p:cNvPr id="28" name="Text 25"/>
          <p:cNvSpPr/>
          <p:nvPr/>
        </p:nvSpPr>
        <p:spPr>
          <a:xfrm>
            <a:off x="485775" y="3465103"/>
            <a:ext cx="1638397" cy="109774"/>
          </a:xfrm>
          <a:prstGeom prst="rect">
            <a:avLst/>
          </a:prstGeom>
          <a:noFill/>
          <a:ln/>
        </p:spPr>
        <p:txBody>
          <a:bodyPr wrap="none" lIns="0" tIns="0" rIns="0" bIns="0" rtlCol="0" anchor="t">
            <a:spAutoFit/>
          </a:bodyPr>
          <a:lstStyle/>
          <a:p>
            <a:pPr marL="0" indent="0" algn="l">
              <a:lnSpc>
                <a:spcPts val="800"/>
              </a:lnSpc>
              <a:buNone/>
            </a:pPr>
            <a:r>
              <a:rPr lang="en-US" sz="1000" b="1" kern="0" spc="1" dirty="0">
                <a:solidFill>
                  <a:srgbClr val="FF3333"/>
                </a:solidFill>
              </a:rPr>
              <a:t>⚠ CRITICAL ACTION REQUIRED</a:t>
            </a:r>
            <a:endParaRPr lang="en-US" sz="1000" dirty="0"/>
          </a:p>
        </p:txBody>
      </p:sp>
      <p:sp>
        <p:nvSpPr>
          <p:cNvPr id="29" name="Text 26"/>
          <p:cNvSpPr/>
          <p:nvPr/>
        </p:nvSpPr>
        <p:spPr>
          <a:xfrm>
            <a:off x="485775" y="3649054"/>
            <a:ext cx="8215313" cy="274309"/>
          </a:xfrm>
          <a:prstGeom prst="rect">
            <a:avLst/>
          </a:prstGeom>
          <a:noFill/>
          <a:ln/>
        </p:spPr>
        <p:txBody>
          <a:bodyPr wrap="square" lIns="0" tIns="0" rIns="0" bIns="0" rtlCol="0" anchor="t">
            <a:spAutoFit/>
          </a:bodyPr>
          <a:lstStyle/>
          <a:p>
            <a:pPr marL="0" indent="0" algn="l">
              <a:lnSpc>
                <a:spcPts val="1100"/>
              </a:lnSpc>
              <a:buNone/>
            </a:pPr>
            <a:r>
              <a:rPr lang="en-US" sz="621" dirty="0">
                <a:solidFill>
                  <a:srgbClr val="FF3333"/>
                </a:solidFill>
              </a:rPr>
              <a:t>Begin immediate implementation of Critical-level recommendations. These vulnerabilities present an active and exploitable risk to organizational security. Delay in remediation increases exposure to data breach, system compromise, and regulatory violations.</a:t>
            </a:r>
            <a:endParaRPr lang="en-US" sz="621" dirty="0"/>
          </a:p>
        </p:txBody>
      </p:sp>
      <p:sp>
        <p:nvSpPr>
          <p:cNvPr id="30" name="Text 27"/>
          <p:cNvSpPr/>
          <p:nvPr/>
        </p:nvSpPr>
        <p:spPr>
          <a:xfrm>
            <a:off x="357186" y="4142920"/>
            <a:ext cx="8429625" cy="191095"/>
          </a:xfrm>
          <a:prstGeom prst="rect">
            <a:avLst/>
          </a:prstGeom>
          <a:noFill/>
          <a:ln/>
        </p:spPr>
        <p:txBody>
          <a:bodyPr wrap="square" lIns="0" tIns="0" rIns="0" bIns="68072" rtlCol="0" anchor="t">
            <a:spAutoFit/>
          </a:bodyPr>
          <a:lstStyle/>
          <a:p>
            <a:pPr marL="0" indent="0" algn="l">
              <a:lnSpc>
                <a:spcPts val="900"/>
              </a:lnSpc>
              <a:buNone/>
            </a:pPr>
            <a:r>
              <a:rPr lang="en-US" sz="1000" b="1" kern="0" spc="1" dirty="0">
                <a:solidFill>
                  <a:srgbClr val="00FF41"/>
                </a:solidFill>
              </a:rPr>
              <a:t>[ CALL TO ACTION ]</a:t>
            </a:r>
            <a:endParaRPr lang="en-US" sz="1000" dirty="0"/>
          </a:p>
        </p:txBody>
      </p:sp>
      <p:sp>
        <p:nvSpPr>
          <p:cNvPr id="31" name="Text 28"/>
          <p:cNvSpPr/>
          <p:nvPr/>
        </p:nvSpPr>
        <p:spPr>
          <a:xfrm>
            <a:off x="357186" y="4344505"/>
            <a:ext cx="8429625" cy="273986"/>
          </a:xfrm>
          <a:prstGeom prst="rect">
            <a:avLst/>
          </a:prstGeom>
          <a:noFill/>
          <a:ln/>
        </p:spPr>
        <p:txBody>
          <a:bodyPr wrap="square" lIns="127508" tIns="0" rIns="0" bIns="0" rtlCol="0" anchor="t">
            <a:spAutoFit/>
          </a:bodyPr>
          <a:lstStyle/>
          <a:p>
            <a:pPr marL="0" indent="0" algn="l">
              <a:lnSpc>
                <a:spcPts val="1100"/>
              </a:lnSpc>
              <a:buNone/>
            </a:pPr>
            <a:r>
              <a:rPr lang="en-US" sz="800" dirty="0">
                <a:solidFill>
                  <a:srgbClr val="E0E0E0"/>
                </a:solidFill>
              </a:rPr>
              <a:t>Conduct a comprehensive security audit of all web application input vectors and server configurations. Engage security teams to validate remediation efforts. Schedule follow-up penetration testing after fixes are implemented to verify vulnerability closure.</a:t>
            </a:r>
            <a:endParaRPr lang="en-US" sz="800" dirty="0"/>
          </a:p>
        </p:txBody>
      </p:sp>
      <p:sp>
        <p:nvSpPr>
          <p:cNvPr id="32" name="Text 29"/>
          <p:cNvSpPr/>
          <p:nvPr/>
        </p:nvSpPr>
        <p:spPr>
          <a:xfrm>
            <a:off x="3090398" y="4864570"/>
            <a:ext cx="2748894" cy="101182"/>
          </a:xfrm>
          <a:prstGeom prst="rect">
            <a:avLst/>
          </a:prstGeom>
          <a:noFill/>
          <a:ln/>
        </p:spPr>
        <p:txBody>
          <a:bodyPr wrap="none" lIns="0" tIns="0" rIns="0" bIns="0" rtlCol="0" anchor="t">
            <a:spAutoFit/>
          </a:bodyPr>
          <a:lstStyle/>
          <a:p>
            <a:pPr marL="0" indent="0" algn="ctr">
              <a:lnSpc>
                <a:spcPts val="700"/>
              </a:lnSpc>
              <a:buNone/>
            </a:pPr>
            <a:r>
              <a:rPr lang="en-US" sz="1000" kern="0" spc="1" dirty="0">
                <a:solidFill>
                  <a:srgbClr val="00FF41"/>
                </a:solidFill>
              </a:rPr>
              <a:t>END OF REPORT | Questions? Contact Security Team</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TotalTime>
  <Words>2025</Words>
  <Application>Microsoft Office PowerPoint</Application>
  <PresentationFormat>On-screen Show (16:9)</PresentationFormat>
  <Paragraphs>297</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mohanad</cp:lastModifiedBy>
  <cp:revision>8</cp:revision>
  <dcterms:created xsi:type="dcterms:W3CDTF">2025-11-19T14:01:18Z</dcterms:created>
  <dcterms:modified xsi:type="dcterms:W3CDTF">2025-11-20T17:57:48Z</dcterms:modified>
</cp:coreProperties>
</file>